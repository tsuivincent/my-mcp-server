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50000">
                <a:srgbClr val="132B50"/>
              </a:gs>
              <a:gs pos="100000">
                <a:srgbClr val="1A3D6D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0"/>
            <a:ext cx="57150" cy="6858000"/>
          </a:xfrm>
          <a:prstGeom prst="rect">
            <a:avLst/>
          </a:prstGeom>
          <a:solidFill>
            <a:srgbClr val="00B4D8">
              <a:alpha val="25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763000" y="-285750"/>
            <a:ext cx="3429000" cy="3429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8858250" y="762000"/>
            <a:ext cx="2286000" cy="2286000"/>
          </a:xfrm>
          <a:prstGeom prst="ellipse">
            <a:avLst/>
          </a:prstGeom>
          <a:solidFill>
            <a:srgbClr val="00B4D8">
              <a:alpha val="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52500" y="4762500"/>
            <a:ext cx="1905000" cy="1905000"/>
          </a:xfrm>
          <a:prstGeom prst="ellipse">
            <a:avLst/>
          </a:prstGeom>
          <a:solidFill>
            <a:srgbClr val="0050B3">
              <a:alpha val="8000"/>
            </a:srgbClr>
          </a:soli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0" y="952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00B4D8">
                <a:alpha val="8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0" y="1047750"/>
            <a:ext cx="3333750" cy="9525"/>
          </a:xfrm>
          <a:custGeom>
            <a:avLst/>
            <a:gdLst/>
            <a:ahLst/>
            <a:cxnLst/>
            <a:rect l="l" t="t" r="r" b="b"/>
            <a:pathLst>
              <a:path w="3333750" h="9525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/>
          <a:ln w="9525">
            <a:solidFill>
              <a:srgbClr val="00B4D8">
                <a:alpha val="5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622456" y="2294572"/>
            <a:ext cx="6947087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关于2026年美以对伊军事冲突中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36883" y="2885122"/>
            <a:ext cx="4918234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143500" y="3714750"/>
            <a:ext cx="19050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5000625" y="3676650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7096125" y="3676650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233035" y="4044315"/>
            <a:ext cx="17259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AB4F8"/>
                </a:solidFill>
                <a:latin typeface="Segoe UI"/>
                <a:ea typeface="Microsoft YaHei"/>
                <a:cs typeface="Segoe UI"/>
              </a:rPr>
              <a:t>（供内部参阅）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143500" y="5334000"/>
            <a:ext cx="1905000" cy="1905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651302" y="5569268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AB4F8"/>
                </a:solidFill>
                <a:latin typeface="Segoe UI"/>
                <a:ea typeface="Microsoft YaHei"/>
                <a:cs typeface="Segoe UI"/>
              </a:rPr>
              <a:t>2026年6月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0F6FF"/>
              </a:gs>
              <a:gs pos="100000">
                <a:srgbClr val="E8F0FE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0" y="0"/>
            <a:ext cx="1524000" cy="6858000"/>
          </a:xfrm>
          <a:custGeom>
            <a:avLst/>
            <a:gdLst/>
            <a:ahLst/>
            <a:cxnLst/>
            <a:rect l="l" t="t" r="r" b="b"/>
            <a:pathLst>
              <a:path w="1524000" h="6858000">
                <a:moveTo>
                  <a:pt x="0" y="0"/>
                </a:moveTo>
                <a:lnTo>
                  <a:pt x="1143000" y="0"/>
                </a:lnTo>
                <a:lnTo>
                  <a:pt x="1524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50B3">
              <a:alpha val="6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47625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51249" y="586740"/>
            <a:ext cx="29775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4455" y="554355"/>
            <a:ext cx="34737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7790" y="839152"/>
            <a:ext cx="6707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CONTENTS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143000" y="1428750"/>
            <a:ext cx="47625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285875" y="1619250"/>
            <a:ext cx="381000" cy="3810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355267" y="172116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8325" y="1600200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民用监控系统已成为战略情报源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4992" y="1894999"/>
            <a:ext cx="30021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交通摄像头→全天候瞄准镜 · 8200部队与摩萨德渗透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143000" y="2428875"/>
            <a:ext cx="47625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1285875" y="2619375"/>
            <a:ext cx="381000" cy="3810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55267" y="272129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38325" y="2600325"/>
            <a:ext cx="29994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网络阻断已成为开战的"第一枪"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44992" y="289512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伊朗互联网流量暴跌98% · 丧失对外信息输出带宽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143000" y="3429000"/>
            <a:ext cx="47625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1285875" y="3619500"/>
            <a:ext cx="381000" cy="3810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355267" y="372141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38325" y="3600450"/>
            <a:ext cx="27684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战争账单本质上就是数据账单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44992" y="3895249"/>
            <a:ext cx="26640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日均4-5亿美元 · 战斧$200万 vs JDAM$7.5万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1143000" y="4429125"/>
            <a:ext cx="47625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1285875" y="4619625"/>
            <a:ext cx="381000" cy="3810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355267" y="4721542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38325" y="4600575"/>
            <a:ext cx="2978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算力节点已成为高价值战略目标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44992" y="4895374"/>
            <a:ext cx="23260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AWS中东可用区遭袭 · MQ-9被击落11架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143000" y="5429250"/>
            <a:ext cx="4762500" cy="762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1285875" y="5619750"/>
            <a:ext cx="381000" cy="3810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355267" y="5721668"/>
            <a:ext cx="24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38325" y="5600700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没有绝对安全的通信手段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44992" y="5895499"/>
            <a:ext cx="26315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Starlink渗透与伊朗反制 · 射频干扰攻防博弈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1428750"/>
            <a:ext cx="4953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00B4D8">
                <a:alpha val="30000"/>
              </a:srgbClr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77000" y="1428750"/>
            <a:ext cx="4953000" cy="476250"/>
          </a:xfrm>
          <a:prstGeom prst="roundRect">
            <a:avLst>
              <a:gd name="adj" fmla="val 24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477000" y="1790700"/>
            <a:ext cx="4953000" cy="1143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425136" y="1571625"/>
            <a:ext cx="1056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📊 总结判断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42760" y="21564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三条总体判断</a:t>
            </a:r>
          </a:p>
        </p:txBody>
      </p:sp>
      <p:sp>
        <p:nvSpPr>
          <p:cNvPr id="40" name="Ellipse 40"/>
          <p:cNvSpPr/>
          <p:nvPr/>
        </p:nvSpPr>
        <p:spPr>
          <a:xfrm>
            <a:off x="6800850" y="2514600"/>
            <a:ext cx="114300" cy="1143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034212" y="249793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从火力密度转向数据定力</a:t>
            </a:r>
          </a:p>
        </p:txBody>
      </p:sp>
      <p:sp>
        <p:nvSpPr>
          <p:cNvPr id="42" name="Ellipse 42"/>
          <p:cNvSpPr/>
          <p:nvPr/>
        </p:nvSpPr>
        <p:spPr>
          <a:xfrm>
            <a:off x="6800850" y="2895600"/>
            <a:ext cx="114300" cy="1143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7034212" y="287893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民用基础设施即战场延伸</a:t>
            </a:r>
          </a:p>
        </p:txBody>
      </p:sp>
      <p:sp>
        <p:nvSpPr>
          <p:cNvPr id="44" name="Ellipse 44"/>
          <p:cNvSpPr/>
          <p:nvPr/>
        </p:nvSpPr>
        <p:spPr>
          <a:xfrm>
            <a:off x="6800850" y="3276600"/>
            <a:ext cx="114300" cy="1143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7034212" y="3259931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数据战没有单方面的绝对优势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77000" y="4381500"/>
            <a:ext cx="49530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434197" y="463296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关键数据速览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762750" y="4953000"/>
            <a:ext cx="1333500" cy="571500"/>
          </a:xfrm>
          <a:prstGeom prst="roundRect">
            <a:avLst>
              <a:gd name="adj" fmla="val 13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194843" y="5041582"/>
            <a:ext cx="4693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98%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178040" y="53130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流量跌幅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286750" y="4953000"/>
            <a:ext cx="1333500" cy="571500"/>
          </a:xfrm>
          <a:prstGeom prst="roundRect">
            <a:avLst>
              <a:gd name="adj" fmla="val 13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562899" y="5041582"/>
            <a:ext cx="78120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$290亿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642032" y="53130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前两月军费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810750" y="4953000"/>
            <a:ext cx="1333500" cy="571500"/>
          </a:xfrm>
          <a:prstGeom prst="roundRect">
            <a:avLst>
              <a:gd name="adj" fmla="val 13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0213965" y="5041582"/>
            <a:ext cx="5270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11架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130028" y="5313045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MQ-9被击落</a:t>
            </a:r>
          </a:p>
        </p:txBody>
      </p:sp>
      <p:sp>
        <p:nvSpPr>
          <p:cNvPr id="57" name="Rectangle 5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C1E3F"/>
              </a:gs>
              <a:gs pos="50000">
                <a:srgbClr val="152D5A"/>
              </a:gs>
              <a:gs pos="100000">
                <a:srgbClr val="1A3D6D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381000"/>
            <a:ext cx="7620000" cy="7620000"/>
          </a:xfrm>
          <a:prstGeom prst="ellipse">
            <a:avLst/>
          </a:prstGeom>
          <a:gradFill>
            <a:gsLst>
              <a:gs pos="0">
                <a:srgbClr val="00B4D8">
                  <a:alpha val="15000"/>
                </a:srgbClr>
              </a:gs>
              <a:gs pos="100000">
                <a:srgbClr val="0050B3">
                  <a:alpha val="0"/>
                </a:srgbClr>
              </a:gs>
            </a:gsLst>
            <a:lin ang="189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615791" y="2219325"/>
            <a:ext cx="2960418" cy="335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0" b="1" dirty="0">
                <a:solidFill>
                  <a:srgbClr val="FFFFFF">
                    <a:alphaMod val="6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Rectangle 6"/>
          <p:cNvSpPr/>
          <p:nvPr/>
        </p:nvSpPr>
        <p:spPr>
          <a:xfrm>
            <a:off x="952500" y="1905000"/>
            <a:ext cx="57150" cy="152400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312545" y="2298382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B4D8"/>
                </a:solidFill>
                <a:latin typeface="Arial"/>
                <a:ea typeface="Microsoft YaHei"/>
                <a:cs typeface="Arial"/>
              </a:rPr>
              <a:t>第一章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1590" y="2691765"/>
            <a:ext cx="470439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信息数据战的五个维度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355" y="328326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AB4F8"/>
                </a:solidFill>
                <a:latin typeface="Segoe UI"/>
                <a:ea typeface="Microsoft YaHei"/>
                <a:cs typeface="Segoe UI"/>
              </a:rPr>
              <a:t>从数据采集、传输、算力到攻防博弈的多维分析框架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333500" y="3667125"/>
            <a:ext cx="11430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715500" y="666750"/>
            <a:ext cx="1524000" cy="1524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477500" y="1238250"/>
            <a:ext cx="952500" cy="952500"/>
          </a:xfrm>
          <a:prstGeom prst="ellipse">
            <a:avLst/>
          </a:prstGeom>
          <a:solidFill>
            <a:srgbClr val="00B4D8">
              <a:alpha val="4000"/>
            </a:srgbClr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8572500" y="4762500"/>
            <a:ext cx="2857500" cy="952500"/>
          </a:xfrm>
          <a:custGeom>
            <a:avLst/>
            <a:gdLst/>
            <a:ahLst/>
            <a:cxnLst/>
            <a:rect l="l" t="t" r="r" b="b"/>
            <a:pathLst>
              <a:path w="2857500" h="952500">
                <a:moveTo>
                  <a:pt x="0" y="0"/>
                </a:moveTo>
                <a:lnTo>
                  <a:pt x="2857500" y="952500"/>
                </a:lnTo>
              </a:path>
            </a:pathLst>
          </a:custGeom>
          <a:noFill/>
          <a:ln w="9525">
            <a:solidFill>
              <a:srgbClr val="00B4D8">
                <a:alpha val="6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9048750" y="4857750"/>
            <a:ext cx="2857500" cy="952500"/>
          </a:xfrm>
          <a:custGeom>
            <a:avLst/>
            <a:gdLst/>
            <a:ahLst/>
            <a:cxnLst/>
            <a:rect l="l" t="t" r="r" b="b"/>
            <a:pathLst>
              <a:path w="2857500" h="952500">
                <a:moveTo>
                  <a:pt x="0" y="0"/>
                </a:moveTo>
                <a:lnTo>
                  <a:pt x="2857500" y="952500"/>
                </a:lnTo>
              </a:path>
            </a:pathLst>
          </a:custGeom>
          <a:noFill/>
          <a:ln w="9525">
            <a:solidFill>
              <a:srgbClr val="00B4D8">
                <a:alpha val="4000"/>
              </a:srgbClr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429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48148" y="453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440055"/>
            <a:ext cx="41698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民用监控系统已成为战略情报源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38100" cy="571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1346835"/>
            <a:ext cx="67513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核心论点：城市里的交通摄像头，原本用于治安管理，但在战时可以变成对手的全天候瞄准镜。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905000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AFCFF"/>
          </a:solidFill>
          <a:ln w="9525">
            <a:solidFill>
              <a:srgbClr val="E0E8F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71500" y="19050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2190750"/>
            <a:ext cx="5334000" cy="95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762973" y="2006918"/>
            <a:ext cx="951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🎯 典型案例</a:t>
            </a:r>
          </a:p>
        </p:txBody>
      </p:sp>
      <p:sp>
        <p:nvSpPr>
          <p:cNvPr id="15" name="Ellipse 15"/>
          <p:cNvSpPr/>
          <p:nvPr/>
        </p:nvSpPr>
        <p:spPr>
          <a:xfrm>
            <a:off x="771525" y="2533650"/>
            <a:ext cx="76200" cy="76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8212" y="2497931"/>
            <a:ext cx="173766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2026年2月28日开战当天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165" y="2725102"/>
            <a:ext cx="2687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以色列空军对德黑兰多个目标实施精确打击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165" y="2915602"/>
            <a:ext cx="20429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 军官住所、革命卫队指挥点等</a:t>
            </a:r>
          </a:p>
        </p:txBody>
      </p:sp>
      <p:sp>
        <p:nvSpPr>
          <p:cNvPr id="19" name="Ellipse 19"/>
          <p:cNvSpPr/>
          <p:nvPr/>
        </p:nvSpPr>
        <p:spPr>
          <a:xfrm>
            <a:off x="771525" y="3295650"/>
            <a:ext cx="76200" cy="76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8212" y="3259931"/>
            <a:ext cx="21314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情报来源：8200部队 + 摩萨德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165" y="348710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多年网络渗透伊朗民用监控基础设施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367760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AI算法分析海量视频 → 行为模式识别</a:t>
            </a:r>
          </a:p>
        </p:txBody>
      </p:sp>
      <p:sp>
        <p:nvSpPr>
          <p:cNvPr id="23" name="Ellipse 23"/>
          <p:cNvSpPr/>
          <p:nvPr/>
        </p:nvSpPr>
        <p:spPr>
          <a:xfrm>
            <a:off x="771525" y="4057650"/>
            <a:ext cx="76200" cy="76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38212" y="4021931"/>
            <a:ext cx="16904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来源：金融时报/路透社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9165" y="424910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多名以色列情报官员披露证实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905000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8FBFF"/>
          </a:solidFill>
          <a:ln w="19050">
            <a:solidFill>
              <a:srgbClr val="00B4D8">
                <a:alpha val="20000"/>
              </a:srgbClr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19050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286500" y="2190750"/>
            <a:ext cx="5334000" cy="9525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77973" y="2006918"/>
            <a:ext cx="9510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📋 战略分析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72250" y="2524125"/>
            <a:ext cx="476250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700838" y="2669381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民用监控设施的战时军事价值急剧上升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72250" y="3095625"/>
            <a:ext cx="476250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700838" y="3240881"/>
            <a:ext cx="28789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城市智慧化程度越高，战场透明化程度越高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572250" y="3667125"/>
            <a:ext cx="476250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700838" y="3812381"/>
            <a:ext cx="29464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密码管理 + 固件更新 + 网络隔离 = 必备防御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572250" y="4286250"/>
            <a:ext cx="4762500" cy="7620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 w="9525">
            <a:solidFill>
              <a:srgbClr val="FFB347">
                <a:alpha val="50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701790" y="4439602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7400"/>
                </a:solidFill>
                <a:latin typeface="Segoe UI"/>
                <a:ea typeface="Microsoft YaHei"/>
                <a:cs typeface="Segoe UI"/>
              </a:rPr>
              <a:t>⚠ 防御要点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02742" y="4657249"/>
            <a:ext cx="21310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"城市安全"与"战场透明"仅一线之隔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02742" y="4847749"/>
            <a:ext cx="26770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—— 网络渗透是长期、系统性的，而非临时起意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334125"/>
            <a:ext cx="11049000" cy="9525"/>
          </a:xfrm>
          <a:prstGeom prst="rect">
            <a:avLst/>
          </a:prstGeom>
          <a:solidFill>
            <a:srgbClr val="E0E8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475095"/>
            <a:ext cx="24471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来源：金融时报 · 路透社 2026年3月深度报道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429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48148" y="453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440055"/>
            <a:ext cx="41992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网络阻断已成为开战的"第一枪"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38100" cy="571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1346835"/>
            <a:ext cx="6271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核心论点：先切断对手的数据神经，再实施物理打击，已经成为现代战争的标准起手式。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905000"/>
            <a:ext cx="5334000" cy="2857500"/>
          </a:xfrm>
          <a:prstGeom prst="roundRect">
            <a:avLst>
              <a:gd name="adj" fmla="val 3333"/>
            </a:avLst>
          </a:prstGeom>
          <a:solidFill>
            <a:srgbClr val="F8FBFF"/>
          </a:solidFill>
          <a:ln w="19050">
            <a:solidFill>
              <a:srgbClr val="00B4D8">
                <a:alpha val="15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290414" y="2092642"/>
            <a:ext cx="18961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📉 网络流量断崖式下跌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57250" y="24765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616266" y="2470785"/>
            <a:ext cx="7679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98%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6862" y="288702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全国流量下降</a:t>
            </a:r>
          </a:p>
        </p:txBody>
      </p:sp>
      <p:sp>
        <p:nvSpPr>
          <p:cNvPr id="16" name="Line 16"/>
          <p:cNvSpPr/>
          <p:nvPr/>
        </p:nvSpPr>
        <p:spPr>
          <a:xfrm>
            <a:off x="1047750" y="3238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E0E8F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047750" y="34099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29353" y="3534728"/>
            <a:ext cx="217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59242" y="3542824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最低至正常水平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24765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026608" y="2470785"/>
            <a:ext cx="9002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7:00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46863" y="2887028"/>
            <a:ext cx="8597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UTC 开战时间</a:t>
            </a:r>
          </a:p>
        </p:txBody>
      </p:sp>
      <p:sp>
        <p:nvSpPr>
          <p:cNvPr id="23" name="Line 23"/>
          <p:cNvSpPr/>
          <p:nvPr/>
        </p:nvSpPr>
        <p:spPr>
          <a:xfrm>
            <a:off x="3524250" y="3238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E0E8F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3524250" y="3409950"/>
            <a:ext cx="1905000" cy="381000"/>
          </a:xfrm>
          <a:prstGeom prst="roundRect">
            <a:avLst>
              <a:gd name="adj" fmla="val 1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441637" y="3534728"/>
            <a:ext cx="20702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NetBlocks / Cloudflare Radar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905000"/>
            <a:ext cx="5334000" cy="1333500"/>
          </a:xfrm>
          <a:prstGeom prst="roundRect">
            <a:avLst>
              <a:gd name="adj" fmla="val 7143"/>
            </a:avLst>
          </a:prstGeom>
          <a:solidFill>
            <a:srgbClr val="FAFCFF"/>
          </a:solidFill>
          <a:ln w="9525">
            <a:solidFill>
              <a:srgbClr val="E0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1905000"/>
            <a:ext cx="5334000" cy="333375"/>
          </a:xfrm>
          <a:prstGeom prst="roundRect">
            <a:avLst>
              <a:gd name="adj" fmla="val 28571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286500" y="2143125"/>
            <a:ext cx="5334000" cy="95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530809" y="1994535"/>
            <a:ext cx="8453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🔍 数据来源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58915" y="2410778"/>
            <a:ext cx="27080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• 国际互联网监测组织 NetBlocks 实时数据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58915" y="2629852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• Cloudflare Radar 同步确认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58915" y="2848928"/>
            <a:ext cx="33660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• 德黑兰、法尔斯、伊斯法罕等主要省份流量接近归零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286500" y="3429000"/>
            <a:ext cx="5334000" cy="1333500"/>
          </a:xfrm>
          <a:prstGeom prst="roundRect">
            <a:avLst>
              <a:gd name="adj" fmla="val 7143"/>
            </a:avLst>
          </a:prstGeom>
          <a:solidFill>
            <a:srgbClr val="FAFCFF"/>
          </a:solidFill>
          <a:ln w="9525">
            <a:solidFill>
              <a:srgbClr val="E0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286500" y="3429000"/>
            <a:ext cx="5334000" cy="333375"/>
          </a:xfrm>
          <a:prstGeom prst="roundRect">
            <a:avLst>
              <a:gd name="adj" fmla="val 28571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286500" y="3667125"/>
            <a:ext cx="5334000" cy="95250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530809" y="3518535"/>
            <a:ext cx="8453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📊 多维分析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58915" y="3868102"/>
            <a:ext cx="29460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• 伊朗当局主动切网以阻断外部侦察和内部协调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58915" y="4087178"/>
            <a:ext cx="2806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• 美以在网络空间的攻击与军事打击同步展开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58915" y="4306252"/>
            <a:ext cx="30860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• 结论：伊朗在首波打击中几乎丧失对外信息输出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58915" y="45253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和内部应急指挥的可靠带宽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6334125"/>
            <a:ext cx="11049000" cy="9525"/>
          </a:xfrm>
          <a:prstGeom prst="rect">
            <a:avLst/>
          </a:prstGeom>
          <a:solidFill>
            <a:srgbClr val="E0E8F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475095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来源：NetBlocks · Cloudflare Radar 公开遥测数据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429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48148" y="453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440055"/>
            <a:ext cx="38758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战争账单本质上就是数据账单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38100" cy="571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1280160"/>
            <a:ext cx="70713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核心论点：高精度武器之所以昂贵，不是因为炸药贵，而是因为每一枚导弹都是一台会飞的计算机。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1505902"/>
            <a:ext cx="3723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前两个月美军花费约250亿至290亿美元，日均约4至5亿美元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952625"/>
            <a:ext cx="3429000" cy="1047750"/>
          </a:xfrm>
          <a:prstGeom prst="roundRect">
            <a:avLst>
              <a:gd name="adj" fmla="val 9091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71500" y="1952625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717853" y="2026920"/>
            <a:ext cx="113629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$127亿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6043" y="2410778"/>
            <a:ext cx="1979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首周未预算支出（CSIS修正值）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48517" y="2617470"/>
            <a:ext cx="874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日均约21亿美元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81500" y="1952625"/>
            <a:ext cx="3429000" cy="1047750"/>
          </a:xfrm>
          <a:prstGeom prst="roundRect">
            <a:avLst>
              <a:gd name="adj" fmla="val 9091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381500" y="1952625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527853" y="2026920"/>
            <a:ext cx="113629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$230万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56087" y="2410778"/>
            <a:ext cx="12798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JASSM最新型号单价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72494" y="2617470"/>
            <a:ext cx="12470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战斧巡航导弹约$200万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191500" y="1952625"/>
            <a:ext cx="3429000" cy="1047750"/>
          </a:xfrm>
          <a:prstGeom prst="roundRect">
            <a:avLst>
              <a:gd name="adj" fmla="val 9091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191500" y="1952625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337853" y="2026920"/>
            <a:ext cx="113629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00B4D8"/>
                </a:solidFill>
                <a:latin typeface="Arial"/>
                <a:ea typeface="Microsoft YaHei"/>
                <a:cs typeface="Arial"/>
              </a:rPr>
              <a:t>$7.5万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64574" y="2410778"/>
            <a:ext cx="14828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JDAM制导炸弹最低单价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19523" y="2617470"/>
            <a:ext cx="7729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GBU-38 500磅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238500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AFCFF"/>
          </a:solidFill>
          <a:ln w="9525">
            <a:solidFill>
              <a:srgbClr val="E0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3238500"/>
            <a:ext cx="11049000" cy="333375"/>
          </a:xfrm>
          <a:prstGeom prst="roundRect">
            <a:avLst>
              <a:gd name="adj" fmla="val 28571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71500" y="3476625"/>
            <a:ext cx="11049000" cy="95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49194" y="3328035"/>
            <a:ext cx="26936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🔬 成本差异的核心：数据链复杂程度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57250" y="381000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563582" y="39347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初期：高数据链需求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13716" y="4161949"/>
            <a:ext cx="24495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惯性导航+卫星接收机+地形匹配+末端识别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572250" y="3810000"/>
            <a:ext cx="47625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278582" y="39347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B4D8"/>
                </a:solidFill>
                <a:latin typeface="Segoe UI"/>
                <a:ea typeface="Microsoft YaHei"/>
                <a:cs typeface="Segoe UI"/>
              </a:rPr>
              <a:t>后期：低数据链需求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70971" y="4161949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伊朗防空被削弱后，成本骤降的核心理由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21943" y="40100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810125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FFF8F0"/>
          </a:solidFill>
          <a:ln w="9525">
            <a:solidFill>
              <a:srgbClr val="FFB347">
                <a:alpha val="30000"/>
              </a:srgbClr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48665" y="4963478"/>
            <a:ext cx="7397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7400"/>
                </a:solidFill>
                <a:latin typeface="Segoe UI"/>
                <a:ea typeface="Microsoft YaHei"/>
                <a:cs typeface="Segoe UI"/>
              </a:rPr>
              <a:t>💡 核心洞察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91665" y="4963478"/>
            <a:ext cx="66004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导弹价格中的80%以上用于制导系统（数据采集、处理、匹配），而非战斗部。数据，才是真正的"弹药"。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9618" y="5181124"/>
            <a:ext cx="45233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前六天消耗尤为剧烈，CSIS将其修正为约127亿美元（含装备损耗和基地损毁）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6334125"/>
            <a:ext cx="11049000" cy="9525"/>
          </a:xfrm>
          <a:prstGeom prst="rect">
            <a:avLst/>
          </a:prstGeom>
          <a:solidFill>
            <a:srgbClr val="E0E8F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60070" y="6475095"/>
            <a:ext cx="19551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来源：五角大楼通报 · CSIS分析报告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45" name="Rectangle 4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429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48148" y="453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440055"/>
            <a:ext cx="41698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算力节点已成为高价值战略目标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38100" cy="571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1280160"/>
            <a:ext cx="7087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核心论点：面对全世界最强大的军队，伊朗选择了一条非对称反击路线——不打航母，专打数据中心。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1505902"/>
            <a:ext cx="39261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2026年3月1日至2日，伊朗无人机对海湾地区基础设施发动袭击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952625"/>
            <a:ext cx="5334000" cy="2190750"/>
          </a:xfrm>
          <a:prstGeom prst="roundRect">
            <a:avLst>
              <a:gd name="adj" fmla="val 4348"/>
            </a:avLst>
          </a:prstGeom>
          <a:solidFill>
            <a:srgbClr val="FAFCFF"/>
          </a:solidFill>
          <a:ln w="9525">
            <a:solidFill>
              <a:srgbClr val="E0E8F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952625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2238375"/>
            <a:ext cx="5334000" cy="952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573949" y="2054542"/>
            <a:ext cx="1329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⚡ 数据中心袭击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2524125"/>
            <a:ext cx="2286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329008" y="2677478"/>
            <a:ext cx="13424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AWS ME-CENTRAL-1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8753" y="29317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阿联酋可用区被命中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333750" y="2524125"/>
            <a:ext cx="2286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871666" y="2677478"/>
            <a:ext cx="12101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AWS ME-SOUTH-1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85260" y="29317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巴林可用区遭损害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3915" y="3506152"/>
            <a:ext cx="21269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这些数据中心托管着美军中东地区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3915" y="3696652"/>
            <a:ext cx="1790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人工智能指挥链的核心节点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4868" y="38952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目标选择精准体现了对美军作战体系数据流的深刻理解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1952625"/>
            <a:ext cx="5334000" cy="2190750"/>
          </a:xfrm>
          <a:prstGeom prst="roundRect">
            <a:avLst>
              <a:gd name="adj" fmla="val 4348"/>
            </a:avLst>
          </a:prstGeom>
          <a:solidFill>
            <a:srgbClr val="FAFCFF"/>
          </a:solidFill>
          <a:ln w="9525">
            <a:solidFill>
              <a:srgbClr val="E0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286500" y="1952625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286500" y="2238375"/>
            <a:ext cx="5334000" cy="95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194437" y="2054542"/>
            <a:ext cx="1518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🛩 无人机损失统计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667500" y="2571750"/>
            <a:ext cx="4572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618091" y="2630805"/>
            <a:ext cx="6708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C00000"/>
                </a:solidFill>
                <a:latin typeface="Arial"/>
                <a:ea typeface="Microsoft YaHei"/>
                <a:cs typeface="Arial"/>
              </a:rPr>
              <a:t>11架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21063" y="2934652"/>
            <a:ext cx="1664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MQ-9"死神"无人机被击落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165" y="3315652"/>
            <a:ext cx="27080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 xml:space="preserve">• 每架MQ-9成本：约 </a:t>
            </a:r>
            <a:r>
              <a:rPr lang="zh-CN" sz="1050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3000万至3500万美元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165" y="3553778"/>
            <a:ext cx="2546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• 来源：Aviation Safety Network 记录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165" y="3791902"/>
            <a:ext cx="30860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• 加上无人机损失，美军的实际战争成本显著攀升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4381500"/>
            <a:ext cx="11049000" cy="7620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 w="9525">
            <a:solidFill>
              <a:srgbClr val="FFB347">
                <a:alpha val="30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48665" y="4553902"/>
            <a:ext cx="11807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47400"/>
                </a:solidFill>
                <a:latin typeface="Segoe UI"/>
                <a:ea typeface="Microsoft YaHei"/>
                <a:cs typeface="Segoe UI"/>
              </a:rPr>
              <a:t>💡 非对称打击逻辑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8665" y="4763452"/>
            <a:ext cx="9015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摧毁一个数据中心的效果，可能超过击沉一艘航母——因为它瘫痪的是整个指挥链条的"大脑"。技术弱势一方同样能找到强者数据节点的致命弱点。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381625"/>
            <a:ext cx="11049000" cy="476250"/>
          </a:xfrm>
          <a:prstGeom prst="roundRect">
            <a:avLst>
              <a:gd name="adj" fmla="val 16000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978902" y="5554028"/>
            <a:ext cx="42341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战争成本计算：11架MQ-9 × $3,250万 ≈ $3.57亿（仅无人机损失）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334125"/>
            <a:ext cx="11049000" cy="9525"/>
          </a:xfrm>
          <a:prstGeom prst="rect">
            <a:avLst/>
          </a:prstGeom>
          <a:solidFill>
            <a:srgbClr val="E0E8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475095"/>
            <a:ext cx="2645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来源：Aviation Safety Network · AWS状态报告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429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48148" y="453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440055"/>
            <a:ext cx="32877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没有绝对安全的通信手段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11049000" cy="571500"/>
          </a:xfrm>
          <a:prstGeom prst="roundRect">
            <a:avLst>
              <a:gd name="adj" fmla="val 13333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143000"/>
            <a:ext cx="38100" cy="5715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1280160"/>
            <a:ext cx="6271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核心论点：美军试图利用星链低轨卫星网络渗透数据节点，但伊朗同样展示了反制能力。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665" y="1505902"/>
            <a:ext cx="35271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攻防博弈揭示：数据战中没有任何通信手段是绝对安全的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1952625"/>
            <a:ext cx="5334000" cy="2286000"/>
          </a:xfrm>
          <a:prstGeom prst="roundRect">
            <a:avLst>
              <a:gd name="adj" fmla="val 4167"/>
            </a:avLst>
          </a:prstGeom>
          <a:solidFill>
            <a:srgbClr val="FAFCFF"/>
          </a:solidFill>
          <a:ln w="9525">
            <a:solidFill>
              <a:srgbClr val="E0E8F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952625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2238375"/>
            <a:ext cx="5334000" cy="9525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2573949" y="2054542"/>
            <a:ext cx="1329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📡 美军渗透行动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2524125"/>
            <a:ext cx="4762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952500" y="2714625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29665" y="2696528"/>
            <a:ext cx="31070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Starshield军事版终端已部署于十多个无人机系统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57250" y="3095625"/>
            <a:ext cx="4762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952500" y="3286125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29665" y="3268028"/>
            <a:ext cx="22809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约6000台Starlink终端走私入境伊朗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57250" y="3667125"/>
            <a:ext cx="4762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952500" y="3857625"/>
            <a:ext cx="95250" cy="9525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29665" y="3839528"/>
            <a:ext cx="27010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利用"互联网自由倡议"资金（美国国务院）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5820" y="4046220"/>
            <a:ext cx="2237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来源：路透社调查报道 · SpaceX合同文件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952625"/>
            <a:ext cx="5334000" cy="2286000"/>
          </a:xfrm>
          <a:prstGeom prst="roundRect">
            <a:avLst>
              <a:gd name="adj" fmla="val 4167"/>
            </a:avLst>
          </a:prstGeom>
          <a:solidFill>
            <a:srgbClr val="FFF8F0"/>
          </a:solidFill>
          <a:ln w="9525">
            <a:solidFill>
              <a:srgbClr val="FFB347">
                <a:alpha val="30000"/>
              </a:srgbClr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1952625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286500" y="2238375"/>
            <a:ext cx="5334000" cy="952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288949" y="2054542"/>
            <a:ext cx="13291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🛡 伊朗反制措施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72250" y="2524125"/>
            <a:ext cx="4762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667500" y="2714625"/>
            <a:ext cx="95250" cy="952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844665" y="2696528"/>
            <a:ext cx="28130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全国性反间谍行动，没收数百台Starlink终端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572250" y="3095625"/>
            <a:ext cx="4762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6667500" y="3286125"/>
            <a:ext cx="95250" cy="952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844665" y="3268028"/>
            <a:ext cx="29530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非法使用Starlink定为刑事犯罪，战时从重处罚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572250" y="3667125"/>
            <a:ext cx="47625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E8F0"/>
            </a:solidFill>
          </a:ln>
        </p:spPr>
      </p:sp>
      <p:sp>
        <p:nvSpPr>
          <p:cNvPr id="37" name="Ellipse 37"/>
          <p:cNvSpPr/>
          <p:nvPr/>
        </p:nvSpPr>
        <p:spPr>
          <a:xfrm>
            <a:off x="6667500" y="3857625"/>
            <a:ext cx="95250" cy="9525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844665" y="3839528"/>
            <a:ext cx="30930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部署先进射频干扰系统，军事级干扰Starlink信号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60820" y="40462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导致部分地区终端完全失效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47675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0F6FF"/>
          </a:solidFill>
          <a:ln w="19050">
            <a:solidFill>
              <a:srgbClr val="00B4D8">
                <a:alpha val="30000"/>
              </a:srgbClr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571500" y="447675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747712" y="4622006"/>
            <a:ext cx="792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🔑 核心启示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8665" y="4858702"/>
            <a:ext cx="75736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低轨卫星通信（如Starlink）为战场数据渗透提供了新的可能性，但任何通信手段都存在被干扰、被没收、被利用的风险。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9618" y="5057299"/>
            <a:ext cx="35482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数据战没有单方面的绝对优势——攻防双方的博弈将持续演化。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71500" y="6334125"/>
            <a:ext cx="11049000" cy="9525"/>
          </a:xfrm>
          <a:prstGeom prst="rect">
            <a:avLst/>
          </a:prstGeom>
          <a:solidFill>
            <a:srgbClr val="E0E8F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0070" y="6475095"/>
            <a:ext cx="22011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来源：路透社调查报道 · 伊朗情报部公告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50B3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42900"/>
            <a:ext cx="476250" cy="476250"/>
          </a:xfrm>
          <a:prstGeom prst="roundRect">
            <a:avLst>
              <a:gd name="adj" fmla="val 8000"/>
            </a:avLst>
          </a:prstGeom>
          <a:solidFill>
            <a:srgbClr val="0050B3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48148" y="4533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1580" y="440055"/>
            <a:ext cx="26996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总结：三条总体判断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238250"/>
            <a:ext cx="11049000" cy="1524000"/>
          </a:xfrm>
          <a:prstGeom prst="roundRect">
            <a:avLst>
              <a:gd name="adj" fmla="val 7500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23825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23900" y="1438275"/>
            <a:ext cx="457200" cy="4572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83374" y="15878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4450" y="1571625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从火力密度转向数据定力</a:t>
            </a:r>
          </a:p>
        </p:txBody>
      </p:sp>
      <p:sp>
        <p:nvSpPr>
          <p:cNvPr id="13" name="Line 13"/>
          <p:cNvSpPr/>
          <p:nvPr/>
        </p:nvSpPr>
        <p:spPr>
          <a:xfrm>
            <a:off x="1333500" y="185737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00B4D8">
                <a:alpha val="3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319212" y="1955006"/>
            <a:ext cx="37790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谁掌握数据采集、传输、算力和算法，谁就掌握主动权。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0165" y="2220278"/>
            <a:ext cx="68945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高精度武器的核心成本在于数据链（占80%以上），而非战斗部。现代战争的天平正在从"火药"向"比特"倾斜。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165" y="2477452"/>
            <a:ext cx="43462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未来军力对比的关键指标：数据链完整度、算力规模、AI算法成熟度。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2952750"/>
            <a:ext cx="11049000" cy="1524000"/>
          </a:xfrm>
          <a:prstGeom prst="roundRect">
            <a:avLst>
              <a:gd name="adj" fmla="val 7500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295275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723900" y="3152775"/>
            <a:ext cx="457200" cy="4572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3374" y="33023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4450" y="3286125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民用基础设施即战场延伸</a:t>
            </a:r>
          </a:p>
        </p:txBody>
      </p:sp>
      <p:sp>
        <p:nvSpPr>
          <p:cNvPr id="22" name="Line 22"/>
          <p:cNvSpPr/>
          <p:nvPr/>
        </p:nvSpPr>
        <p:spPr>
          <a:xfrm>
            <a:off x="1333500" y="357187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00B4D8">
                <a:alpha val="3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319212" y="3669506"/>
            <a:ext cx="5444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交通摄像头、云数据中心、低轨卫星互联网、手机应用程序——这些日常数字服务。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0165" y="3934778"/>
            <a:ext cx="61874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在战时瞬间转化为情报来源、打击目标和攻防工具。城市智慧化程度越高，战场透明化程度也越高。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0165" y="4191952"/>
            <a:ext cx="38071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防御方必须对民用基础设施实施严格的网络隔离与安全加固。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667250"/>
            <a:ext cx="11049000" cy="1524000"/>
          </a:xfrm>
          <a:prstGeom prst="roundRect">
            <a:avLst>
              <a:gd name="adj" fmla="val 7500"/>
            </a:avLst>
          </a:prstGeom>
          <a:solidFill>
            <a:srgbClr val="F0F6FF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667250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723900" y="4867275"/>
            <a:ext cx="457200" cy="457200"/>
          </a:xfrm>
          <a:prstGeom prst="ellipse">
            <a:avLst/>
          </a:prstGeom>
          <a:solidFill>
            <a:srgbClr val="0050B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83374" y="5016818"/>
            <a:ext cx="138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4450" y="5000625"/>
            <a:ext cx="27684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50B3"/>
                </a:solidFill>
                <a:latin typeface="Segoe UI"/>
                <a:ea typeface="Microsoft YaHei"/>
                <a:cs typeface="Segoe UI"/>
              </a:rPr>
              <a:t>数据战没有单方面的绝对优势</a:t>
            </a:r>
          </a:p>
        </p:txBody>
      </p:sp>
      <p:sp>
        <p:nvSpPr>
          <p:cNvPr id="31" name="Line 31"/>
          <p:cNvSpPr/>
          <p:nvPr/>
        </p:nvSpPr>
        <p:spPr>
          <a:xfrm>
            <a:off x="1333500" y="528637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00B4D8">
                <a:alpha val="30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319212" y="5384006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4444"/>
                </a:solidFill>
                <a:latin typeface="Segoe UI"/>
                <a:ea typeface="Microsoft YaHei"/>
                <a:cs typeface="Segoe UI"/>
              </a:rPr>
              <a:t>伊朗以非对称手段打击数据中心、击落无人机、没收星链终端。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0165" y="5649278"/>
            <a:ext cx="67475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即使是技术弱势一方，也能找到强者的数据节点实施致命打击。下一次战争的第一声警报，可能不是防空雷达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0165" y="583977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的蜂鸣，而是数据中心的断电报警。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21118" y="603837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00000"/>
                </a:solidFill>
                <a:latin typeface="Segoe UI"/>
                <a:ea typeface="Microsoft YaHei"/>
                <a:cs typeface="Segoe UI"/>
              </a:rPr>
              <a:t>在算法面前，没有谁是无法被分析的。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50000">
                <a:srgbClr val="132B50"/>
              </a:gs>
              <a:gs pos="100000">
                <a:srgbClr val="1A3D6D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0B4D8"/>
              </a:gs>
              <a:gs pos="100000">
                <a:srgbClr val="0050B3"/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0"/>
            <a:ext cx="57150" cy="6858000"/>
          </a:xfrm>
          <a:prstGeom prst="rect">
            <a:avLst/>
          </a:prstGeom>
          <a:solidFill>
            <a:srgbClr val="00B4D8">
              <a:alpha val="20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5619750"/>
            <a:ext cx="12192000" cy="1238250"/>
          </a:xfrm>
          <a:custGeom>
            <a:avLst/>
            <a:gdLst/>
            <a:ahLst/>
            <a:cxnLst/>
            <a:rect l="l" t="t" r="r" b="b"/>
            <a:pathLst>
              <a:path w="12192000" h="1238250">
                <a:moveTo>
                  <a:pt x="0" y="285750"/>
                </a:moveTo>
                <a:cubicBezTo>
                  <a:pt x="2032000" y="31750"/>
                  <a:pt x="4064000" y="31750"/>
                  <a:pt x="6096000" y="285750"/>
                </a:cubicBezTo>
                <a:cubicBezTo>
                  <a:pt x="8128000" y="539750"/>
                  <a:pt x="10160000" y="444500"/>
                  <a:pt x="12192000" y="0"/>
                </a:cubicBezTo>
                <a:lnTo>
                  <a:pt x="12192000" y="1238250"/>
                </a:lnTo>
                <a:lnTo>
                  <a:pt x="0" y="1238250"/>
                </a:lnTo>
                <a:close/>
              </a:path>
            </a:pathLst>
          </a:custGeom>
          <a:solidFill>
            <a:srgbClr val="0050B3">
              <a:alpha val="12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8572500" y="2857500"/>
            <a:ext cx="3810000" cy="3810000"/>
          </a:xfrm>
          <a:prstGeom prst="ellipse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666750" y="666750"/>
            <a:ext cx="1524000" cy="1524000"/>
          </a:xfrm>
          <a:prstGeom prst="ellipse">
            <a:avLst/>
          </a:prstGeom>
          <a:solidFill>
            <a:srgbClr val="00B4D8">
              <a:alpha val="4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454586" y="2213610"/>
            <a:ext cx="128282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谢谢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35978" y="2965132"/>
            <a:ext cx="11200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8AB4F8"/>
                </a:solidFill>
                <a:latin typeface="Segoe UI"/>
                <a:ea typeface="Microsoft YaHei"/>
                <a:cs typeface="Segoe UI"/>
              </a:rPr>
              <a:t>THANK YOU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43500" y="3476625"/>
            <a:ext cx="1905000" cy="28575"/>
          </a:xfrm>
          <a:prstGeom prst="rect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5000625" y="3438525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7096125" y="3438525"/>
            <a:ext cx="95250" cy="9525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255252" y="3854768"/>
            <a:ext cx="16814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AB4F8"/>
                </a:solidFill>
                <a:latin typeface="Segoe UI"/>
                <a:ea typeface="Microsoft YaHei"/>
                <a:cs typeface="Segoe UI"/>
              </a:rPr>
              <a:t>数据为王 · 算法为剑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1000" y="4381500"/>
            <a:ext cx="3810000" cy="95250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016579" y="4574381"/>
            <a:ext cx="21588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AB4F8"/>
                </a:solidFill>
                <a:latin typeface="Segoe UI"/>
                <a:ea typeface="Microsoft YaHei"/>
                <a:cs typeface="Segoe UI"/>
              </a:rPr>
              <a:t>关于2026年美以对伊军事冲突中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31619" y="4812506"/>
            <a:ext cx="1528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8AB4F8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75029" y="5085874"/>
            <a:ext cx="1441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Segoe UI"/>
                <a:ea typeface="Microsoft YaHei"/>
                <a:cs typeface="Segoe UI"/>
              </a:rPr>
              <a:t>供内部参阅 · 2026年6月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050B3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2026-06-21T11:39:35Z</dcterms:created>
  <dcterms:modified xsi:type="dcterms:W3CDTF">2026-06-21T11:39:35Z</dcterms:modified>
  <cp:category/>
  <cp:contentStatus/>
</cp:coreProperties>
</file>