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2B5C"/>
              </a:gs>
              <a:gs pos="50000">
                <a:srgbClr val="004080"/>
              </a:gs>
              <a:gs pos="100000">
                <a:srgbClr val="001F4D"/>
              </a:gs>
            </a:gsLst>
            <a:lin ang="270000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9" name="Rectangle 19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9334500" y="285750"/>
            <a:ext cx="2286000" cy="2286000"/>
          </a:xfrm>
          <a:prstGeom prst="ellipse">
            <a:avLst/>
          </a:prstGeom>
          <a:noFill/>
          <a:ln w="19050">
            <a:solidFill>
              <a:srgbClr val="FFFFFF">
                <a:alpha val="5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10191750" y="1143000"/>
            <a:ext cx="1524000" cy="1524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23" name="Ellipse 23"/>
          <p:cNvSpPr/>
          <p:nvPr/>
        </p:nvSpPr>
        <p:spPr>
          <a:xfrm>
            <a:off x="952500" y="4762500"/>
            <a:ext cx="1905000" cy="1905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24" name="Ellipse 24"/>
          <p:cNvSpPr/>
          <p:nvPr/>
        </p:nvSpPr>
        <p:spPr>
          <a:xfrm>
            <a:off x="1809750" y="5334000"/>
            <a:ext cx="1143000" cy="1143000"/>
          </a:xfrm>
          <a:prstGeom prst="ellipse">
            <a:avLst/>
          </a:pr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62000" y="1714500"/>
            <a:ext cx="38100" cy="1143000"/>
          </a:xfrm>
          <a:prstGeom prst="rect">
            <a:avLst/>
          </a:prstGeom>
          <a:solidFill>
            <a:srgbClr val="00B4D8">
              <a:alpha val="6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12495" y="1755458"/>
            <a:ext cx="546088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2026年美以对伊军事冲突中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2495" y="2326958"/>
            <a:ext cx="449056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信息数据战的分析报告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52500" y="2952750"/>
            <a:ext cx="762000" cy="28575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781175" y="2933700"/>
            <a:ext cx="57150" cy="571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1885950" y="2943225"/>
            <a:ext cx="38100" cy="38100"/>
          </a:xfrm>
          <a:prstGeom prst="ellipse">
            <a:avLst/>
          </a:prstGeom>
          <a:solidFill>
            <a:srgbClr val="00B4D8">
              <a:alpha val="6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1545" y="3250882"/>
            <a:ext cx="29572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0D4F1"/>
                </a:solidFill>
                <a:latin typeface="Segoe UI"/>
                <a:ea typeface="Microsoft YaHei"/>
                <a:cs typeface="Segoe UI"/>
              </a:rPr>
              <a:t>"史诗狂怒"行动 · 供内部参阅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01F4D">
              <a:alpha val="6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5355" y="6426518"/>
            <a:ext cx="8893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8DF"/>
                </a:solidFill>
                <a:latin typeface="Segoe UI"/>
                <a:ea typeface="Microsoft YaHei"/>
                <a:cs typeface="Segoe UI"/>
              </a:rPr>
              <a:t>2026年6月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666095" y="64589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内部参阅</a:t>
            </a:r>
          </a:p>
        </p:txBody>
      </p:sp>
      <p:sp>
        <p:nvSpPr>
          <p:cNvPr id="35" name="Rectangle 3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0F6FF"/>
              </a:gs>
              <a:gs pos="100000">
                <a:srgbClr val="E8F0FE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0"/>
            <a:ext cx="1143000" cy="6858000"/>
          </a:xfrm>
          <a:custGeom>
            <a:avLst/>
            <a:gdLst/>
            <a:ahLst/>
            <a:cxnLst/>
            <a:rect l="l" t="t" r="r" b="b"/>
            <a:pathLst>
              <a:path w="1143000" h="6858000">
                <a:moveTo>
                  <a:pt x="0" y="0"/>
                </a:moveTo>
                <a:lnTo>
                  <a:pt x="381000" y="0"/>
                </a:lnTo>
                <a:lnTo>
                  <a:pt x="1143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50B3">
              <a:alpha val="8000"/>
            </a:srgbClr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0" y="0"/>
            <a:ext cx="571500" cy="6858000"/>
          </a:xfrm>
          <a:custGeom>
            <a:avLst/>
            <a:gdLst/>
            <a:ahLst/>
            <a:cxnLst/>
            <a:rect l="l" t="t" r="r" b="b"/>
            <a:pathLst>
              <a:path w="571500" h="6858000">
                <a:moveTo>
                  <a:pt x="0" y="0"/>
                </a:moveTo>
                <a:lnTo>
                  <a:pt x="190500" y="0"/>
                </a:lnTo>
                <a:lnTo>
                  <a:pt x="571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50B3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38100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48148" y="4914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1580" y="4591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报告提纲</a:t>
            </a:r>
          </a:p>
        </p:txBody>
      </p:sp>
      <p:sp>
        <p:nvSpPr>
          <p:cNvPr id="10" name="Line 10"/>
          <p:cNvSpPr/>
          <p:nvPr/>
        </p:nvSpPr>
        <p:spPr>
          <a:xfrm>
            <a:off x="571500" y="1047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B0D4F1"/>
            </a:solidFill>
            <a:custDash>
              <a:ds d="600000" sp="400000"/>
            </a:custDash>
          </a:ln>
        </p:spPr>
      </p:sp>
      <p:sp>
        <p:nvSpPr>
          <p:cNvPr id="11" name="Rectangle 11"/>
          <p:cNvSpPr/>
          <p:nvPr/>
        </p:nvSpPr>
        <p:spPr>
          <a:xfrm>
            <a:off x="762000" y="1333500"/>
            <a:ext cx="5143500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100000">
                <a:srgbClr val="F8FBFF"/>
              </a:gs>
            </a:gsLst>
            <a:lin ang="2700000" scaled="1"/>
          </a:gradFill>
          <a:ln w="9525">
            <a:solidFill>
              <a:srgbClr val="D0E4F7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62000" y="13335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76300" y="1543050"/>
            <a:ext cx="342900" cy="3429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78624" y="16354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3980" y="1492568"/>
            <a:ext cx="26806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民用监控系统已成为战略情报源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8742" y="1799749"/>
            <a:ext cx="33661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交通摄像头→瞄准镜 · AI行为模式分析 · 开战首日精确打击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286000"/>
            <a:ext cx="5143500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100000">
                <a:srgbClr val="F8FBFF"/>
              </a:gs>
            </a:gsLst>
            <a:lin ang="2700000" scaled="1"/>
          </a:gradFill>
          <a:ln w="9525">
            <a:solidFill>
              <a:srgbClr val="D0E4F7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22860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876300" y="2495550"/>
            <a:ext cx="342900" cy="3429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78624" y="25879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3980" y="2445068"/>
            <a:ext cx="2699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网络阻断已成为开战的"第一枪"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8742" y="2752249"/>
            <a:ext cx="32231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流量暴跌至4% · 新闻网站被入侵 · 数小时窗口决定战局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3238500"/>
            <a:ext cx="5143500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100000">
                <a:srgbClr val="F8FBFF"/>
              </a:gs>
            </a:gsLst>
            <a:lin ang="2700000" scaled="1"/>
          </a:gradFill>
          <a:ln w="9525">
            <a:solidFill>
              <a:srgbClr val="D0E4F7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762000" y="32385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76300" y="3448050"/>
            <a:ext cx="342900" cy="3429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78624" y="35404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3980" y="3397568"/>
            <a:ext cx="24915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战争账单本质上就是数据账单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8742" y="3704749"/>
            <a:ext cx="35482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前两月250-290亿美元 · 导弹=会飞的计算机 · JDAM成本骤降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1333500"/>
            <a:ext cx="5143500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100000">
                <a:srgbClr val="F8FBFF"/>
              </a:gs>
            </a:gsLst>
            <a:lin ang="2700000" scaled="1"/>
          </a:gradFill>
          <a:ln w="9525">
            <a:solidFill>
              <a:srgbClr val="D0E4F7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286500" y="13335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400800" y="1543050"/>
            <a:ext cx="342900" cy="3429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03124" y="16354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88480" y="1492568"/>
            <a:ext cx="26806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算力节点已成为高价值战略目标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93242" y="1799749"/>
            <a:ext cx="31256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AWS数据中心被命中 · 11架MQ-9被击落 · 云主权危机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286500" y="2286000"/>
            <a:ext cx="5143500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100000">
                <a:srgbClr val="F8FBFF"/>
              </a:gs>
            </a:gsLst>
            <a:lin ang="2700000" scaled="1"/>
          </a:gradFill>
          <a:ln w="9525">
            <a:solidFill>
              <a:srgbClr val="D0E4F7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286500" y="22860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6400800" y="2495550"/>
            <a:ext cx="342900" cy="3429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503124" y="25879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88480" y="2445068"/>
            <a:ext cx="21135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没有绝对安全的通信手段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93242" y="2752249"/>
            <a:ext cx="32751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星链渗透 vs 反间谍行动 · 射频干扰 · 通信本身无法隐藏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286500" y="3238500"/>
            <a:ext cx="5143500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FFF"/>
              </a:gs>
              <a:gs pos="100000">
                <a:srgbClr val="F8FBFF"/>
              </a:gs>
            </a:gsLst>
            <a:lin ang="2700000" scaled="1"/>
          </a:gradFill>
          <a:ln w="9525">
            <a:solidFill>
              <a:srgbClr val="D0E4F7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6286500" y="32385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6400800" y="3448050"/>
            <a:ext cx="342900" cy="3429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510804" y="35471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∑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888480" y="33975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总结：三条总体判断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93242" y="3704749"/>
            <a:ext cx="29241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数据定力 · 民用即战场 · 数据战无单方面绝对优势</a:t>
            </a:r>
          </a:p>
        </p:txBody>
      </p:sp>
      <p:sp>
        <p:nvSpPr>
          <p:cNvPr id="47" name="Line 47"/>
          <p:cNvSpPr/>
          <p:nvPr/>
        </p:nvSpPr>
        <p:spPr>
          <a:xfrm>
            <a:off x="5905500" y="1714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B0D4F1"/>
            </a:solidFill>
          </a:ln>
        </p:spPr>
      </p:sp>
      <p:sp>
        <p:nvSpPr>
          <p:cNvPr id="48" name="Line 48"/>
          <p:cNvSpPr/>
          <p:nvPr/>
        </p:nvSpPr>
        <p:spPr>
          <a:xfrm>
            <a:off x="5905500" y="26670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B0D4F1"/>
            </a:solidFill>
          </a:ln>
        </p:spPr>
      </p:sp>
      <p:sp>
        <p:nvSpPr>
          <p:cNvPr id="49" name="Line 49"/>
          <p:cNvSpPr/>
          <p:nvPr/>
        </p:nvSpPr>
        <p:spPr>
          <a:xfrm>
            <a:off x="5905500" y="3619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B0D4F1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6F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59118" y="6609874"/>
            <a:ext cx="31711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关于2026年美以对伊军事冲突中信息数据战的分析报告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65100" y="660987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B9FC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3" name="Rectangle 5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476250" cy="4762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050B3"/>
              </a:gs>
              <a:gs pos="100000">
                <a:srgbClr val="003366"/>
              </a:gs>
            </a:gsLst>
            <a:lin ang="270000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17456" y="3962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3485" y="380048"/>
            <a:ext cx="387200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民用监控系统已成为战略情报源</a:t>
            </a:r>
          </a:p>
        </p:txBody>
      </p:sp>
      <p:sp>
        <p:nvSpPr>
          <p:cNvPr id="8" name="Line 8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0E4F7"/>
            </a:solidFill>
            <a:custDash>
              <a:ds d="600000" sp="40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11049000" cy="457200"/>
          </a:xfrm>
          <a:prstGeom prst="roundRect">
            <a:avLst>
              <a:gd name="adj" fmla="val 8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1430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5808" y="1291114"/>
            <a:ext cx="632317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004080"/>
                </a:solidFill>
                <a:latin typeface="Segoe UI"/>
                <a:ea typeface="Microsoft YaHei"/>
                <a:cs typeface="Segoe UI"/>
              </a:rPr>
              <a:t>城市里的交通摄像头，原本用于治安管理，但在战时可以变成对手的全天候瞄准镜。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790700"/>
            <a:ext cx="5429250" cy="2095500"/>
          </a:xfrm>
          <a:prstGeom prst="roundRect">
            <a:avLst>
              <a:gd name="adj" fmla="val 3636"/>
            </a:avLst>
          </a:prstGeom>
          <a:solidFill>
            <a:srgbClr val="F8FBFF"/>
          </a:solidFill>
          <a:ln w="9525">
            <a:solidFill>
              <a:srgbClr val="D0E4F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1790700"/>
            <a:ext cx="38100" cy="2095500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6760" y="1946910"/>
            <a:ext cx="25843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以色列8200部队与摩萨德联合行动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2248852"/>
            <a:ext cx="28060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长期渗透伊朗交通监控摄像头、市政传感器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2496502"/>
            <a:ext cx="25259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接管设备控制权，加密回传实时视频流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2744152"/>
            <a:ext cx="2785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AI算法分析：护卫车队路线、人员出入频率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8665" y="2991802"/>
            <a:ext cx="2385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车牌轨迹推断机构内部车辆隶属关系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9618" y="3323749"/>
            <a:ext cx="28526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来源：路透社2026年3月深度报道、《金融时报》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1790700"/>
            <a:ext cx="5429250" cy="2095500"/>
          </a:xfrm>
          <a:prstGeom prst="roundRect">
            <a:avLst>
              <a:gd name="adj" fmla="val 3636"/>
            </a:avLst>
          </a:prstGeom>
          <a:solidFill>
            <a:srgbClr val="F0F6FF"/>
          </a:solidFill>
          <a:ln w="9525">
            <a:solidFill>
              <a:srgbClr val="D0E4F7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381750" y="1981200"/>
            <a:ext cx="50482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00B4D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960804" y="208883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开战首日精确打击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02866" y="2458402"/>
            <a:ext cx="28060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AI系统根据多年数据直接输出高精度目标坐标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8415" y="2887028"/>
            <a:ext cx="28060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打击目标：高级军官住所、革命卫队指挥点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68415" y="3134678"/>
            <a:ext cx="26870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F-15 7:30起飞 → 9:40"蓝麻雀"导弹命中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68415" y="3382328"/>
            <a:ext cx="28060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未依赖当日临时情报，数据流完成主要情报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69368" y="365712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来源：多名前情报官员向媒体确认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4076700"/>
            <a:ext cx="11049000" cy="533400"/>
          </a:xfrm>
          <a:prstGeom prst="roundRect">
            <a:avLst>
              <a:gd name="adj" fmla="val 10714"/>
            </a:avLst>
          </a:prstGeom>
          <a:solidFill>
            <a:srgbClr val="FFF8F0"/>
          </a:solidFill>
          <a:ln w="9525">
            <a:solidFill>
              <a:srgbClr val="F0C48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71500" y="40767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47712" y="4164806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结论：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6838" y="4164806"/>
            <a:ext cx="61793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城市智慧化程度越高，战场透明化程度也越高。密码管理、固件更新、网络隔离是防御底线。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67790" y="4382452"/>
            <a:ext cx="22949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"城市安全"与"战场透明"仅一线之隔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59118" y="660987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一、民用监控系统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101995" y="6609874"/>
            <a:ext cx="19880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《金融时报》·路透社·前情报官员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65100" y="660987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B9FC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37" name="Rectangle 3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476250" cy="4762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050B3"/>
              </a:gs>
              <a:gs pos="100000">
                <a:srgbClr val="003366"/>
              </a:gs>
            </a:gsLst>
            <a:lin ang="270000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17456" y="3962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3485" y="380048"/>
            <a:ext cx="389931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网络阻断已成为开战的"第一枪"</a:t>
            </a:r>
          </a:p>
        </p:txBody>
      </p:sp>
      <p:sp>
        <p:nvSpPr>
          <p:cNvPr id="8" name="Line 8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0E4F7"/>
            </a:solidFill>
            <a:custDash>
              <a:ds d="600000" sp="40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11049000" cy="457200"/>
          </a:xfrm>
          <a:prstGeom prst="roundRect">
            <a:avLst>
              <a:gd name="adj" fmla="val 8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1430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5808" y="1291114"/>
            <a:ext cx="51500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004080"/>
                </a:solidFill>
                <a:latin typeface="Segoe UI"/>
                <a:ea typeface="Microsoft YaHei"/>
                <a:cs typeface="Segoe UI"/>
              </a:rPr>
              <a:t>先切断对手的数据神经，再实施物理打击——现代战争的标准起手式。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790700"/>
            <a:ext cx="3429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41E3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838019" y="1831658"/>
            <a:ext cx="89596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~4%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2534" y="2344102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伊朗全国互联网流量降至正常水平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7203" y="2580799"/>
            <a:ext cx="2657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数据来源：NetBlocks · 2026.2.28 7:00 UTC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191000" y="1790700"/>
            <a:ext cx="3619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41E3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431479" y="1831658"/>
            <a:ext cx="113854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-98%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23757" y="2344102"/>
            <a:ext cx="25539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较前一周下降幅度（Cloudflare Radar）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46712" y="2580799"/>
            <a:ext cx="25080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德黑兰/法尔斯/伊斯法罕主要省份接近归零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001000" y="1790700"/>
            <a:ext cx="3619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0B4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329690" y="1831658"/>
            <a:ext cx="96212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多重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48796" y="2344102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因素叠加：外部攻击+主动切网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83478" y="2580799"/>
            <a:ext cx="2254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IODA（乔治亚理工学院）独立数据确认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24200"/>
            <a:ext cx="5429250" cy="1905000"/>
          </a:xfrm>
          <a:prstGeom prst="roundRect">
            <a:avLst>
              <a:gd name="adj" fmla="val 4000"/>
            </a:avLst>
          </a:prstGeom>
          <a:solidFill>
            <a:srgbClr val="F8FBFF"/>
          </a:solidFill>
          <a:ln w="9525">
            <a:solidFill>
              <a:srgbClr val="D0E4F7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3124200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46760" y="32804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数字空间的同步攻击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8665" y="3582352"/>
            <a:ext cx="29390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伊朗通讯社IRNA、塔斯尼姆通讯社被入侵下线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8665" y="3830002"/>
            <a:ext cx="28620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BadeSaba祈祷应用被劫持，推送心理战信息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8665" y="4077652"/>
            <a:ext cx="28060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公共遥测数据无法区分外部攻击与内部断网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8665" y="4325302"/>
            <a:ext cx="30860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可确认结果：丧失对外信息输出和应急指挥带宽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9618" y="4657249"/>
            <a:ext cx="39122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来源：lukaszolejnik.com · NetBlocks · Cloudflare Radar · IODA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191250" y="3124200"/>
            <a:ext cx="5429250" cy="1905000"/>
          </a:xfrm>
          <a:prstGeom prst="roundRect">
            <a:avLst>
              <a:gd name="adj" fmla="val 4000"/>
            </a:avLst>
          </a:prstGeom>
          <a:solidFill>
            <a:srgbClr val="FFF8F0"/>
          </a:solidFill>
          <a:ln w="9525">
            <a:solidFill>
              <a:srgbClr val="F0C48A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191250" y="3124200"/>
            <a:ext cx="38100" cy="19050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66510" y="32804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战略启示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381750" y="3600450"/>
            <a:ext cx="50482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867710" y="3736181"/>
            <a:ext cx="2076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网络战的窗口可能只有数小时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72400" y="400145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但这数小时足以决定整场战局的走向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68415" y="4439602"/>
            <a:ext cx="31070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关键信息基础设施的供应链安全和主动防御能力，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68415" y="466820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已与航母、战斗机同等重要。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59118" y="6609874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二、网络阻断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965478" y="6609874"/>
            <a:ext cx="22610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NetBlocks · Cloudflare Radar · IODA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65100" y="660987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B9FC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476250" cy="4762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050B3"/>
              </a:gs>
              <a:gs pos="100000">
                <a:srgbClr val="003366"/>
              </a:gs>
            </a:gsLst>
            <a:lin ang="270000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17456" y="3962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3485" y="380048"/>
            <a:ext cx="359897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战争账单本质上就是数据账单</a:t>
            </a:r>
          </a:p>
        </p:txBody>
      </p:sp>
      <p:sp>
        <p:nvSpPr>
          <p:cNvPr id="8" name="Line 8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0E4F7"/>
            </a:solidFill>
            <a:custDash>
              <a:ds d="600000" sp="40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11049000" cy="457200"/>
          </a:xfrm>
          <a:prstGeom prst="roundRect">
            <a:avLst>
              <a:gd name="adj" fmla="val 8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1430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5808" y="1291114"/>
            <a:ext cx="66632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004080"/>
                </a:solidFill>
                <a:latin typeface="Segoe UI"/>
                <a:ea typeface="Microsoft YaHei"/>
                <a:cs typeface="Segoe UI"/>
              </a:rPr>
              <a:t>高精度武器之所以昂贵，不是因为炸药贵，而是因为每一枚导弹都是一台会飞的计算机。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790700"/>
            <a:ext cx="257175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C41E3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17666" y="1887855"/>
            <a:ext cx="14794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250-290亿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9919" y="2371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前两月花费（美元）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333750" y="1790700"/>
            <a:ext cx="257175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C41E3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203356" y="1887855"/>
            <a:ext cx="8325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~21亿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92153" y="23712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前六天日均消耗（美元）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6000" y="1790700"/>
            <a:ext cx="257175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0050B3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965606" y="1887855"/>
            <a:ext cx="8325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230万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57654" y="2371249"/>
            <a:ext cx="1448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JASSM导弹单价（美元）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858250" y="1790700"/>
            <a:ext cx="257175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4288">
            <a:solidFill>
              <a:srgbClr val="0050B3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27856" y="1887855"/>
            <a:ext cx="8325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200万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51645" y="2371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战斧巡航导弹单价（美元）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2838450"/>
            <a:ext cx="5429250" cy="2095500"/>
          </a:xfrm>
          <a:prstGeom prst="roundRect">
            <a:avLst>
              <a:gd name="adj" fmla="val 3636"/>
            </a:avLst>
          </a:prstGeom>
          <a:solidFill>
            <a:srgbClr val="F8FBFF"/>
          </a:solidFill>
          <a:ln w="9525">
            <a:solidFill>
              <a:srgbClr val="D0E4F7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2838450"/>
            <a:ext cx="38100" cy="2095500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46760" y="2994660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导弹是一台会飞的计算机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8665" y="3296602"/>
            <a:ext cx="29880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惯性导航系统 + 卫星接收机 + 地形匹配数据库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8665" y="3544252"/>
            <a:ext cx="29460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末端目标识别模块（算法自主区分真伪目标）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8665" y="3791902"/>
            <a:ext cx="19659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卫星数据链实时更新目标坐标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618" y="4123849"/>
            <a:ext cx="23585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来源：FlightGlobal · 2026财年预算文件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191250" y="2838450"/>
            <a:ext cx="5429250" cy="2095500"/>
          </a:xfrm>
          <a:prstGeom prst="roundRect">
            <a:avLst>
              <a:gd name="adj" fmla="val 3636"/>
            </a:avLst>
          </a:prstGeom>
          <a:solidFill>
            <a:srgbClr val="FFF8F0"/>
          </a:solidFill>
          <a:ln w="9525">
            <a:solidFill>
              <a:srgbClr val="F0C48A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191250" y="2838450"/>
            <a:ext cx="38100" cy="20955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366510" y="2994660"/>
            <a:ext cx="23995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后期成本骤降——数据链需求降低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68415" y="3296602"/>
            <a:ext cx="24839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2000磅 GBU-31 JDAM：约10.7万美元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68415" y="3544252"/>
            <a:ext cx="2406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1000磅 GBU-32 JDAM：约7.9万美元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68415" y="3791902"/>
            <a:ext cx="2329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500磅 GBU-38 JDAM：约7.5万美元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68415" y="4115752"/>
            <a:ext cx="29670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原因：防空削弱后目标固定，数据链需求大降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69368" y="4561999"/>
            <a:ext cx="34766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来源：Stephen Semler等独立分析师 · CSIS 2026年4月报告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512445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F0F6FF"/>
          </a:solidFill>
          <a:ln w="9525">
            <a:solidFill>
              <a:srgbClr val="D0E4F7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852559" y="5307806"/>
            <a:ext cx="64868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所谓战争烧钱，本质上是烧数据。若对手具备干扰数据链路的能力，则昂贵弹药将迅速贬值。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59118" y="6609874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三、战争账单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222260" y="6609874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五角大楼 · 沃顿商学院 · CSIS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65100" y="660987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B9FC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45" name="Rectangle 4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476250" cy="4762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050B3"/>
              </a:gs>
              <a:gs pos="100000">
                <a:srgbClr val="003366"/>
              </a:gs>
            </a:gsLst>
            <a:lin ang="270000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17456" y="3962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3485" y="380048"/>
            <a:ext cx="387200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算力节点已成为高价值战略目标</a:t>
            </a:r>
          </a:p>
        </p:txBody>
      </p:sp>
      <p:sp>
        <p:nvSpPr>
          <p:cNvPr id="8" name="Line 8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0E4F7"/>
            </a:solidFill>
            <a:custDash>
              <a:ds d="600000" sp="40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11049000" cy="457200"/>
          </a:xfrm>
          <a:prstGeom prst="roundRect">
            <a:avLst>
              <a:gd name="adj" fmla="val 8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1430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5808" y="1291114"/>
            <a:ext cx="66632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004080"/>
                </a:solidFill>
                <a:latin typeface="Segoe UI"/>
                <a:ea typeface="Microsoft YaHei"/>
                <a:cs typeface="Segoe UI"/>
              </a:rPr>
              <a:t>面对全世界最强大的军队，伊朗选择了一条非对称反击路线：不打航母，专打数据中心。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790700"/>
            <a:ext cx="5429250" cy="2667000"/>
          </a:xfrm>
          <a:prstGeom prst="roundRect">
            <a:avLst>
              <a:gd name="adj" fmla="val 2857"/>
            </a:avLst>
          </a:prstGeom>
          <a:solidFill>
            <a:srgbClr val="F8FBFF"/>
          </a:solidFill>
          <a:ln w="9525">
            <a:solidFill>
              <a:srgbClr val="D0E4F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1790700"/>
            <a:ext cx="38100" cy="26670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6760" y="1946910"/>
            <a:ext cx="21895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伊朗无人机袭击AWS数据中心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2248852"/>
            <a:ext cx="35621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2026年3月1-2日，伊朗无人机对海湾基础设施发动袭击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2496502"/>
            <a:ext cx="34430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AWS阿联酋ME-CENTRAL-1、巴林ME-SOUTH-1被命中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2744152"/>
            <a:ext cx="35061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建筑结构损坏、电力中断、消防系统误启动损毁服务器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8665" y="2991802"/>
            <a:ext cx="25749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EC2、S3、DynamoDB核心服务严重降级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8665" y="3239452"/>
            <a:ext cx="30020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AWS敦促客户启动灾难恢复，迁移至欧洲/亚太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524250"/>
            <a:ext cx="5048250" cy="342900"/>
          </a:xfrm>
          <a:prstGeom prst="roundRect">
            <a:avLst>
              <a:gd name="adj" fmla="val 11111"/>
            </a:avLst>
          </a:prstGeom>
          <a:solidFill>
            <a:srgbClr val="FFF0F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43915" y="3639502"/>
            <a:ext cx="29817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学术界将此事件直接引用为"云主权"危机案例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9618" y="4161949"/>
            <a:ext cx="19360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来源：AWS官方确认 · arXiv.org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191250" y="1790700"/>
            <a:ext cx="5429250" cy="2667000"/>
          </a:xfrm>
          <a:prstGeom prst="roundRect">
            <a:avLst>
              <a:gd name="adj" fmla="val 2857"/>
            </a:avLst>
          </a:prstGeom>
          <a:solidFill>
            <a:srgbClr val="F8FBFF"/>
          </a:solidFill>
          <a:ln w="9525">
            <a:solidFill>
              <a:srgbClr val="D0E4F7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191250" y="1790700"/>
            <a:ext cx="38100" cy="2667000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66510" y="1946910"/>
            <a:ext cx="23323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美军MQ-9"死神"无人机被击落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381750" y="2266950"/>
            <a:ext cx="50482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C41E3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444303" y="2145030"/>
            <a:ext cx="9231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≥11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80438" y="2706052"/>
            <a:ext cx="16508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累计击落MQ-9数量（架）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68415" y="3029902"/>
            <a:ext cx="1895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使用AD-08 Majid等防空系统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68415" y="3277552"/>
            <a:ext cx="20989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每架成本约3000万-3500万美元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68415" y="3525202"/>
            <a:ext cx="30930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打击日期：3月2、3、6、7、13、31日、5月6日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381750" y="3810000"/>
            <a:ext cx="5048250" cy="342900"/>
          </a:xfrm>
          <a:prstGeom prst="roundRect">
            <a:avLst>
              <a:gd name="adj" fmla="val 11111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463665" y="3925252"/>
            <a:ext cx="27640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4080"/>
                </a:solidFill>
                <a:latin typeface="Segoe UI"/>
                <a:ea typeface="Microsoft YaHei"/>
                <a:cs typeface="Segoe UI"/>
              </a:rPr>
              <a:t>损失不仅是硬件，更是侦察-打击链条的断裂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69368" y="4161949"/>
            <a:ext cx="19555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来源：Aviation Safety Network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4648200"/>
            <a:ext cx="11049000" cy="533400"/>
          </a:xfrm>
          <a:prstGeom prst="roundRect">
            <a:avLst>
              <a:gd name="adj" fmla="val 10714"/>
            </a:avLst>
          </a:prstGeom>
          <a:solidFill>
            <a:srgbClr val="FFF8F0"/>
          </a:solidFill>
          <a:ln w="9525">
            <a:solidFill>
              <a:srgbClr val="F0C48A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571500" y="46482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7712" y="4736306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结论：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66838" y="4736306"/>
            <a:ext cx="7379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摧毁一个算力节点，可能比摧毁十个军事基地更具战略效果。保护数据中心已不再是商业问题，而是国防问题。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67790" y="4953952"/>
            <a:ext cx="3541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云不是无形的——它是一栋栋可以被导弹命中的混凝土建筑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59118" y="6609874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四、算力节点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07933" y="6609874"/>
            <a:ext cx="29761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AWS官方 · arXiv.org · Aviation Safety Network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65100" y="660987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B9FC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476250" cy="4762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050B3"/>
              </a:gs>
              <a:gs pos="100000">
                <a:srgbClr val="003366"/>
              </a:gs>
            </a:gsLst>
            <a:lin ang="270000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17456" y="396240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3485" y="380048"/>
            <a:ext cx="30529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没有绝对安全的通信手段</a:t>
            </a:r>
          </a:p>
        </p:txBody>
      </p:sp>
      <p:sp>
        <p:nvSpPr>
          <p:cNvPr id="8" name="Line 8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0E4F7"/>
            </a:solidFill>
            <a:custDash>
              <a:ds d="600000" sp="40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11049000" cy="457200"/>
          </a:xfrm>
          <a:prstGeom prst="roundRect">
            <a:avLst>
              <a:gd name="adj" fmla="val 8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1430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5808" y="1291114"/>
            <a:ext cx="71732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004080"/>
                </a:solidFill>
                <a:latin typeface="Segoe UI"/>
                <a:ea typeface="Microsoft YaHei"/>
                <a:cs typeface="Segoe UI"/>
              </a:rPr>
              <a:t>如果你用星链这样的先进卫星网络去渗透一个国家，你以为自己是猎人，但你也可能变成猎物。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790700"/>
            <a:ext cx="5429250" cy="2286000"/>
          </a:xfrm>
          <a:prstGeom prst="roundRect">
            <a:avLst>
              <a:gd name="adj" fmla="val 3333"/>
            </a:avLst>
          </a:prstGeom>
          <a:solidFill>
            <a:srgbClr val="F8FBFF"/>
          </a:solidFill>
          <a:ln w="9525">
            <a:solidFill>
              <a:srgbClr val="D0E4F7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1790700"/>
            <a:ext cx="38100" cy="2286000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6760" y="19469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美方攻势：星链渗透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2248852"/>
            <a:ext cx="27080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SpaceX向美军出售Starshield军事版终端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2496502"/>
            <a:ext cx="25259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冲突开始时已部署于十多个无人机系统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2744152"/>
            <a:ext cx="23999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美国务院利用"互联网自由倡议"资金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8665" y="2991802"/>
            <a:ext cx="23999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约6000台Starlink终端走私入境伊朗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8665" y="3239452"/>
            <a:ext cx="23649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累计估计3万-5万台自2022年起流入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618" y="3704749"/>
            <a:ext cx="29761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来源：路透社调查（基于五角大楼文件）· PressTV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191250" y="1790700"/>
            <a:ext cx="5429250" cy="2286000"/>
          </a:xfrm>
          <a:prstGeom prst="roundRect">
            <a:avLst>
              <a:gd name="adj" fmla="val 3333"/>
            </a:avLst>
          </a:prstGeom>
          <a:solidFill>
            <a:srgbClr val="FFF8F0"/>
          </a:solidFill>
          <a:ln w="9525">
            <a:solidFill>
              <a:srgbClr val="F0C48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191250" y="1790700"/>
            <a:ext cx="38100" cy="2286000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366510" y="1946910"/>
            <a:ext cx="22147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伊朗反制：反间谍与射频干扰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8415" y="2248852"/>
            <a:ext cx="26660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情报部全国反间谍行动，没收数百台终端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68415" y="2496502"/>
            <a:ext cx="28480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3月19日：锡斯坦省逮捕13人，没收5台终端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68415" y="2744152"/>
            <a:ext cx="27080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3月25日：德黑兰逮捕39人，没收7台设备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68415" y="2991802"/>
            <a:ext cx="2385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部署射频干扰系统，军事级干扰信号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68415" y="3239452"/>
            <a:ext cx="20919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• 非法使用Starlink定为刑事犯罪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69368" y="3704749"/>
            <a:ext cx="32881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来源：伊朗情报部 · ایران اینترنشنال · Military.com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267200"/>
            <a:ext cx="11049000" cy="533400"/>
          </a:xfrm>
          <a:prstGeom prst="roundRect">
            <a:avLst>
              <a:gd name="adj" fmla="val 10714"/>
            </a:avLst>
          </a:prstGeom>
          <a:solidFill>
            <a:srgbClr val="F0F6FF"/>
          </a:solidFill>
          <a:ln w="9525">
            <a:solidFill>
              <a:srgbClr val="D0E4F7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71500" y="42672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47712" y="435530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核心矛盾：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52588" y="4355306"/>
            <a:ext cx="36440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数据内容可以加密，但"正在通信"这一事实无法隐藏。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53540" y="4572952"/>
            <a:ext cx="54873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进攻方可以利用卫星网络追踪目标，防御方同样可以利用信号特征反向定位并没收设备。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59118" y="6609874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五、通信安全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007733" y="6609874"/>
            <a:ext cx="21765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路透社 · 伊朗情报部 · Military.com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65100" y="660987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B9FC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360497" y="4705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总结：三条总体判断</a:t>
            </a:r>
          </a:p>
        </p:txBody>
      </p:sp>
      <p:sp>
        <p:nvSpPr>
          <p:cNvPr id="6" name="Line 6"/>
          <p:cNvSpPr/>
          <p:nvPr/>
        </p:nvSpPr>
        <p:spPr>
          <a:xfrm>
            <a:off x="5143500" y="952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00B4D8"/>
            </a:solidFill>
          </a:ln>
        </p:spPr>
      </p:sp>
      <p:sp>
        <p:nvSpPr>
          <p:cNvPr id="7" name="Ellipse 7"/>
          <p:cNvSpPr/>
          <p:nvPr/>
        </p:nvSpPr>
        <p:spPr>
          <a:xfrm>
            <a:off x="7115175" y="923925"/>
            <a:ext cx="57150" cy="571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7219950" y="933450"/>
            <a:ext cx="38100" cy="38100"/>
          </a:xfrm>
          <a:prstGeom prst="ellipse">
            <a:avLst/>
          </a:prstGeom>
          <a:solidFill>
            <a:srgbClr val="00B4D8">
              <a:alpha val="6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333500"/>
            <a:ext cx="3524250" cy="3619500"/>
          </a:xfrm>
          <a:prstGeom prst="roundRect">
            <a:avLst>
              <a:gd name="adj" fmla="val 3243"/>
            </a:avLst>
          </a:prstGeom>
          <a:gradFill>
            <a:gsLst>
              <a:gs pos="0">
                <a:srgbClr val="F0F6FF"/>
              </a:gs>
              <a:gs pos="100000">
                <a:srgbClr val="E0ECFA"/>
              </a:gs>
            </a:gsLst>
            <a:lin ang="5400000" scaled="1"/>
          </a:gradFill>
          <a:ln w="14288">
            <a:solidFill>
              <a:srgbClr val="B0D4F1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2000250" y="1524000"/>
            <a:ext cx="666750" cy="6667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226095" y="1725930"/>
            <a:ext cx="2150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9509" y="22193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从火力密度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84496" y="25050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转向数据定力</a:t>
            </a:r>
          </a:p>
        </p:txBody>
      </p:sp>
      <p:sp>
        <p:nvSpPr>
          <p:cNvPr id="14" name="Line 14"/>
          <p:cNvSpPr/>
          <p:nvPr/>
        </p:nvSpPr>
        <p:spPr>
          <a:xfrm>
            <a:off x="1143000" y="2905125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9525">
            <a:solidFill>
              <a:srgbClr val="B0D4F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719262" y="3117056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谁掌握数据采集、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44253" y="338375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传输、算力和算法，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19262" y="3650456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谁就掌握主动权。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000500"/>
            <a:ext cx="31432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0E4F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476137" y="41428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从德黑兰的摄像头到星链终端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06153" y="43714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从网络骨干网到数据中心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71161" y="460009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数据流贯穿战争全周期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33875" y="1333500"/>
            <a:ext cx="3524250" cy="3619500"/>
          </a:xfrm>
          <a:prstGeom prst="roundRect">
            <a:avLst>
              <a:gd name="adj" fmla="val 3243"/>
            </a:avLst>
          </a:prstGeom>
          <a:gradFill>
            <a:gsLst>
              <a:gs pos="0">
                <a:srgbClr val="FFF8F0"/>
              </a:gs>
              <a:gs pos="100000">
                <a:srgbClr val="FFF0E0"/>
              </a:gs>
            </a:gsLst>
            <a:lin ang="5400000" scaled="1"/>
          </a:gradFill>
          <a:ln w="14288">
            <a:solidFill>
              <a:srgbClr val="F0C48A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5762625" y="1524000"/>
            <a:ext cx="666750" cy="6667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988470" y="1725930"/>
            <a:ext cx="2150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46871" y="22193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民用基础设施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51884" y="25050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即战场延伸</a:t>
            </a:r>
          </a:p>
        </p:txBody>
      </p:sp>
      <p:sp>
        <p:nvSpPr>
          <p:cNvPr id="27" name="Line 27"/>
          <p:cNvSpPr/>
          <p:nvPr/>
        </p:nvSpPr>
        <p:spPr>
          <a:xfrm>
            <a:off x="4905375" y="2905125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9525">
            <a:solidFill>
              <a:srgbClr val="F0C48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181600" y="31170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交通摄像头、云数据中心、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81600" y="33837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低轨卫星互联网、手机应用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81600" y="36504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在战时瞬间转化为攻防工具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524375" y="4000500"/>
            <a:ext cx="31432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F0C48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498544" y="414289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日常数字服务在战时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03520" y="43714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转化为情报来源和打击目标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68528" y="46000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41E3A"/>
                </a:solidFill>
                <a:latin typeface="Segoe UI"/>
                <a:ea typeface="Microsoft YaHei"/>
                <a:cs typeface="Segoe UI"/>
              </a:rPr>
              <a:t>民用与军用界限已经消失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96250" y="1333500"/>
            <a:ext cx="3524250" cy="3619500"/>
          </a:xfrm>
          <a:prstGeom prst="roundRect">
            <a:avLst>
              <a:gd name="adj" fmla="val 3243"/>
            </a:avLst>
          </a:prstGeom>
          <a:gradFill>
            <a:gsLst>
              <a:gs pos="0">
                <a:srgbClr val="F5F0FF"/>
              </a:gs>
              <a:gs pos="100000">
                <a:srgbClr val="EBE5F8"/>
              </a:gs>
            </a:gsLst>
            <a:lin ang="5400000" scaled="1"/>
          </a:gradFill>
          <a:ln w="14288">
            <a:solidFill>
              <a:srgbClr val="C0B0E8"/>
            </a:solidFill>
          </a:ln>
        </p:spPr>
      </p:sp>
      <p:sp>
        <p:nvSpPr>
          <p:cNvPr id="36" name="Ellipse 36"/>
          <p:cNvSpPr/>
          <p:nvPr/>
        </p:nvSpPr>
        <p:spPr>
          <a:xfrm>
            <a:off x="9525000" y="1524000"/>
            <a:ext cx="666750" cy="666750"/>
          </a:xfrm>
          <a:prstGeom prst="ellipse">
            <a:avLst/>
          </a:prstGeom>
          <a:solidFill>
            <a:srgbClr val="6B4FA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750845" y="1725930"/>
            <a:ext cx="2150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14259" y="22193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6B4FA0"/>
                </a:solidFill>
                <a:latin typeface="Segoe UI"/>
                <a:ea typeface="Microsoft YaHei"/>
                <a:cs typeface="Segoe UI"/>
              </a:rPr>
              <a:t>数据战没有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04233" y="250507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6B4FA0"/>
                </a:solidFill>
                <a:latin typeface="Segoe UI"/>
                <a:ea typeface="Microsoft YaHei"/>
                <a:cs typeface="Segoe UI"/>
              </a:rPr>
              <a:t>单方面绝对优势</a:t>
            </a:r>
          </a:p>
        </p:txBody>
      </p:sp>
      <p:sp>
        <p:nvSpPr>
          <p:cNvPr id="40" name="Line 40"/>
          <p:cNvSpPr/>
          <p:nvPr/>
        </p:nvSpPr>
        <p:spPr>
          <a:xfrm>
            <a:off x="8667750" y="2905125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9525">
            <a:solidFill>
              <a:srgbClr val="C0B0E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9244012" y="3117056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伊朗以非对称手段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943975" y="33837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打击数据中心、击落无人机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94031" y="3650456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没收星链终端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286750" y="4000500"/>
            <a:ext cx="31432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C0B0E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325928" y="414289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保护自身数据同时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260919" y="437149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破坏对手数据的一方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25928" y="460009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4FA0"/>
                </a:solidFill>
                <a:latin typeface="Segoe UI"/>
                <a:ea typeface="Microsoft YaHei"/>
                <a:cs typeface="Segoe UI"/>
              </a:rPr>
              <a:t>才能赢得未来战争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523875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001F4D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3140392" y="5375910"/>
            <a:ext cx="59112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下一次战争的第一声警报，可能不是防空雷达的蜂鸣，而是数据中心的断电报警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892516" y="5582602"/>
            <a:ext cx="2406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B8DF"/>
                </a:solidFill>
                <a:latin typeface="Segoe UI"/>
                <a:ea typeface="Microsoft YaHei"/>
                <a:cs typeface="Segoe UI"/>
              </a:rPr>
              <a:t>在算法面前，没有谁是无法被分析的。</a:t>
            </a:r>
          </a:p>
        </p:txBody>
      </p:sp>
      <p:sp>
        <p:nvSpPr>
          <p:cNvPr id="51" name="Rectangle 5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59118" y="6609874"/>
            <a:ext cx="284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65100" y="660987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B9FC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54" name="Rectangle 5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2B5C"/>
              </a:gs>
              <a:gs pos="50000">
                <a:srgbClr val="004080"/>
              </a:gs>
              <a:gs pos="100000">
                <a:srgbClr val="001F4D"/>
              </a:gs>
            </a:gsLst>
            <a:lin ang="2700000" scaled="1"/>
          </a:gra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028825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05765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8124825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15365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7" name="Rectangle 1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0" y="5810250"/>
            <a:ext cx="12192000" cy="1047750"/>
          </a:xfrm>
          <a:custGeom>
            <a:avLst/>
            <a:gdLst/>
            <a:ahLst/>
            <a:cxnLst/>
            <a:rect l="l" t="t" r="r" b="b"/>
            <a:pathLst>
              <a:path w="12192000" h="1047750">
                <a:moveTo>
                  <a:pt x="0" y="381000"/>
                </a:moveTo>
                <a:cubicBezTo>
                  <a:pt x="1016000" y="190500"/>
                  <a:pt x="2032000" y="158750"/>
                  <a:pt x="3048000" y="285750"/>
                </a:cubicBezTo>
                <a:cubicBezTo>
                  <a:pt x="4064000" y="412750"/>
                  <a:pt x="5080000" y="381000"/>
                  <a:pt x="6096000" y="190500"/>
                </a:cubicBezTo>
                <a:cubicBezTo>
                  <a:pt x="7112000" y="0"/>
                  <a:pt x="8128000" y="47625"/>
                  <a:pt x="9144000" y="333375"/>
                </a:cubicBezTo>
                <a:cubicBezTo>
                  <a:pt x="10160000" y="619125"/>
                  <a:pt x="11176000" y="587375"/>
                  <a:pt x="12192000" y="238125"/>
                </a:cubicBezTo>
                <a:lnTo>
                  <a:pt x="12192000" y="1047750"/>
                </a:lnTo>
                <a:lnTo>
                  <a:pt x="0" y="1047750"/>
                </a:lnTo>
                <a:close/>
              </a:path>
            </a:pathLst>
          </a:custGeom>
          <a:solidFill>
            <a:srgbClr val="00B4D8">
              <a:alpha val="6000"/>
            </a:srgbClr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0" y="6159500"/>
            <a:ext cx="12192000" cy="698500"/>
          </a:xfrm>
          <a:custGeom>
            <a:avLst/>
            <a:gdLst/>
            <a:ahLst/>
            <a:cxnLst/>
            <a:rect l="l" t="t" r="r" b="b"/>
            <a:pathLst>
              <a:path w="12192000" h="698500">
                <a:moveTo>
                  <a:pt x="0" y="222250"/>
                </a:moveTo>
                <a:cubicBezTo>
                  <a:pt x="2032000" y="31750"/>
                  <a:pt x="4064000" y="0"/>
                  <a:pt x="6096000" y="127000"/>
                </a:cubicBezTo>
                <a:cubicBezTo>
                  <a:pt x="8128000" y="254000"/>
                  <a:pt x="10160000" y="222250"/>
                  <a:pt x="12192000" y="31750"/>
                </a:cubicBezTo>
                <a:lnTo>
                  <a:pt x="12192000" y="698500"/>
                </a:lnTo>
                <a:lnTo>
                  <a:pt x="0" y="698500"/>
                </a:lnTo>
                <a:close/>
              </a:path>
            </a:pathLst>
          </a:custGeom>
          <a:solidFill>
            <a:srgbClr val="0050B3">
              <a:alpha val="8000"/>
            </a:srgbClr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8763000" y="571500"/>
            <a:ext cx="2667000" cy="2667000"/>
          </a:xfrm>
          <a:prstGeom prst="ellipse">
            <a:avLst/>
          </a:prstGeom>
          <a:noFill/>
          <a:ln w="19050">
            <a:solidFill>
              <a:srgbClr val="FFFFFF">
                <a:alpha val="5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9810750" y="1619250"/>
            <a:ext cx="1714500" cy="1714500"/>
          </a:xfrm>
          <a:prstGeom prst="ellipse">
            <a:avLst/>
          </a:prstGeom>
          <a:noFill/>
          <a:ln w="9525">
            <a:solidFill>
              <a:srgbClr val="FFFFFF">
                <a:alpha val="3000"/>
              </a:srgbClr>
            </a:solidFill>
          </a:ln>
        </p:spPr>
      </p:sp>
      <p:sp>
        <p:nvSpPr>
          <p:cNvPr id="23" name="Ellipse 23"/>
          <p:cNvSpPr/>
          <p:nvPr/>
        </p:nvSpPr>
        <p:spPr>
          <a:xfrm>
            <a:off x="1143000" y="4476750"/>
            <a:ext cx="1524000" cy="1524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454586" y="2213610"/>
            <a:ext cx="128282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谢谢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09070" y="3044190"/>
            <a:ext cx="11738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B0D4F1"/>
                </a:solidFill>
                <a:latin typeface="Segoe UI"/>
                <a:ea typeface="Microsoft YaHei"/>
                <a:cs typeface="Segoe UI"/>
              </a:rPr>
              <a:t>Thank You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143500" y="3524250"/>
            <a:ext cx="952500" cy="28575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162675" y="3505200"/>
            <a:ext cx="57150" cy="571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6267450" y="3514725"/>
            <a:ext cx="38100" cy="38100"/>
          </a:xfrm>
          <a:prstGeom prst="ellipse">
            <a:avLst/>
          </a:prstGeom>
          <a:solidFill>
            <a:srgbClr val="00B4D8">
              <a:alpha val="60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381750" y="3524250"/>
            <a:ext cx="952500" cy="28575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191000" y="3905250"/>
            <a:ext cx="3810000" cy="1143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800695" y="4121468"/>
            <a:ext cx="25906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关于2026年美以对伊军事冲突中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78742" y="440721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信息数据战的分析报告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64110" y="4755356"/>
            <a:ext cx="16637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CB8DF"/>
                </a:solidFill>
                <a:latin typeface="Segoe UI"/>
                <a:ea typeface="Microsoft YaHei"/>
                <a:cs typeface="Segoe UI"/>
              </a:rPr>
              <a:t>供内部参阅 · 2026年6月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1F4D">
              <a:alpha val="60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406628" y="650795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B9FCA"/>
                </a:solidFill>
                <a:latin typeface="Segoe UI"/>
                <a:ea typeface="Microsoft YaHei"/>
                <a:cs typeface="Segoe UI"/>
              </a:rPr>
              <a:t>以上分析供领导参考</a:t>
            </a:r>
          </a:p>
        </p:txBody>
      </p:sp>
      <p:sp>
        <p:nvSpPr>
          <p:cNvPr id="36" name="Rectangle 3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2026-06-20T21:16:27Z</dcterms:created>
  <dcterms:modified xsi:type="dcterms:W3CDTF">2026-06-20T21:16:27Z</dcterms:modified>
  <cp:category/>
  <cp:contentStatus/>
</cp:coreProperties>
</file>