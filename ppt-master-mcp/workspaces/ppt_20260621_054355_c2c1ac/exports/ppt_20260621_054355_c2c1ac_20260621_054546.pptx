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0" cy="3429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429000"/>
            <a:ext cx="571500" cy="3429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365559" y="1755458"/>
            <a:ext cx="546088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2026年美以对伊军事冲突中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4556" y="2340292"/>
            <a:ext cx="40628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7" name="Rectangle 7"/>
          <p:cNvSpPr/>
          <p:nvPr/>
        </p:nvSpPr>
        <p:spPr>
          <a:xfrm>
            <a:off x="2286000" y="2952750"/>
            <a:ext cx="7620000" cy="4762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5140" y="3121342"/>
            <a:ext cx="34817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供内部参阅 · 基于公开来源的五维深度分析</a:t>
            </a:r>
          </a:p>
        </p:txBody>
      </p:sp>
      <p:sp>
        <p:nvSpPr>
          <p:cNvPr id="9" name="Rectangle 9"/>
          <p:cNvSpPr/>
          <p:nvPr/>
        </p:nvSpPr>
        <p:spPr>
          <a:xfrm>
            <a:off x="1857375" y="381000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31124" y="3873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238375" y="3810000"/>
            <a:ext cx="17145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567726" y="390620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民用监控情报源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619625" y="381000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93374" y="3873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00625" y="3810000"/>
            <a:ext cx="17145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29976" y="390620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网络阻断第一枪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381875" y="381000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5624" y="3873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762875" y="3810000"/>
            <a:ext cx="17145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65735" y="39062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战争数据账单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762250" y="433387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835999" y="43976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143250" y="4333875"/>
            <a:ext cx="17145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399092" y="44300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算力节点战略目标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524500" y="433387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98249" y="43976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4333875"/>
            <a:ext cx="17145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161342" y="44300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通信手段绝对安全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38788" y="509301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内部参阅材料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0712" y="5394960"/>
            <a:ext cx="7905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31" name="Rectangle 31"/>
          <p:cNvSpPr/>
          <p:nvPr/>
        </p:nvSpPr>
        <p:spPr>
          <a:xfrm>
            <a:off x="0" y="6286500"/>
            <a:ext cx="12192000" cy="19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内容结构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1010" y="584835"/>
            <a:ext cx="1174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目录 · 六大板块</a:t>
            </a:r>
          </a:p>
        </p:txBody>
      </p:sp>
      <p:sp>
        <p:nvSpPr>
          <p:cNvPr id="7" name="Rectangle 7"/>
          <p:cNvSpPr/>
          <p:nvPr/>
        </p:nvSpPr>
        <p:spPr>
          <a:xfrm>
            <a:off x="285750" y="904875"/>
            <a:ext cx="11620500" cy="5286375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8" name="Rectangle 8"/>
          <p:cNvSpPr/>
          <p:nvPr/>
        </p:nvSpPr>
        <p:spPr>
          <a:xfrm>
            <a:off x="666750" y="114300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666750" y="114300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904875" y="128587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78624" y="13496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4450" y="13144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民用监控系统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165" y="1601152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交通摄像头变瞄准镜 · 8200部队长期渗透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114300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096000" y="114300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334125" y="128587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07874" y="13496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700" y="131445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网络阻断第一枪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9415" y="1601152"/>
            <a:ext cx="2750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伊朗流量骤降至4% · 网络攻击同步物理打击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66750" y="21907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66750" y="2190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904875" y="233362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8624" y="2397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" y="236220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战争数据账单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0165" y="2648902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前两月250~290亿美元 · 导弹=会飞的计算机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0" y="21907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096000" y="2190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334125" y="233362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07874" y="2397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43700" y="236220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算力节点战略目标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49415" y="26489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不打航母打数据中心 · AWS遭袭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" y="323850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66750" y="323850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904875" y="338137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78624" y="34451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4450" y="340995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通信手段绝对安全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0165" y="3696652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Starlink走私3~5万台 · 射频干扰反制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096000" y="323850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096000" y="323850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334125" y="3381375"/>
            <a:ext cx="28575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07874" y="34451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43700" y="3409950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49415" y="36966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62915" y="64208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目录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47655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738562" y="959168"/>
            <a:ext cx="47148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城市里的交通摄像头，在战时可以变成对手的全天候瞄准镜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13335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09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1605" y="19021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德黑兰精确打击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290" y="2191702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以色列空军对德黑兰多个目标实施精确打击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0" y="2410778"/>
            <a:ext cx="2715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坐标来源：8200部队与摩萨德多年渗透成果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62985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来源：金融时报、路透社深度报道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714500"/>
            <a:ext cx="5238750" cy="13335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171450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524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02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26605" y="1902142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AI行为模式分析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1290" y="219170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长期系统性接管设备控制权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11290" y="2410778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AI算法识别护卫车队路线、出入频率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11290" y="262985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通过车牌和轨迹推断机构隶属关系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286125"/>
            <a:ext cx="10953750" cy="571500"/>
          </a:xfrm>
          <a:prstGeom prst="roundRect">
            <a:avLst>
              <a:gd name="adj" fmla="val 13333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286125"/>
            <a:ext cx="57150" cy="571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4385" y="3375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2088" y="3383756"/>
            <a:ext cx="58793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民用监控设施的战时军事价值急剧上升。城市智慧化程度越高，战场透明化程度也越高。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6290" y="3610928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防御方必须实施严格的密码管理、固件更新和网络隔离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048125"/>
            <a:ext cx="10953750" cy="180975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423862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83876" y="4302442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47510" y="4299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关键启示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4385" y="4156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渗透手段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6290" y="4411028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网络渗透民用基础设施（交通摄像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1540" y="46015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头、市政传感器等）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6290" y="4839652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加密回传实时视频流至以色列服务器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6290" y="5077778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大数据分析城市人群行为模式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49415" y="4601528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城市安全与战场透明仅一线之隔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49415" y="483965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防御方需加强供应链安全审查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49415" y="5077778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物联网设备纳入战时管控体系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62915" y="6420802"/>
            <a:ext cx="36881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一、民用监控系统已成为战略情报源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47991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459528" y="959168"/>
            <a:ext cx="52729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先切断对手的数据神经，再实施物理打击——现代战争的标准起手式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09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1605" y="19021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断崖式断网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5338" y="224075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2026年2月28日约7:00 UTC，伊朗全国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338" y="24503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互联网流量断崖式下跌，最低降至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338" y="265985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正常水平的约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1200" y="2619375"/>
            <a:ext cx="3111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4%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338" y="2907506"/>
            <a:ext cx="27364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Cloudflare Radar确认：较前一周下降约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5338" y="3117056"/>
            <a:ext cx="3061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98%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4915" y="31251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，德黑兰等地接近归零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71450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71450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524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02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攻击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26605" y="1902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多维网络攻击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0338" y="224075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伊朗当局主动切网阻断外部侦察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10338" y="2450306"/>
            <a:ext cx="22488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通讯社IRNA、塔斯尼姆等遭入侵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10338" y="2659856"/>
            <a:ext cx="18663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BadeSaba祈祷应用被劫持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0338" y="2869406"/>
            <a:ext cx="12062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推送心理战信息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857625"/>
            <a:ext cx="10953750" cy="571500"/>
          </a:xfrm>
          <a:prstGeom prst="roundRect">
            <a:avLst>
              <a:gd name="adj" fmla="val 13333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3857625"/>
            <a:ext cx="57150" cy="571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4385" y="39471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2088" y="3955256"/>
            <a:ext cx="46791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网络战的窗口可能只有数小时，但这数小时足以决定整场战局的走向。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6290" y="4182428"/>
            <a:ext cx="47872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关键信息基础设施的供应链安全和主动防御能力，已与航母、战斗机同等重要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619625"/>
            <a:ext cx="10953750" cy="1285875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09625" y="4810125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7001" y="4873942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0635" y="4871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核心启示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6290" y="5201602"/>
            <a:ext cx="36461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网络阻断与物理打击同步，数字空间已成为独立战场维度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6290" y="5430202"/>
            <a:ext cx="33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社交媒体和民用应用可能被武器化，成为心理战工具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6290" y="5658802"/>
            <a:ext cx="3786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国家需建立网络空间主动防御体系，确保关键通信链路冗余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62915" y="6420802"/>
            <a:ext cx="3702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二、网络阻断已成为开战的"第一枪"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44295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58427" y="959168"/>
            <a:ext cx="68751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高精度武器之所以昂贵，不是因为炸药贵，而是因为每一枚导弹都是一台会飞的计算机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93916" y="1773555"/>
            <a:ext cx="14794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250~290亿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0194" y="21726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前两个月总花费（美元）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8302" y="2394585"/>
            <a:ext cx="13506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日均约 4~5 亿美元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71450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33875" y="171450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60591" y="1773555"/>
            <a:ext cx="6708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21亿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12569" y="21726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前六天日均花费（美元）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2621" y="2394585"/>
            <a:ext cx="2246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首周未预算支出113~127亿美元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96250" y="171450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096250" y="171450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42106" y="1773555"/>
            <a:ext cx="8325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230万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78444" y="2172652"/>
            <a:ext cx="1559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JASSM导弹单价（美元）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1018" y="2394585"/>
            <a:ext cx="18947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战斧巡航导弹约200万美元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43250"/>
            <a:ext cx="5238750" cy="11430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143250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" y="328612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87397" y="33632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1605" y="333089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防空拦截弹消耗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6290" y="3649028"/>
            <a:ext cx="2448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THAAD消耗至少50%（约190~290枚）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6290" y="3868102"/>
            <a:ext cx="3198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Patriot拦截弹消耗42%~50%（约1060~1430枚）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6290" y="4087178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补充周期长达4~6年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238750" cy="11430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524625" y="328612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02397" y="33632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26605" y="33308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导弹=会飞的计算机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1290" y="3649028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惯性导航+卫星接收+地形匹配数据库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11290" y="386810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末端目标识别模块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1290" y="4087178"/>
            <a:ext cx="29180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JDAM制导炸弹后期使用（7.5~10.7万美元）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476750"/>
            <a:ext cx="10953750" cy="571500"/>
          </a:xfrm>
          <a:prstGeom prst="roundRect">
            <a:avLst>
              <a:gd name="adj" fmla="val 13333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447675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94385" y="45662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2088" y="4574381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所谓战争烧钱，本质上是烧数据。高精度武器的成本优势建立在数据链优势之上。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6290" y="4801552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数据链优势能降低拦截成本，提升打击效率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62915" y="6420802"/>
            <a:ext cx="3548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三、战争账单本质上就是数据账单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47655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018472" y="959168"/>
            <a:ext cx="6155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面对全世界最强大的军队，伊朗的非对称反击路线：不打航母，专打数据中心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200025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7150" cy="20002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09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1605" y="1902142"/>
            <a:ext cx="1518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AWS数据中心遭袭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5338" y="2240756"/>
            <a:ext cx="24888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2026年3月1~2日，伊朗无人机对海湾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338" y="24503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地区基础设施发动袭击：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338" y="2688431"/>
            <a:ext cx="23538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AWS阿联酋ME-CENTRAL-1被命中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338" y="2897981"/>
            <a:ext cx="2518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AWS巴林ME-SOUTH-1遭受间接损害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338" y="3136106"/>
            <a:ext cx="2158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EC2、S3、DynamoDB严重降级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290" y="3382328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学术界引用为"云主权"危机案例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714500"/>
            <a:ext cx="5238750" cy="200025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714500"/>
            <a:ext cx="57150" cy="200025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524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02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26605" y="1902142"/>
            <a:ext cx="1659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MQ-9无人机被击落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0338" y="22407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伊朗防空部队多次击落美军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0338" y="2450306"/>
            <a:ext cx="1483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MQ-9"死神"无人机：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10338" y="2688431"/>
            <a:ext cx="7561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累计至少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3325" y="264795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48588" y="2688431"/>
            <a:ext cx="1785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0338" y="2926556"/>
            <a:ext cx="12962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每架MQ-9成本约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05825" y="2886075"/>
            <a:ext cx="17078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3000~3500万美元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0338" y="3212306"/>
            <a:ext cx="25563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来源：Aviation Safety Network记录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905250"/>
            <a:ext cx="10953750" cy="571500"/>
          </a:xfrm>
          <a:prstGeom prst="roundRect">
            <a:avLst>
              <a:gd name="adj" fmla="val 13333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390525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94385" y="39947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2088" y="4002881"/>
            <a:ext cx="52942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云不是无形的——它是一栋栋可以被导弹命中的混凝土建筑。摧毁一个算力节点，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5338" y="4221956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可能比摧毁十个军事基地更具战略效果。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667250"/>
            <a:ext cx="10953750" cy="123825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09625" y="485775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07001" y="492156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0635" y="4918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核心启示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6290" y="5239702"/>
            <a:ext cx="40661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数据中心与弹药库、指挥所同等重要，需纳入国防设施保护体系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6290" y="5449252"/>
            <a:ext cx="53193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云计算节点托管着AI指挥链核心——无人机侦察、目标识别、情报分析全依赖算力集群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6290" y="5658802"/>
            <a:ext cx="3786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分布式算力部署和应急容灾能力应成为数字国防的基础建设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62915" y="6420802"/>
            <a:ext cx="36881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四、算力节点已成为高价值战略目标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375742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999595" y="959168"/>
            <a:ext cx="41928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数据内容可以加密，但"正在通信"这一事实无法隐藏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7150" cy="20955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09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1605" y="1902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星链渗透行动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5338" y="2240756"/>
            <a:ext cx="2473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SpaceX向美军出售Starshield军事版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338" y="245030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终端，冲突开始时已部署于无人机系统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338" y="2688431"/>
            <a:ext cx="2473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2026年1月，美国国务院利用"互联网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338" y="2897981"/>
            <a:ext cx="14612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自由倡议"资金，将约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14700" y="2857500"/>
            <a:ext cx="500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6000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52838" y="289798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台终端走私入境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5338" y="31646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累计估计有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28825" y="3124200"/>
            <a:ext cx="8046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3万~5万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90838" y="3164681"/>
            <a:ext cx="17087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台自2022年被走私进伊朗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714500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714500"/>
            <a:ext cx="57150" cy="2095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524625" y="1857375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02397" y="1934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26605" y="1902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伊朗反制措施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10338" y="2240756"/>
            <a:ext cx="20613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3月起展开全国性反间谍行动：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0338" y="2478881"/>
            <a:ext cx="22038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锡斯坦-俾路支斯坦省逮捕13人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0338" y="268843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没收5台Starlink终端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0338" y="2926556"/>
            <a:ext cx="22038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德黑兰逮捕39人，没收7台设备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0338" y="3164681"/>
            <a:ext cx="24063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部署射频干扰系统实施军事级干扰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338" y="34028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导致部分地区终端完全失效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000500"/>
            <a:ext cx="10953750" cy="571500"/>
          </a:xfrm>
          <a:prstGeom prst="roundRect">
            <a:avLst>
              <a:gd name="adj" fmla="val 13333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40005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94385" y="409003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结论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2088" y="4098131"/>
            <a:ext cx="5579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在数据对抗时代，进攻方可以利用卫星网络追踪目标，防御方同样可以利用信号特征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5338" y="43172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反向定位并没收设备。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4762500"/>
            <a:ext cx="10953750" cy="11430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09625" y="495300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7001" y="501681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70635" y="5013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核心启示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6290" y="5334952"/>
            <a:ext cx="46262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低轨卫星网络在带来通信优势的同时，也创造了新的攻击面和被追踪风险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6290" y="5544502"/>
            <a:ext cx="4360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"互联网自由"工具可能被武器化，技术中立原则在战时受到严峻挑战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62915" y="6420802"/>
            <a:ext cx="3268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五、没有绝对安全的通信手段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" y="190500"/>
            <a:ext cx="952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5770" y="2362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6" name="Rectangle 6"/>
          <p:cNvSpPr/>
          <p:nvPr/>
        </p:nvSpPr>
        <p:spPr>
          <a:xfrm>
            <a:off x="285750" y="762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78630" y="959168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综合五个维度的分析，归纳以下三条核心判断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" y="1476375"/>
            <a:ext cx="11620500" cy="4667250"/>
          </a:xfrm>
          <a:prstGeom prst="rect">
            <a:avLst/>
          </a:prstGeom>
          <a:noFill/>
          <a:ln w="19050">
            <a:solidFill>
              <a:srgbClr val="C00000"/>
            </a:solidFill>
            <a:custDash>
              <a:ds d="250000" sp="25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10953750" cy="1143000"/>
          </a:xfrm>
          <a:prstGeom prst="roundRect">
            <a:avLst>
              <a:gd name="adj" fmla="val 6667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76200" cy="1143000"/>
          </a:xfrm>
          <a:prstGeom prst="roundRect">
            <a:avLst>
              <a:gd name="adj" fmla="val 375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904875" y="1905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3206" y="197739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5420" y="191738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635" y="2270760"/>
            <a:ext cx="7391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谁掌握数据采集、传输、算力和算法，谁就掌握主动权。高精度武器的成本优势建立在数据链优势之上，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51841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战争烧钱本质上是在烧数据。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048000"/>
            <a:ext cx="10953750" cy="1143000"/>
          </a:xfrm>
          <a:prstGeom prst="roundRect">
            <a:avLst>
              <a:gd name="adj" fmla="val 6667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3048000"/>
            <a:ext cx="76200" cy="1143000"/>
          </a:xfrm>
          <a:prstGeom prst="roundRect">
            <a:avLst>
              <a:gd name="adj" fmla="val 37500"/>
            </a:avLst>
          </a:prstGeom>
          <a:solidFill>
            <a:srgbClr val="2E75B6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904875" y="3238500"/>
            <a:ext cx="381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03206" y="331089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5420" y="325088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5B6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9635" y="3604260"/>
            <a:ext cx="6911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交通摄像头、云数据中心、低轨卫星互联网、手机应用程序这些日常数字服务，在战时瞬间转化为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635" y="3851910"/>
            <a:ext cx="51831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情报来源、打击目标和攻防工具。"城市安全"与"战场透明"仅一线之隔。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381500"/>
            <a:ext cx="10953750" cy="1143000"/>
          </a:xfrm>
          <a:prstGeom prst="roundRect">
            <a:avLst>
              <a:gd name="adj" fmla="val 6667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4381500"/>
            <a:ext cx="76200" cy="1143000"/>
          </a:xfrm>
          <a:prstGeom prst="roundRect">
            <a:avLst>
              <a:gd name="adj" fmla="val 375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04875" y="4572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03206" y="464439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5420" y="458438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635" y="4937760"/>
            <a:ext cx="64312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伊朗以非对称手段打击数据中心、击落无人机、没收星链终端，说明即使是技术弱势一方，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9635" y="5185410"/>
            <a:ext cx="56311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也能找到强者的数据节点实施致命打击。在算法面前，没有谁是无法被分析的。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85750" y="6286500"/>
            <a:ext cx="11620500" cy="38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285750" y="6286500"/>
            <a:ext cx="5715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2915" y="6420802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信息数据战分析报告 · 总结：三条总体判断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1477625" y="6334125"/>
            <a:ext cx="238125" cy="238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538160" y="64017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0" cy="3429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429000"/>
            <a:ext cx="571500" cy="3429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54586" y="2213610"/>
            <a:ext cx="128282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谢谢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35978" y="3012758"/>
            <a:ext cx="11200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E75B6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81375"/>
            <a:ext cx="190500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191000" y="36195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DF3EB"/>
          </a:solidFill>
          <a:ln w="19050">
            <a:solidFill>
              <a:srgbClr val="F8CBA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360670" y="3775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以上分析供领导参考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9526" y="4077652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基于公开来源综合分析 · 2026年6月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286500"/>
            <a:ext cx="12192000" cy="19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857375" y="485775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931124" y="49215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238375" y="4857750"/>
            <a:ext cx="123825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550128" y="49539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数据定力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762375" y="485775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836124" y="49215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43375" y="4857750"/>
            <a:ext cx="123825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455128" y="49539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战场延伸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667375" y="485775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741124" y="49215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48375" y="4857750"/>
            <a:ext cx="123825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286619" y="49539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非对称反击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572375" y="4857750"/>
            <a:ext cx="28575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46124" y="49215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953375" y="4857750"/>
            <a:ext cx="123825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265128" y="49539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通信对抗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64442" y="5617845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在算法面前，没有谁是无法被分析的。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84308" y="5808345"/>
            <a:ext cx="42233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下一次战争的第一声警报，可能不是防空雷达的蜂鸣，而是数据中心的断电报警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2026-06-20T21:45:46Z</dcterms:created>
  <dcterms:modified xsi:type="dcterms:W3CDTF">2026-06-20T21:45:46Z</dcterms:modified>
  <cp:category/>
  <cp:contentStatus/>
</cp:coreProperties>
</file>