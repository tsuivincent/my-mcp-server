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1F4D"/>
              </a:gs>
              <a:gs pos="50000">
                <a:srgbClr val="003580"/>
              </a:gs>
              <a:gs pos="100000">
                <a:srgbClr val="0050B3"/>
              </a:gs>
            </a:gsLst>
            <a:lin ang="2700000" scaled="1"/>
          </a:gradFill>
          <a:ln>
            <a:noFill/>
          </a:ln>
        </p:spPr>
      </p:sp>
      <p:grpSp>
        <p:nvGrpSpPr>
          <p:cNvPr id="18" name="Group 1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Line 3"/>
            <p:cNvSpPr/>
            <p:nvPr/>
          </p:nvSpPr>
          <p:spPr>
            <a:xfrm>
              <a:off x="0" y="76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5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1524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5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228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5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0" y="304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5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0" y="3810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5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0" y="457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5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0" y="5334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5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5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152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FFFFF">
                  <a:alpha val="5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FFFFF">
                  <a:alpha val="5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457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FFFFF">
                  <a:alpha val="50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FFFFF">
                  <a:alpha val="5000"/>
                </a:srgb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762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FFFFF">
                  <a:alpha val="5000"/>
                </a:srgbClr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FFFFF">
                  <a:alpha val="5000"/>
                </a:srgbClr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1066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FFFFF">
                  <a:alpha val="5000"/>
                </a:srgbClr>
              </a:solidFill>
            </a:ln>
          </p:spPr>
        </p:sp>
      </p:grpSp>
      <p:sp>
        <p:nvSpPr>
          <p:cNvPr id="19" name="Rectangle 19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</p:sp>
      <p:sp>
        <p:nvSpPr>
          <p:cNvPr id="20" name="Ellipse 20"/>
          <p:cNvSpPr/>
          <p:nvPr/>
        </p:nvSpPr>
        <p:spPr>
          <a:xfrm>
            <a:off x="8763000" y="-571500"/>
            <a:ext cx="3429000" cy="3429000"/>
          </a:xfrm>
          <a:prstGeom prst="ellipse">
            <a:avLst/>
          </a:prstGeom>
          <a:noFill/>
          <a:ln w="19050">
            <a:solidFill>
              <a:srgbClr val="FFFFFF">
                <a:alpha val="8000"/>
              </a:srgbClr>
            </a:solidFill>
          </a:ln>
        </p:spPr>
      </p:sp>
      <p:sp>
        <p:nvSpPr>
          <p:cNvPr id="21" name="Ellipse 21"/>
          <p:cNvSpPr/>
          <p:nvPr/>
        </p:nvSpPr>
        <p:spPr>
          <a:xfrm>
            <a:off x="9334500" y="0"/>
            <a:ext cx="2286000" cy="2286000"/>
          </a:xfrm>
          <a:prstGeom prst="ellipse">
            <a:avLst/>
          </a:prstGeom>
          <a:noFill/>
          <a:ln w="9525">
            <a:solidFill>
              <a:srgbClr val="FFFFFF">
                <a:alpha val="6000"/>
              </a:srgbClr>
            </a:solidFill>
          </a:ln>
        </p:spPr>
      </p:sp>
      <p:sp>
        <p:nvSpPr>
          <p:cNvPr id="22" name="Ellipse 22"/>
          <p:cNvSpPr/>
          <p:nvPr/>
        </p:nvSpPr>
        <p:spPr>
          <a:xfrm>
            <a:off x="9906000" y="571500"/>
            <a:ext cx="1143000" cy="1143000"/>
          </a:xfrm>
          <a:prstGeom prst="ellipse">
            <a:avLst/>
          </a:prstGeom>
          <a:noFill/>
          <a:ln w="9525">
            <a:solidFill>
              <a:srgbClr val="FFFFFF">
                <a:alpha val="10000"/>
              </a:srgbClr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00B4D8"/>
              </a:gs>
              <a:gs pos="100000">
                <a:srgbClr val="0050B3"/>
              </a:gs>
            </a:gsLst>
            <a:lin ang="5400000" scaled="1"/>
          </a:gra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0050B3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2773480" y="2310765"/>
            <a:ext cx="6645040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3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关于2026年美以对伊军事冲突中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743801" y="2882265"/>
            <a:ext cx="4704398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3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信息数据战的分析报告</a:t>
            </a:r>
          </a:p>
        </p:txBody>
      </p:sp>
      <p:sp>
        <p:nvSpPr>
          <p:cNvPr id="27" name="Rectangle 27"/>
          <p:cNvSpPr/>
          <p:nvPr/>
        </p:nvSpPr>
        <p:spPr>
          <a:xfrm>
            <a:off x="5143500" y="3524250"/>
            <a:ext cx="1905000" cy="28575"/>
          </a:xfrm>
          <a:prstGeom prst="rect">
            <a:avLst/>
          </a:prstGeom>
          <a:solidFill>
            <a:srgbClr val="00B4D8"/>
          </a:solidFill>
          <a:ln>
            <a:noFill/>
          </a:ln>
        </p:spPr>
      </p:sp>
      <p:sp>
        <p:nvSpPr>
          <p:cNvPr id="28" name="Ellipse 28"/>
          <p:cNvSpPr/>
          <p:nvPr/>
        </p:nvSpPr>
        <p:spPr>
          <a:xfrm>
            <a:off x="6057900" y="3495675"/>
            <a:ext cx="76200" cy="76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5524976" y="3822382"/>
            <a:ext cx="114204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A0C4FF"/>
                </a:solidFill>
                <a:latin typeface="Segoe UI"/>
                <a:ea typeface="Microsoft YaHei"/>
                <a:cs typeface="Segoe UI"/>
              </a:rPr>
              <a:t>供内部参阅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651302" y="5569268"/>
            <a:ext cx="8893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A0C4FF"/>
                </a:solidFill>
                <a:latin typeface="Segoe UI"/>
                <a:ea typeface="Microsoft YaHei"/>
                <a:cs typeface="Segoe UI"/>
              </a:rPr>
              <a:t>2026年6月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8F4FD"/>
              </a:gs>
              <a:gs pos="100000">
                <a:srgbClr val="F0F8FF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0B4D8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0050B3"/>
          </a:solidFill>
          <a:ln>
            <a:noFill/>
          </a:ln>
        </p:spPr>
      </p:sp>
      <p:sp>
        <p:nvSpPr>
          <p:cNvPr id="5" name="Polygon 5"/>
          <p:cNvSpPr/>
          <p:nvPr/>
        </p:nvSpPr>
        <p:spPr>
          <a:xfrm>
            <a:off x="0" y="0"/>
            <a:ext cx="476250" cy="6858000"/>
          </a:xfrm>
          <a:custGeom>
            <a:avLst/>
            <a:gdLst/>
            <a:ahLst/>
            <a:cxnLst/>
            <a:rect l="l" t="t" r="r" b="b"/>
            <a:pathLst>
              <a:path w="476250" h="6858000">
                <a:moveTo>
                  <a:pt x="0" y="0"/>
                </a:moveTo>
                <a:lnTo>
                  <a:pt x="476250" y="0"/>
                </a:lnTo>
                <a:lnTo>
                  <a:pt x="47625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50B3">
              <a:alpha val="10000"/>
            </a:srgbClr>
          </a:solidFill>
          <a:ln>
            <a:noFill/>
          </a:ln>
        </p:spPr>
      </p:sp>
      <p:sp>
        <p:nvSpPr>
          <p:cNvPr id="6" name="Polygon 6"/>
          <p:cNvSpPr/>
          <p:nvPr/>
        </p:nvSpPr>
        <p:spPr>
          <a:xfrm>
            <a:off x="0" y="0"/>
            <a:ext cx="285750" cy="6858000"/>
          </a:xfrm>
          <a:custGeom>
            <a:avLst/>
            <a:gdLst/>
            <a:ahLst/>
            <a:cxnLst/>
            <a:rect l="l" t="t" r="r" b="b"/>
            <a:pathLst>
              <a:path w="285750" h="6858000">
                <a:moveTo>
                  <a:pt x="0" y="0"/>
                </a:moveTo>
                <a:lnTo>
                  <a:pt x="285750" y="0"/>
                </a:lnTo>
                <a:lnTo>
                  <a:pt x="28575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50B3">
              <a:alpha val="20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31520" y="455295"/>
            <a:ext cx="833857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03580"/>
                </a:solidFill>
                <a:latin typeface="Segoe UI"/>
                <a:ea typeface="Microsoft YaHei"/>
                <a:cs typeface="Segoe UI"/>
              </a:rPr>
              <a:t>目 录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46760" y="82296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B8DB5"/>
                </a:solidFill>
                <a:latin typeface="Segoe UI"/>
                <a:ea typeface="Microsoft YaHei"/>
                <a:cs typeface="Segoe UI"/>
              </a:rPr>
              <a:t>CONTENTS</a:t>
            </a:r>
          </a:p>
        </p:txBody>
      </p:sp>
      <p:sp>
        <p:nvSpPr>
          <p:cNvPr id="9" name="Rectangle 9"/>
          <p:cNvSpPr/>
          <p:nvPr/>
        </p:nvSpPr>
        <p:spPr>
          <a:xfrm>
            <a:off x="762000" y="1047750"/>
            <a:ext cx="571500" cy="28575"/>
          </a:xfrm>
          <a:prstGeom prst="rect">
            <a:avLst/>
          </a:prstGeom>
          <a:solidFill>
            <a:srgbClr val="00B4D8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1104900" y="1676400"/>
            <a:ext cx="457200" cy="457200"/>
          </a:xfrm>
          <a:prstGeom prst="ellipse">
            <a:avLst/>
          </a:prstGeom>
          <a:solidFill>
            <a:srgbClr val="0050B3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256693" y="1809750"/>
            <a:ext cx="15361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12" name="Line 12"/>
          <p:cNvSpPr/>
          <p:nvPr/>
        </p:nvSpPr>
        <p:spPr>
          <a:xfrm>
            <a:off x="1562100" y="1905000"/>
            <a:ext cx="3581400" cy="9525"/>
          </a:xfrm>
          <a:custGeom>
            <a:avLst/>
            <a:gdLst/>
            <a:ahLst/>
            <a:cxnLst/>
            <a:rect l="l" t="t" r="r" b="b"/>
            <a:pathLst>
              <a:path w="3581400" h="9525">
                <a:moveTo>
                  <a:pt x="0" y="0"/>
                </a:moveTo>
                <a:lnTo>
                  <a:pt x="3581400" y="0"/>
                </a:lnTo>
              </a:path>
            </a:pathLst>
          </a:custGeom>
          <a:noFill/>
          <a:ln w="9525">
            <a:solidFill>
              <a:srgbClr val="00B4D8"/>
            </a:solidFill>
            <a:prstDash val="dash"/>
          </a:ln>
        </p:spPr>
      </p:sp>
      <p:sp>
        <p:nvSpPr>
          <p:cNvPr id="13" name="TextBox 13"/>
          <p:cNvSpPr txBox="1"/>
          <p:nvPr/>
        </p:nvSpPr>
        <p:spPr>
          <a:xfrm>
            <a:off x="1885950" y="1800225"/>
            <a:ext cx="297846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3580"/>
                </a:solidFill>
                <a:latin typeface="Segoe UI"/>
                <a:ea typeface="Microsoft YaHei"/>
                <a:cs typeface="Segoe UI"/>
              </a:rPr>
              <a:t>民用监控系统已成为战略情报源</a:t>
            </a:r>
          </a:p>
        </p:txBody>
      </p:sp>
      <p:sp>
        <p:nvSpPr>
          <p:cNvPr id="14" name="Ellipse 14"/>
          <p:cNvSpPr/>
          <p:nvPr/>
        </p:nvSpPr>
        <p:spPr>
          <a:xfrm>
            <a:off x="1104900" y="2533650"/>
            <a:ext cx="457200" cy="457200"/>
          </a:xfrm>
          <a:prstGeom prst="ellipse">
            <a:avLst/>
          </a:prstGeom>
          <a:solidFill>
            <a:srgbClr val="0050B3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256693" y="2667000"/>
            <a:ext cx="15361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16" name="Line 16"/>
          <p:cNvSpPr/>
          <p:nvPr/>
        </p:nvSpPr>
        <p:spPr>
          <a:xfrm>
            <a:off x="1562100" y="2762250"/>
            <a:ext cx="3581400" cy="9525"/>
          </a:xfrm>
          <a:custGeom>
            <a:avLst/>
            <a:gdLst/>
            <a:ahLst/>
            <a:cxnLst/>
            <a:rect l="l" t="t" r="r" b="b"/>
            <a:pathLst>
              <a:path w="3581400" h="9525">
                <a:moveTo>
                  <a:pt x="0" y="0"/>
                </a:moveTo>
                <a:lnTo>
                  <a:pt x="3581400" y="0"/>
                </a:lnTo>
              </a:path>
            </a:pathLst>
          </a:custGeom>
          <a:noFill/>
          <a:ln w="9525">
            <a:solidFill>
              <a:srgbClr val="00B4D8"/>
            </a:solidFill>
            <a:prstDash val="dash"/>
          </a:ln>
        </p:spPr>
      </p:sp>
      <p:sp>
        <p:nvSpPr>
          <p:cNvPr id="17" name="TextBox 17"/>
          <p:cNvSpPr txBox="1"/>
          <p:nvPr/>
        </p:nvSpPr>
        <p:spPr>
          <a:xfrm>
            <a:off x="1885950" y="2657475"/>
            <a:ext cx="299947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3580"/>
                </a:solidFill>
                <a:latin typeface="Segoe UI"/>
                <a:ea typeface="Microsoft YaHei"/>
                <a:cs typeface="Segoe UI"/>
              </a:rPr>
              <a:t>网络阻断已成为开战的"第一枪"</a:t>
            </a:r>
          </a:p>
        </p:txBody>
      </p:sp>
      <p:sp>
        <p:nvSpPr>
          <p:cNvPr id="18" name="Ellipse 18"/>
          <p:cNvSpPr/>
          <p:nvPr/>
        </p:nvSpPr>
        <p:spPr>
          <a:xfrm>
            <a:off x="1104900" y="3390900"/>
            <a:ext cx="457200" cy="457200"/>
          </a:xfrm>
          <a:prstGeom prst="ellipse">
            <a:avLst/>
          </a:prstGeom>
          <a:solidFill>
            <a:srgbClr val="0050B3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256693" y="3524250"/>
            <a:ext cx="15361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20" name="Line 20"/>
          <p:cNvSpPr/>
          <p:nvPr/>
        </p:nvSpPr>
        <p:spPr>
          <a:xfrm>
            <a:off x="1562100" y="3619500"/>
            <a:ext cx="3581400" cy="9525"/>
          </a:xfrm>
          <a:custGeom>
            <a:avLst/>
            <a:gdLst/>
            <a:ahLst/>
            <a:cxnLst/>
            <a:rect l="l" t="t" r="r" b="b"/>
            <a:pathLst>
              <a:path w="3581400" h="9525">
                <a:moveTo>
                  <a:pt x="0" y="0"/>
                </a:moveTo>
                <a:lnTo>
                  <a:pt x="3581400" y="0"/>
                </a:lnTo>
              </a:path>
            </a:pathLst>
          </a:custGeom>
          <a:noFill/>
          <a:ln w="9525">
            <a:solidFill>
              <a:srgbClr val="00B4D8"/>
            </a:solidFill>
            <a:prstDash val="dash"/>
          </a:ln>
        </p:spPr>
      </p:sp>
      <p:sp>
        <p:nvSpPr>
          <p:cNvPr id="21" name="TextBox 21"/>
          <p:cNvSpPr txBox="1"/>
          <p:nvPr/>
        </p:nvSpPr>
        <p:spPr>
          <a:xfrm>
            <a:off x="1885950" y="3514725"/>
            <a:ext cx="276844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3580"/>
                </a:solidFill>
                <a:latin typeface="Segoe UI"/>
                <a:ea typeface="Microsoft YaHei"/>
                <a:cs typeface="Segoe UI"/>
              </a:rPr>
              <a:t>战争账单本质上就是数据账单</a:t>
            </a:r>
          </a:p>
        </p:txBody>
      </p:sp>
      <p:sp>
        <p:nvSpPr>
          <p:cNvPr id="22" name="Ellipse 22"/>
          <p:cNvSpPr/>
          <p:nvPr/>
        </p:nvSpPr>
        <p:spPr>
          <a:xfrm>
            <a:off x="1104900" y="4248150"/>
            <a:ext cx="457200" cy="457200"/>
          </a:xfrm>
          <a:prstGeom prst="ellipse">
            <a:avLst/>
          </a:prstGeom>
          <a:solidFill>
            <a:srgbClr val="0050B3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256693" y="4381500"/>
            <a:ext cx="15361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  <p:sp>
        <p:nvSpPr>
          <p:cNvPr id="24" name="Line 24"/>
          <p:cNvSpPr/>
          <p:nvPr/>
        </p:nvSpPr>
        <p:spPr>
          <a:xfrm>
            <a:off x="1562100" y="4476750"/>
            <a:ext cx="3581400" cy="9525"/>
          </a:xfrm>
          <a:custGeom>
            <a:avLst/>
            <a:gdLst/>
            <a:ahLst/>
            <a:cxnLst/>
            <a:rect l="l" t="t" r="r" b="b"/>
            <a:pathLst>
              <a:path w="3581400" h="9525">
                <a:moveTo>
                  <a:pt x="0" y="0"/>
                </a:moveTo>
                <a:lnTo>
                  <a:pt x="3581400" y="0"/>
                </a:lnTo>
              </a:path>
            </a:pathLst>
          </a:custGeom>
          <a:noFill/>
          <a:ln w="9525">
            <a:solidFill>
              <a:srgbClr val="00B4D8"/>
            </a:solidFill>
            <a:prstDash val="dash"/>
          </a:ln>
        </p:spPr>
      </p:sp>
      <p:sp>
        <p:nvSpPr>
          <p:cNvPr id="25" name="TextBox 25"/>
          <p:cNvSpPr txBox="1"/>
          <p:nvPr/>
        </p:nvSpPr>
        <p:spPr>
          <a:xfrm>
            <a:off x="1885950" y="4371975"/>
            <a:ext cx="297846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3580"/>
                </a:solidFill>
                <a:latin typeface="Segoe UI"/>
                <a:ea typeface="Microsoft YaHei"/>
                <a:cs typeface="Segoe UI"/>
              </a:rPr>
              <a:t>算力节点已成为高价值战略目标</a:t>
            </a:r>
          </a:p>
        </p:txBody>
      </p:sp>
      <p:sp>
        <p:nvSpPr>
          <p:cNvPr id="26" name="Ellipse 26"/>
          <p:cNvSpPr/>
          <p:nvPr/>
        </p:nvSpPr>
        <p:spPr>
          <a:xfrm>
            <a:off x="1104900" y="5105400"/>
            <a:ext cx="457200" cy="457200"/>
          </a:xfrm>
          <a:prstGeom prst="ellipse">
            <a:avLst/>
          </a:prstGeom>
          <a:solidFill>
            <a:srgbClr val="0050B3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1256693" y="5238750"/>
            <a:ext cx="15361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5</a:t>
            </a:r>
          </a:p>
        </p:txBody>
      </p:sp>
      <p:sp>
        <p:nvSpPr>
          <p:cNvPr id="28" name="Line 28"/>
          <p:cNvSpPr/>
          <p:nvPr/>
        </p:nvSpPr>
        <p:spPr>
          <a:xfrm>
            <a:off x="1562100" y="5334000"/>
            <a:ext cx="3581400" cy="9525"/>
          </a:xfrm>
          <a:custGeom>
            <a:avLst/>
            <a:gdLst/>
            <a:ahLst/>
            <a:cxnLst/>
            <a:rect l="l" t="t" r="r" b="b"/>
            <a:pathLst>
              <a:path w="3581400" h="9525">
                <a:moveTo>
                  <a:pt x="0" y="0"/>
                </a:moveTo>
                <a:lnTo>
                  <a:pt x="3581400" y="0"/>
                </a:lnTo>
              </a:path>
            </a:pathLst>
          </a:custGeom>
          <a:noFill/>
          <a:ln w="9525">
            <a:solidFill>
              <a:srgbClr val="00B4D8"/>
            </a:solidFill>
            <a:prstDash val="dash"/>
          </a:ln>
        </p:spPr>
      </p:sp>
      <p:sp>
        <p:nvSpPr>
          <p:cNvPr id="29" name="TextBox 29"/>
          <p:cNvSpPr txBox="1"/>
          <p:nvPr/>
        </p:nvSpPr>
        <p:spPr>
          <a:xfrm>
            <a:off x="1885950" y="5229225"/>
            <a:ext cx="234838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3580"/>
                </a:solidFill>
                <a:latin typeface="Segoe UI"/>
                <a:ea typeface="Microsoft YaHei"/>
                <a:cs typeface="Segoe UI"/>
              </a:rPr>
              <a:t>没有绝对安全的通信手段</a:t>
            </a:r>
          </a:p>
        </p:txBody>
      </p:sp>
      <p:sp>
        <p:nvSpPr>
          <p:cNvPr id="30" name="Ellipse 30"/>
          <p:cNvSpPr/>
          <p:nvPr/>
        </p:nvSpPr>
        <p:spPr>
          <a:xfrm>
            <a:off x="1104900" y="5867400"/>
            <a:ext cx="457200" cy="457200"/>
          </a:xfrm>
          <a:prstGeom prst="ellipse">
            <a:avLst/>
          </a:prstGeom>
          <a:solidFill>
            <a:srgbClr val="C41E3A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1256693" y="6000750"/>
            <a:ext cx="15361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★</a:t>
            </a:r>
          </a:p>
        </p:txBody>
      </p:sp>
      <p:sp>
        <p:nvSpPr>
          <p:cNvPr id="32" name="Line 32"/>
          <p:cNvSpPr/>
          <p:nvPr/>
        </p:nvSpPr>
        <p:spPr>
          <a:xfrm>
            <a:off x="1562100" y="6096000"/>
            <a:ext cx="3581400" cy="9525"/>
          </a:xfrm>
          <a:custGeom>
            <a:avLst/>
            <a:gdLst/>
            <a:ahLst/>
            <a:cxnLst/>
            <a:rect l="l" t="t" r="r" b="b"/>
            <a:pathLst>
              <a:path w="3581400" h="9525">
                <a:moveTo>
                  <a:pt x="0" y="0"/>
                </a:moveTo>
                <a:lnTo>
                  <a:pt x="3581400" y="0"/>
                </a:lnTo>
              </a:path>
            </a:pathLst>
          </a:custGeom>
          <a:noFill/>
          <a:ln w="9525">
            <a:solidFill>
              <a:srgbClr val="C41E3A"/>
            </a:solidFill>
            <a:prstDash val="dash"/>
          </a:ln>
        </p:spPr>
      </p:sp>
      <p:sp>
        <p:nvSpPr>
          <p:cNvPr id="33" name="TextBox 33"/>
          <p:cNvSpPr txBox="1"/>
          <p:nvPr/>
        </p:nvSpPr>
        <p:spPr>
          <a:xfrm>
            <a:off x="1885950" y="5991225"/>
            <a:ext cx="192833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C41E3A"/>
                </a:solidFill>
                <a:latin typeface="Segoe UI"/>
                <a:ea typeface="Microsoft YaHei"/>
                <a:cs typeface="Segoe UI"/>
              </a:rPr>
              <a:t>总结：三条总体判断</a:t>
            </a:r>
          </a:p>
        </p:txBody>
      </p:sp>
      <p:sp>
        <p:nvSpPr>
          <p:cNvPr id="34" name="Rectangle 34"/>
          <p:cNvSpPr/>
          <p:nvPr/>
        </p:nvSpPr>
        <p:spPr>
          <a:xfrm>
            <a:off x="6286500" y="1666875"/>
            <a:ext cx="4953000" cy="4667250"/>
          </a:xfrm>
          <a:prstGeom prst="roundRect">
            <a:avLst>
              <a:gd name="adj" fmla="val 2449"/>
            </a:avLst>
          </a:prstGeom>
          <a:solidFill>
            <a:srgbClr val="FFFFFF">
              <a:alpha val="60000"/>
            </a:srgbClr>
          </a:solidFill>
          <a:ln w="9525">
            <a:solidFill>
              <a:srgbClr val="00B4D8"/>
            </a:solidFill>
          </a:ln>
        </p:spPr>
      </p:sp>
      <p:sp>
        <p:nvSpPr>
          <p:cNvPr id="35" name="Rectangle 35"/>
          <p:cNvSpPr/>
          <p:nvPr/>
        </p:nvSpPr>
        <p:spPr>
          <a:xfrm>
            <a:off x="6286500" y="1666875"/>
            <a:ext cx="4953000" cy="571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F4FD"/>
              </a:gs>
              <a:gs pos="100000">
                <a:srgbClr val="F0F8FF"/>
              </a:gs>
            </a:gsLst>
            <a:lin ang="2700000" scaled="1"/>
          </a:gra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8279987" y="2107882"/>
            <a:ext cx="9660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003580"/>
                </a:solidFill>
                <a:latin typeface="Segoe UI"/>
                <a:ea typeface="Microsoft YaHei"/>
                <a:cs typeface="Segoe UI"/>
              </a:rPr>
              <a:t>核心观点</a:t>
            </a:r>
          </a:p>
        </p:txBody>
      </p:sp>
      <p:sp>
        <p:nvSpPr>
          <p:cNvPr id="37" name="Rectangle 37"/>
          <p:cNvSpPr/>
          <p:nvPr/>
        </p:nvSpPr>
        <p:spPr>
          <a:xfrm>
            <a:off x="7810500" y="2428875"/>
            <a:ext cx="1905000" cy="28575"/>
          </a:xfrm>
          <a:prstGeom prst="rect">
            <a:avLst/>
          </a:prstGeom>
          <a:solidFill>
            <a:srgbClr val="00B4D8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6653212" y="2736056"/>
            <a:ext cx="188595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100"/>
              </a:lnSpc>
            </a:pPr>
            <a:r>
              <a:rPr lang="zh-CN" sz="112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现代战争的核心已从火力密度</a:t>
            </a:r>
            <a:r>
              <a:rPr lang="zh-CN" sz="112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转向数据定力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653212" y="3498056"/>
            <a:ext cx="1757362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100"/>
              </a:lnSpc>
            </a:pPr>
            <a:r>
              <a:rPr lang="zh-CN" sz="112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民用基础设施即战场延伸</a:t>
            </a:r>
            <a:r>
              <a:rPr lang="zh-CN" sz="112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——民用与军用界限已经消失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653212" y="4260056"/>
            <a:ext cx="1900238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100"/>
              </a:lnSpc>
            </a:pPr>
            <a:r>
              <a:rPr lang="zh-CN" sz="112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数据战没有单方面的绝对优势</a:t>
            </a:r>
            <a:r>
              <a:rPr lang="zh-CN" sz="112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——弱势一方也能找到数据节点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653212" y="5022056"/>
            <a:ext cx="1743075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100"/>
              </a:lnSpc>
            </a:pPr>
            <a:r>
              <a:rPr lang="zh-CN" sz="112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下一次战争第一声警报</a:t>
            </a:r>
            <a:r>
              <a:rPr lang="zh-CN" sz="112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可能是数据中心的断电报警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5FAFF"/>
              </a:gs>
              <a:gs pos="100000">
                <a:srgbClr val="FFFFFF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00B4D8"/>
              </a:gs>
              <a:gs pos="100000">
                <a:srgbClr val="0050B3"/>
              </a:gs>
            </a:gsLst>
            <a:lin ang="270000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285750"/>
            <a:ext cx="476250" cy="476250"/>
          </a:xfrm>
          <a:prstGeom prst="rect">
            <a:avLst/>
          </a:prstGeom>
          <a:solidFill>
            <a:srgbClr val="0050B3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17456" y="396240"/>
            <a:ext cx="18433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15390" y="396240"/>
            <a:ext cx="3574161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民用监控系统已成为战略情报源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9525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A0C4E8"/>
            </a:solidFill>
            <a:custDash>
              <a:ds d="600000" sp="400000"/>
            </a:custDash>
          </a:ln>
        </p:spPr>
      </p:sp>
      <p:sp>
        <p:nvSpPr>
          <p:cNvPr id="8" name="Rectangle 8"/>
          <p:cNvSpPr/>
          <p:nvPr/>
        </p:nvSpPr>
        <p:spPr>
          <a:xfrm>
            <a:off x="571500" y="1238250"/>
            <a:ext cx="110490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0E4F5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571500" y="1238250"/>
            <a:ext cx="57150" cy="95250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803910" y="1413510"/>
            <a:ext cx="28868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3580"/>
                </a:solidFill>
                <a:latin typeface="Segoe UI"/>
                <a:ea typeface="Microsoft YaHei"/>
                <a:cs typeface="Segoe UI"/>
              </a:rPr>
              <a:t>情报来源：民用监控系统的战略化利用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05815" y="1696402"/>
            <a:ext cx="4167188" cy="441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050" dirty="0">
                <a:solidFill>
                  <a:srgbClr val="444444"/>
                </a:solidFill>
                <a:latin typeface="Segoe UI"/>
                <a:ea typeface="Microsoft YaHei"/>
                <a:cs typeface="Segoe UI"/>
              </a:rPr>
              <a:t>• 以色列8200部队与摩萨德多年渗透伊朗民用交通摄像头、市政传感器</a:t>
            </a:r>
            <a:r>
              <a:rPr lang="zh-CN" sz="1050" dirty="0">
                <a:solidFill>
                  <a:srgbClr val="444444"/>
                </a:solidFill>
                <a:latin typeface="Segoe UI"/>
                <a:ea typeface="Microsoft YaHei"/>
                <a:cs typeface="Segoe UI"/>
              </a:rPr>
              <a:t>• 接管设备控制权，将实时视频流加密回传至以色列服务器</a:t>
            </a:r>
          </a:p>
        </p:txBody>
      </p:sp>
      <p:sp>
        <p:nvSpPr>
          <p:cNvPr id="12" name="Rectangle 12"/>
          <p:cNvSpPr/>
          <p:nvPr/>
        </p:nvSpPr>
        <p:spPr>
          <a:xfrm>
            <a:off x="571500" y="2381250"/>
            <a:ext cx="110490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0E4F5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571500" y="2381250"/>
            <a:ext cx="57150" cy="95250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803910" y="2556510"/>
            <a:ext cx="118142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3580"/>
                </a:solidFill>
                <a:latin typeface="Segoe UI"/>
                <a:ea typeface="Microsoft YaHei"/>
                <a:cs typeface="Segoe UI"/>
              </a:rPr>
              <a:t>AI行为模式分析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05815" y="2839402"/>
            <a:ext cx="3873818" cy="441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050" dirty="0">
                <a:solidFill>
                  <a:srgbClr val="444444"/>
                </a:solidFill>
                <a:latin typeface="Segoe UI"/>
                <a:ea typeface="Microsoft YaHei"/>
                <a:cs typeface="Segoe UI"/>
              </a:rPr>
              <a:t>• AI算法对海量视频数据进行行为模式分析</a:t>
            </a:r>
            <a:r>
              <a:rPr lang="zh-CN" sz="1050" dirty="0">
                <a:solidFill>
                  <a:srgbClr val="444444"/>
                </a:solidFill>
                <a:latin typeface="Segoe UI"/>
                <a:ea typeface="Microsoft YaHei"/>
                <a:cs typeface="Segoe UI"/>
              </a:rPr>
              <a:t>• 识别护卫车队路线、统计人员车辆出入频率、推断车辆隶属关系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71500" y="3524250"/>
            <a:ext cx="110490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0E4F5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571500" y="3524250"/>
            <a:ext cx="57150" cy="95250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03910" y="3699510"/>
            <a:ext cx="137464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3580"/>
                </a:solidFill>
                <a:latin typeface="Segoe UI"/>
                <a:ea typeface="Microsoft YaHei"/>
                <a:cs typeface="Segoe UI"/>
              </a:rPr>
              <a:t>开战首日精确打击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05815" y="3982402"/>
            <a:ext cx="3300412" cy="441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050" dirty="0">
                <a:solidFill>
                  <a:srgbClr val="444444"/>
                </a:solidFill>
                <a:latin typeface="Segoe UI"/>
                <a:ea typeface="Microsoft YaHei"/>
                <a:cs typeface="Segoe UI"/>
              </a:rPr>
              <a:t>• 开战当天AI系统直接输出高精度目标坐标</a:t>
            </a:r>
            <a:r>
              <a:rPr lang="zh-CN" sz="1050" dirty="0">
                <a:solidFill>
                  <a:srgbClr val="444444"/>
                </a:solidFill>
                <a:latin typeface="Segoe UI"/>
                <a:ea typeface="Microsoft YaHei"/>
                <a:cs typeface="Segoe UI"/>
              </a:rPr>
              <a:t>• 以军F-15战机7:30起飞，9:40"蓝麻雀"导弹命中目标</a:t>
            </a:r>
          </a:p>
        </p:txBody>
      </p:sp>
      <p:sp>
        <p:nvSpPr>
          <p:cNvPr id="20" name="Rectangle 20"/>
          <p:cNvSpPr/>
          <p:nvPr/>
        </p:nvSpPr>
        <p:spPr>
          <a:xfrm>
            <a:off x="571500" y="4762500"/>
            <a:ext cx="11049000" cy="762000"/>
          </a:xfrm>
          <a:prstGeom prst="roundRect">
            <a:avLst>
              <a:gd name="adj" fmla="val 10000"/>
            </a:avLst>
          </a:prstGeom>
          <a:solidFill>
            <a:srgbClr val="E8F4FD"/>
          </a:solidFill>
          <a:ln w="9525">
            <a:solidFill>
              <a:srgbClr val="00B4D8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5912739" y="4966335"/>
            <a:ext cx="3665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C41E3A"/>
                </a:solidFill>
                <a:latin typeface="Segoe UI"/>
                <a:ea typeface="Microsoft YaHei"/>
                <a:cs typeface="Segoe UI"/>
              </a:rPr>
              <a:t>结论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156347" y="5231606"/>
            <a:ext cx="587930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003580"/>
                </a:solidFill>
                <a:latin typeface="Segoe UI"/>
                <a:ea typeface="Microsoft YaHei"/>
                <a:cs typeface="Segoe UI"/>
              </a:rPr>
              <a:t>城市智慧化程度越高，战场透明化程度也越高。民用监控设施的战时军事价值急剧上升。</a:t>
            </a:r>
          </a:p>
        </p:txBody>
      </p:sp>
      <p:sp>
        <p:nvSpPr>
          <p:cNvPr id="23" name="Line 23"/>
          <p:cNvSpPr/>
          <p:nvPr/>
        </p:nvSpPr>
        <p:spPr>
          <a:xfrm>
            <a:off x="571500" y="62865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0E4F5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560070" y="6522720"/>
            <a:ext cx="230314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Segoe UI"/>
                <a:ea typeface="Microsoft YaHei"/>
                <a:cs typeface="Segoe UI"/>
              </a:rPr>
              <a:t>来源：路透社、金融时报、多名前情报官员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477054" y="6522720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5FAFF"/>
              </a:gs>
              <a:gs pos="100000">
                <a:srgbClr val="FFFFFF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00B4D8"/>
              </a:gs>
              <a:gs pos="100000">
                <a:srgbClr val="0050B3"/>
              </a:gs>
            </a:gsLst>
            <a:lin ang="270000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285750"/>
            <a:ext cx="476250" cy="476250"/>
          </a:xfrm>
          <a:prstGeom prst="rect">
            <a:avLst/>
          </a:prstGeom>
          <a:solidFill>
            <a:srgbClr val="0050B3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17456" y="396240"/>
            <a:ext cx="18433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15390" y="396240"/>
            <a:ext cx="359936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网络阻断已成为开战的"第一枪"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9525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A0C4E8"/>
            </a:solidFill>
            <a:custDash>
              <a:ds d="600000" sp="400000"/>
            </a:custDash>
          </a:ln>
        </p:spPr>
      </p:sp>
      <p:sp>
        <p:nvSpPr>
          <p:cNvPr id="8" name="Rectangle 8"/>
          <p:cNvSpPr/>
          <p:nvPr/>
        </p:nvSpPr>
        <p:spPr>
          <a:xfrm>
            <a:off x="571500" y="1143000"/>
            <a:ext cx="11049000" cy="571500"/>
          </a:xfrm>
          <a:prstGeom prst="roundRect">
            <a:avLst>
              <a:gd name="adj" fmla="val 13333"/>
            </a:avLst>
          </a:prstGeom>
          <a:solidFill>
            <a:srgbClr val="001F4D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848376" y="1330642"/>
            <a:ext cx="449524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 xml:space="preserve">开战当天伊朗全国互联网流量暴跌至正常水平的 </a:t>
            </a:r>
            <a:r>
              <a:rPr lang="zh-CN" sz="1350" b="1" dirty="0">
                <a:solidFill>
                  <a:srgbClr val="00B4D8"/>
                </a:solidFill>
                <a:latin typeface="Segoe UI"/>
                <a:ea typeface="Microsoft YaHei"/>
                <a:cs typeface="Segoe UI"/>
              </a:rPr>
              <a:t>约4%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1905000"/>
            <a:ext cx="5429250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0E4F5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571500" y="1905000"/>
            <a:ext cx="57150" cy="133350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03910" y="2080260"/>
            <a:ext cx="137464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3580"/>
                </a:solidFill>
                <a:latin typeface="Segoe UI"/>
                <a:ea typeface="Microsoft YaHei"/>
                <a:cs typeface="Segoe UI"/>
              </a:rPr>
              <a:t>多重打击同步展开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05815" y="2363152"/>
            <a:ext cx="2827020" cy="6324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650"/>
              </a:lnSpc>
            </a:pPr>
            <a:r>
              <a:rPr lang="zh-CN" sz="1050" dirty="0">
                <a:solidFill>
                  <a:srgbClr val="444444"/>
                </a:solidFill>
                <a:latin typeface="Segoe UI"/>
                <a:ea typeface="Microsoft YaHei"/>
                <a:cs typeface="Segoe UI"/>
              </a:rPr>
              <a:t xml:space="preserve">• NetBlocks：全国流量最低降至正常水平4% </a:t>
            </a:r>
            <a:r>
              <a:rPr lang="zh-CN" sz="1050" dirty="0">
                <a:solidFill>
                  <a:srgbClr val="444444"/>
                </a:solidFill>
                <a:latin typeface="Segoe UI"/>
                <a:ea typeface="Microsoft YaHei"/>
                <a:cs typeface="Segoe UI"/>
              </a:rPr>
              <a:t xml:space="preserve">• Cloudflare Radar：较前一周下降约98% </a:t>
            </a:r>
            <a:r>
              <a:rPr lang="zh-CN" sz="1050" dirty="0">
                <a:solidFill>
                  <a:srgbClr val="444444"/>
                </a:solidFill>
                <a:latin typeface="Segoe UI"/>
                <a:ea typeface="Microsoft YaHei"/>
                <a:cs typeface="Segoe UI"/>
              </a:rPr>
              <a:t>• IODA（乔治亚理工）：多维度连通性同步崩溃</a:t>
            </a:r>
          </a:p>
        </p:txBody>
      </p:sp>
      <p:sp>
        <p:nvSpPr>
          <p:cNvPr id="14" name="Rectangle 14"/>
          <p:cNvSpPr/>
          <p:nvPr/>
        </p:nvSpPr>
        <p:spPr>
          <a:xfrm>
            <a:off x="6191250" y="1905000"/>
            <a:ext cx="5429250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0E4F5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6191250" y="1905000"/>
            <a:ext cx="57150" cy="133350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6423660" y="2080260"/>
            <a:ext cx="120662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3580"/>
                </a:solidFill>
                <a:latin typeface="Segoe UI"/>
                <a:ea typeface="Microsoft YaHei"/>
                <a:cs typeface="Segoe UI"/>
              </a:rPr>
              <a:t>网络战与心理战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425565" y="2363152"/>
            <a:ext cx="2667000" cy="6324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650"/>
              </a:lnSpc>
            </a:pPr>
            <a:r>
              <a:rPr lang="zh-CN" sz="1050" dirty="0">
                <a:solidFill>
                  <a:srgbClr val="444444"/>
                </a:solidFill>
                <a:latin typeface="Segoe UI"/>
                <a:ea typeface="Microsoft YaHei"/>
                <a:cs typeface="Segoe UI"/>
              </a:rPr>
              <a:t>• 伊朗通讯社IRNA、塔斯尼姆社遭入侵或下线</a:t>
            </a:r>
            <a:r>
              <a:rPr lang="zh-CN" sz="1050" dirty="0">
                <a:solidFill>
                  <a:srgbClr val="444444"/>
                </a:solidFill>
                <a:latin typeface="Segoe UI"/>
                <a:ea typeface="Microsoft YaHei"/>
                <a:cs typeface="Segoe UI"/>
              </a:rPr>
              <a:t>• BadeSaba祈祷App被劫持推送心理战信息</a:t>
            </a:r>
            <a:r>
              <a:rPr lang="zh-CN" sz="1050" dirty="0">
                <a:solidFill>
                  <a:srgbClr val="444444"/>
                </a:solidFill>
                <a:latin typeface="Segoe UI"/>
                <a:ea typeface="Microsoft YaHei"/>
                <a:cs typeface="Segoe UI"/>
              </a:rPr>
              <a:t>• 对外信息输出和内部指挥带宽几乎丧失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71500" y="3524250"/>
            <a:ext cx="11049000" cy="762000"/>
          </a:xfrm>
          <a:prstGeom prst="roundRect">
            <a:avLst>
              <a:gd name="adj" fmla="val 10000"/>
            </a:avLst>
          </a:prstGeom>
          <a:solidFill>
            <a:srgbClr val="E8F4FD"/>
          </a:solidFill>
          <a:ln w="9525">
            <a:solidFill>
              <a:srgbClr val="00B4D8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5744718" y="3728085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C41E3A"/>
                </a:solidFill>
                <a:latin typeface="Segoe UI"/>
                <a:ea typeface="Microsoft YaHei"/>
                <a:cs typeface="Segoe UI"/>
              </a:rPr>
              <a:t>核心启示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31094" y="3993356"/>
            <a:ext cx="99298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003580"/>
                </a:solidFill>
                <a:latin typeface="Segoe UI"/>
                <a:ea typeface="Microsoft YaHei"/>
                <a:cs typeface="Segoe UI"/>
              </a:rPr>
              <a:t>网络战的窗口可能只有数小时，但这数小时足以决定整场战局的走向。关键信息基础设施的供应链安全与主动防御能力，已与航母、战斗机同等重要。</a:t>
            </a:r>
          </a:p>
        </p:txBody>
      </p:sp>
      <p:sp>
        <p:nvSpPr>
          <p:cNvPr id="21" name="Rectangle 21"/>
          <p:cNvSpPr/>
          <p:nvPr/>
        </p:nvSpPr>
        <p:spPr>
          <a:xfrm>
            <a:off x="571500" y="4572000"/>
            <a:ext cx="11049000" cy="476250"/>
          </a:xfrm>
          <a:prstGeom prst="roundRect">
            <a:avLst>
              <a:gd name="adj" fmla="val 12000"/>
            </a:avLst>
          </a:prstGeom>
          <a:solidFill>
            <a:srgbClr val="F0F6FF"/>
          </a:solidFill>
          <a:ln w="9525">
            <a:solidFill>
              <a:srgbClr val="D0E4F5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3454039" y="4752499"/>
            <a:ext cx="528392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数据来源：NetBlocks、Cloudflare Radar、IODA（乔治亚理工学院）、lukaszolejnik.com</a:t>
            </a:r>
          </a:p>
        </p:txBody>
      </p:sp>
      <p:sp>
        <p:nvSpPr>
          <p:cNvPr id="23" name="Line 23"/>
          <p:cNvSpPr/>
          <p:nvPr/>
        </p:nvSpPr>
        <p:spPr>
          <a:xfrm>
            <a:off x="571500" y="62865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0E4F5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560070" y="6522720"/>
            <a:ext cx="196110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Segoe UI"/>
                <a:ea typeface="Microsoft YaHei"/>
                <a:cs typeface="Segoe UI"/>
              </a:rPr>
              <a:t>国际互联网监测组织 · 独立开源数据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477054" y="6522720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5FAFF"/>
              </a:gs>
              <a:gs pos="100000">
                <a:srgbClr val="FFFFFF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00B4D8"/>
              </a:gs>
              <a:gs pos="100000">
                <a:srgbClr val="0050B3"/>
              </a:gs>
            </a:gsLst>
            <a:lin ang="270000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285750"/>
            <a:ext cx="476250" cy="476250"/>
          </a:xfrm>
          <a:prstGeom prst="rect">
            <a:avLst/>
          </a:prstGeom>
          <a:solidFill>
            <a:srgbClr val="0050B3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17456" y="396240"/>
            <a:ext cx="18433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15390" y="396240"/>
            <a:ext cx="332213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战争账单本质上就是数据账单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9525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A0C4E8"/>
            </a:solidFill>
            <a:custDash>
              <a:ds d="600000" sp="400000"/>
            </a:custDash>
          </a:ln>
        </p:spPr>
      </p:sp>
      <p:sp>
        <p:nvSpPr>
          <p:cNvPr id="8" name="Rectangle 8"/>
          <p:cNvSpPr/>
          <p:nvPr/>
        </p:nvSpPr>
        <p:spPr>
          <a:xfrm>
            <a:off x="571500" y="1143000"/>
            <a:ext cx="11049000" cy="571500"/>
          </a:xfrm>
          <a:prstGeom prst="roundRect">
            <a:avLst>
              <a:gd name="adj" fmla="val 13333"/>
            </a:avLst>
          </a:prstGeom>
          <a:solidFill>
            <a:srgbClr val="001F4D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44455" y="1261110"/>
            <a:ext cx="490308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 xml:space="preserve">冲突前两个月美军花费约 </a:t>
            </a:r>
            <a:r>
              <a:rPr lang="zh-CN" sz="1200" b="1" dirty="0">
                <a:solidFill>
                  <a:srgbClr val="00B4D8"/>
                </a:solidFill>
                <a:latin typeface="Segoe UI"/>
                <a:ea typeface="Microsoft YaHei"/>
                <a:cs typeface="Segoe UI"/>
              </a:rPr>
              <a:t>250亿至290亿美元</a:t>
            </a:r>
            <a:r>
              <a:rPr lang="zh-CN"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 xml:space="preserve">，日均约 </a:t>
            </a:r>
            <a:r>
              <a:rPr lang="zh-CN" sz="1200" b="1" dirty="0">
                <a:solidFill>
                  <a:srgbClr val="00B4D8"/>
                </a:solidFill>
                <a:latin typeface="Segoe UI"/>
                <a:ea typeface="Microsoft YaHei"/>
                <a:cs typeface="Segoe UI"/>
              </a:rPr>
              <a:t>4至5亿美元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850588" y="1494949"/>
            <a:ext cx="449082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8AB4E8"/>
                </a:solidFill>
                <a:latin typeface="Segoe UI"/>
                <a:ea typeface="Microsoft YaHei"/>
                <a:cs typeface="Segoe UI"/>
              </a:rPr>
              <a:t>第一周未预算支出超113亿美元（CSIS修正为约127亿美元），日均约21亿美元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71500" y="1905000"/>
            <a:ext cx="352425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0E4F5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571500" y="1905000"/>
            <a:ext cx="3524250" cy="47625"/>
          </a:xfrm>
          <a:prstGeom prst="roundRect">
            <a:avLst>
              <a:gd name="adj" fmla="val 50000"/>
            </a:avLst>
          </a:prstGeom>
          <a:solidFill>
            <a:srgbClr val="C41E3A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5749821" y="3023235"/>
            <a:ext cx="69235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C41E3A"/>
                </a:solidFill>
                <a:latin typeface="Segoe UI"/>
                <a:ea typeface="Microsoft YaHei"/>
                <a:cs typeface="Segoe UI"/>
              </a:rPr>
              <a:t>---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14322" y="2232660"/>
            <a:ext cx="10386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C41E3A"/>
                </a:solidFill>
                <a:latin typeface="Segoe UI"/>
                <a:ea typeface="Microsoft YaHei"/>
                <a:cs typeface="Segoe UI"/>
              </a:rPr>
              <a:t>战斧巡航导弹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97457" y="2407920"/>
            <a:ext cx="147233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003580"/>
                </a:solidFill>
                <a:latin typeface="Arial"/>
                <a:ea typeface="Microsoft YaHei"/>
                <a:cs typeface="Arial"/>
              </a:rPr>
              <a:t>约200万$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38095" y="2847499"/>
            <a:ext cx="239106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每枚=惯性导航+卫星+地形匹配+目标识别</a:t>
            </a:r>
          </a:p>
        </p:txBody>
      </p:sp>
      <p:sp>
        <p:nvSpPr>
          <p:cNvPr id="17" name="Rectangle 17"/>
          <p:cNvSpPr/>
          <p:nvPr/>
        </p:nvSpPr>
        <p:spPr>
          <a:xfrm>
            <a:off x="4333875" y="1905000"/>
            <a:ext cx="352425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0E4F5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4333875" y="1905000"/>
            <a:ext cx="3524250" cy="47625"/>
          </a:xfrm>
          <a:prstGeom prst="roundRect">
            <a:avLst>
              <a:gd name="adj" fmla="val 50000"/>
            </a:avLst>
          </a:prstGeom>
          <a:solidFill>
            <a:srgbClr val="C41E3A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5412877" y="2232660"/>
            <a:ext cx="136624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C41E3A"/>
                </a:solidFill>
                <a:latin typeface="Segoe UI"/>
                <a:ea typeface="Microsoft YaHei"/>
                <a:cs typeface="Segoe UI"/>
              </a:rPr>
              <a:t>JASSM防区外导弹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359832" y="2407920"/>
            <a:ext cx="147233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003580"/>
                </a:solidFill>
                <a:latin typeface="Arial"/>
                <a:ea typeface="Microsoft YaHei"/>
                <a:cs typeface="Arial"/>
              </a:rPr>
              <a:t>约230万$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173504" y="2847499"/>
            <a:ext cx="18449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需卫星数据链实时更新目标坐标</a:t>
            </a:r>
          </a:p>
        </p:txBody>
      </p:sp>
      <p:sp>
        <p:nvSpPr>
          <p:cNvPr id="22" name="Rectangle 22"/>
          <p:cNvSpPr/>
          <p:nvPr/>
        </p:nvSpPr>
        <p:spPr>
          <a:xfrm>
            <a:off x="8096250" y="1905000"/>
            <a:ext cx="352425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0E4F5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8096250" y="1905000"/>
            <a:ext cx="3524250" cy="47625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9305468" y="2232660"/>
            <a:ext cx="110581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0B4D8"/>
                </a:solidFill>
                <a:latin typeface="Segoe UI"/>
                <a:ea typeface="Microsoft YaHei"/>
                <a:cs typeface="Segoe UI"/>
              </a:rPr>
              <a:t>JDAM制导炸弹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828170" y="2407920"/>
            <a:ext cx="206041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003580"/>
                </a:solidFill>
                <a:latin typeface="Arial"/>
                <a:ea typeface="Microsoft YaHei"/>
                <a:cs typeface="Arial"/>
              </a:rPr>
              <a:t>7.5-10.7万$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935879" y="2847499"/>
            <a:ext cx="18449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后期使用，数据链需求大幅降低</a:t>
            </a:r>
          </a:p>
        </p:txBody>
      </p:sp>
      <p:sp>
        <p:nvSpPr>
          <p:cNvPr id="27" name="Rectangle 27"/>
          <p:cNvSpPr/>
          <p:nvPr/>
        </p:nvSpPr>
        <p:spPr>
          <a:xfrm>
            <a:off x="571500" y="3619500"/>
            <a:ext cx="5334000" cy="857250"/>
          </a:xfrm>
          <a:prstGeom prst="roundRect">
            <a:avLst>
              <a:gd name="adj" fmla="val 8889"/>
            </a:avLst>
          </a:prstGeom>
          <a:solidFill>
            <a:srgbClr val="E8F4FD"/>
          </a:solidFill>
          <a:ln w="9525">
            <a:solidFill>
              <a:srgbClr val="00B4D8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2424800" y="3783806"/>
            <a:ext cx="16274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003580"/>
                </a:solidFill>
                <a:latin typeface="Segoe UI"/>
                <a:ea typeface="Microsoft YaHei"/>
                <a:cs typeface="Segoe UI"/>
              </a:rPr>
              <a:t>弹药成本 = 数据链成本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105025" y="4077652"/>
            <a:ext cx="22669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444444"/>
                </a:solidFill>
                <a:latin typeface="Segoe UI"/>
                <a:ea typeface="Microsoft YaHei"/>
                <a:cs typeface="Segoe UI"/>
              </a:rPr>
              <a:t>采购的不是普通弹药，而是数据终端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965007" y="4268152"/>
            <a:ext cx="25469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444444"/>
                </a:solidFill>
                <a:latin typeface="Segoe UI"/>
                <a:ea typeface="Microsoft YaHei"/>
                <a:cs typeface="Segoe UI"/>
              </a:rPr>
              <a:t>若对手干扰数据链路，昂贵弹药迅速贬值</a:t>
            </a:r>
          </a:p>
        </p:txBody>
      </p:sp>
      <p:sp>
        <p:nvSpPr>
          <p:cNvPr id="31" name="Rectangle 31"/>
          <p:cNvSpPr/>
          <p:nvPr/>
        </p:nvSpPr>
        <p:spPr>
          <a:xfrm>
            <a:off x="6096000" y="3619500"/>
            <a:ext cx="5524500" cy="857250"/>
          </a:xfrm>
          <a:prstGeom prst="roundRect">
            <a:avLst>
              <a:gd name="adj" fmla="val 8889"/>
            </a:avLst>
          </a:prstGeom>
          <a:solidFill>
            <a:srgbClr val="FFF5F5"/>
          </a:solidFill>
          <a:ln w="9525">
            <a:solidFill>
              <a:srgbClr val="C41E3A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7824023" y="3783806"/>
            <a:ext cx="206845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C41E3A"/>
                </a:solidFill>
                <a:latin typeface="Segoe UI"/>
                <a:ea typeface="Microsoft YaHei"/>
                <a:cs typeface="Segoe UI"/>
              </a:rPr>
              <a:t>防空拦截弹消耗（CSIS数据）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693271" y="4077652"/>
            <a:ext cx="23299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444444"/>
                </a:solidFill>
                <a:latin typeface="Segoe UI"/>
                <a:ea typeface="Microsoft YaHei"/>
                <a:cs typeface="Segoe UI"/>
              </a:rPr>
              <a:t>THAAD消耗至少50%（约190-290枚）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490246" y="4268152"/>
            <a:ext cx="273600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444444"/>
                </a:solidFill>
                <a:latin typeface="Segoe UI"/>
                <a:ea typeface="Microsoft YaHei"/>
                <a:cs typeface="Segoe UI"/>
              </a:rPr>
              <a:t>补充周期：SM-3需64个月，THAAD需53个月</a:t>
            </a:r>
          </a:p>
        </p:txBody>
      </p:sp>
      <p:sp>
        <p:nvSpPr>
          <p:cNvPr id="35" name="Line 35"/>
          <p:cNvSpPr/>
          <p:nvPr/>
        </p:nvSpPr>
        <p:spPr>
          <a:xfrm>
            <a:off x="571500" y="62865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0E4F5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560070" y="6522720"/>
            <a:ext cx="356930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Segoe UI"/>
                <a:ea typeface="Microsoft YaHei"/>
                <a:cs typeface="Segoe UI"/>
              </a:rPr>
              <a:t>来源：五角大楼、宾夕法尼亚大学沃顿商学院、CSIS、FlightGlobal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477054" y="6522720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5FAFF"/>
              </a:gs>
              <a:gs pos="100000">
                <a:srgbClr val="FFFFFF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00B4D8"/>
              </a:gs>
              <a:gs pos="100000">
                <a:srgbClr val="0050B3"/>
              </a:gs>
            </a:gsLst>
            <a:lin ang="270000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285750"/>
            <a:ext cx="476250" cy="476250"/>
          </a:xfrm>
          <a:prstGeom prst="rect">
            <a:avLst/>
          </a:prstGeom>
          <a:solidFill>
            <a:srgbClr val="0050B3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17456" y="396240"/>
            <a:ext cx="18433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15390" y="396240"/>
            <a:ext cx="3574161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算力节点已成为高价值战略目标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9525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A0C4E8"/>
            </a:solidFill>
            <a:custDash>
              <a:ds d="600000" sp="400000"/>
            </a:custDash>
          </a:ln>
        </p:spPr>
      </p:sp>
      <p:sp>
        <p:nvSpPr>
          <p:cNvPr id="8" name="Rectangle 8"/>
          <p:cNvSpPr/>
          <p:nvPr/>
        </p:nvSpPr>
        <p:spPr>
          <a:xfrm>
            <a:off x="571500" y="1143000"/>
            <a:ext cx="11049000" cy="523875"/>
          </a:xfrm>
          <a:prstGeom prst="roundRect">
            <a:avLst>
              <a:gd name="adj" fmla="val 14545"/>
            </a:avLst>
          </a:prstGeom>
          <a:solidFill>
            <a:srgbClr val="001F4D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4205323" y="1319689"/>
            <a:ext cx="378135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伊朗非对称反击路线：</a:t>
            </a:r>
            <a:r>
              <a:rPr lang="zh-CN" sz="1275" b="1" dirty="0">
                <a:solidFill>
                  <a:srgbClr val="00B4D8"/>
                </a:solidFill>
                <a:latin typeface="Segoe UI"/>
                <a:ea typeface="Microsoft YaHei"/>
                <a:cs typeface="Segoe UI"/>
              </a:rPr>
              <a:t>不打航母，专打数据中心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1857375"/>
            <a:ext cx="7239000" cy="1905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0E4F5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571500" y="1857375"/>
            <a:ext cx="57150" cy="1905000"/>
          </a:xfrm>
          <a:prstGeom prst="roundRect">
            <a:avLst>
              <a:gd name="adj" fmla="val 50000"/>
            </a:avLst>
          </a:prstGeom>
          <a:solidFill>
            <a:srgbClr val="C41E3A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03910" y="2032635"/>
            <a:ext cx="279442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C41E3A"/>
                </a:solidFill>
                <a:latin typeface="Segoe UI"/>
                <a:ea typeface="Microsoft YaHei"/>
                <a:cs typeface="Segoe UI"/>
              </a:rPr>
              <a:t>AWS数据中心遭袭（2026.3.1-3.2）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05815" y="2315528"/>
            <a:ext cx="4120515" cy="8420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650"/>
              </a:lnSpc>
            </a:pPr>
            <a:r>
              <a:rPr lang="zh-CN" sz="1050" dirty="0">
                <a:solidFill>
                  <a:srgbClr val="444444"/>
                </a:solidFill>
                <a:latin typeface="Segoe UI"/>
                <a:ea typeface="Microsoft YaHei"/>
                <a:cs typeface="Segoe UI"/>
              </a:rPr>
              <a:t>• 伊朗无人机袭击阿联酋ME-CENTRAL-1和巴林ME-SOUTH-1可用区</a:t>
            </a:r>
            <a:r>
              <a:rPr lang="zh-CN" sz="1050" dirty="0">
                <a:solidFill>
                  <a:srgbClr val="444444"/>
                </a:solidFill>
                <a:latin typeface="Segoe UI"/>
                <a:ea typeface="Microsoft YaHei"/>
                <a:cs typeface="Segoe UI"/>
              </a:rPr>
              <a:t>• AWS官方确认：建筑结构损坏、电力中断、消防系统误启损毁服务器</a:t>
            </a:r>
            <a:r>
              <a:rPr lang="zh-CN" sz="1050" dirty="0">
                <a:solidFill>
                  <a:srgbClr val="444444"/>
                </a:solidFill>
                <a:latin typeface="Segoe UI"/>
                <a:ea typeface="Microsoft YaHei"/>
                <a:cs typeface="Segoe UI"/>
              </a:rPr>
              <a:t>• EC2、S3、DynamoDB等核心服务严重降级</a:t>
            </a:r>
            <a:r>
              <a:rPr lang="zh-CN" sz="1050" dirty="0">
                <a:solidFill>
                  <a:srgbClr val="444444"/>
                </a:solidFill>
                <a:latin typeface="Segoe UI"/>
                <a:ea typeface="Microsoft YaHei"/>
                <a:cs typeface="Segoe UI"/>
              </a:rPr>
              <a:t>• 学术界直接引用为"云主权"危机案例</a:t>
            </a:r>
          </a:p>
        </p:txBody>
      </p:sp>
      <p:sp>
        <p:nvSpPr>
          <p:cNvPr id="14" name="Rectangle 14"/>
          <p:cNvSpPr/>
          <p:nvPr/>
        </p:nvSpPr>
        <p:spPr>
          <a:xfrm>
            <a:off x="8001000" y="1857375"/>
            <a:ext cx="3619500" cy="1905000"/>
          </a:xfrm>
          <a:prstGeom prst="roundRect">
            <a:avLst>
              <a:gd name="adj" fmla="val 4000"/>
            </a:avLst>
          </a:prstGeom>
          <a:solidFill>
            <a:srgbClr val="FFF5F5"/>
          </a:solidFill>
          <a:ln w="9525">
            <a:solidFill>
              <a:srgbClr val="C41E3A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8953732" y="2040731"/>
            <a:ext cx="171403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C41E3A"/>
                </a:solidFill>
                <a:latin typeface="Segoe UI"/>
                <a:ea typeface="Microsoft YaHei"/>
                <a:cs typeface="Segoe UI"/>
              </a:rPr>
              <a:t>MQ-9"死神"无人机损失</a:t>
            </a:r>
          </a:p>
        </p:txBody>
      </p:sp>
      <p:sp>
        <p:nvSpPr>
          <p:cNvPr id="16" name="Line 16"/>
          <p:cNvSpPr/>
          <p:nvPr/>
        </p:nvSpPr>
        <p:spPr>
          <a:xfrm>
            <a:off x="8191500" y="2286000"/>
            <a:ext cx="3238500" cy="9525"/>
          </a:xfrm>
          <a:custGeom>
            <a:avLst/>
            <a:gdLst/>
            <a:ahLst/>
            <a:cxnLst/>
            <a:rect l="l" t="t" r="r" b="b"/>
            <a:pathLst>
              <a:path w="3238500" h="9525">
                <a:moveTo>
                  <a:pt x="0" y="0"/>
                </a:moveTo>
                <a:lnTo>
                  <a:pt x="3238500" y="0"/>
                </a:lnTo>
              </a:path>
            </a:pathLst>
          </a:custGeom>
          <a:noFill/>
          <a:ln w="9525">
            <a:solidFill>
              <a:srgbClr val="C41E3A">
                <a:alpha val="30000"/>
              </a:srgbClr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9216080" y="2295525"/>
            <a:ext cx="1189339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000" b="1" dirty="0">
                <a:solidFill>
                  <a:srgbClr val="003580"/>
                </a:solidFill>
                <a:latin typeface="Arial"/>
                <a:ea typeface="Microsoft YaHei"/>
                <a:cs typeface="Arial"/>
              </a:rPr>
              <a:t>≥11架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953810" y="2791778"/>
            <a:ext cx="171388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444444"/>
                </a:solidFill>
                <a:latin typeface="Segoe UI"/>
                <a:ea typeface="Microsoft YaHei"/>
                <a:cs typeface="Segoe UI"/>
              </a:rPr>
              <a:t>3月多日被AD-08 Majid击落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890802" y="3077528"/>
            <a:ext cx="183989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444444"/>
                </a:solidFill>
                <a:latin typeface="Segoe UI"/>
                <a:ea typeface="Microsoft YaHei"/>
                <a:cs typeface="Segoe UI"/>
              </a:rPr>
              <a:t>每架成本约3000-3500万美元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242548" y="3371374"/>
            <a:ext cx="11364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C41E3A"/>
                </a:solidFill>
                <a:latin typeface="Segoe UI"/>
                <a:ea typeface="Microsoft YaHei"/>
                <a:cs typeface="Segoe UI"/>
              </a:rPr>
              <a:t>侦察-打击链条断裂</a:t>
            </a:r>
          </a:p>
        </p:txBody>
      </p:sp>
      <p:sp>
        <p:nvSpPr>
          <p:cNvPr id="21" name="Rectangle 21"/>
          <p:cNvSpPr/>
          <p:nvPr/>
        </p:nvSpPr>
        <p:spPr>
          <a:xfrm>
            <a:off x="571500" y="4000500"/>
            <a:ext cx="11049000" cy="952500"/>
          </a:xfrm>
          <a:prstGeom prst="roundRect">
            <a:avLst>
              <a:gd name="adj" fmla="val 8000"/>
            </a:avLst>
          </a:prstGeom>
          <a:solidFill>
            <a:srgbClr val="E8F4FD"/>
          </a:solidFill>
          <a:ln w="9525">
            <a:solidFill>
              <a:srgbClr val="00B4D8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5744718" y="4204335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03580"/>
                </a:solidFill>
                <a:latin typeface="Segoe UI"/>
                <a:ea typeface="Microsoft YaHei"/>
                <a:cs typeface="Segoe UI"/>
              </a:rPr>
              <a:t>战略启示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372201" y="4506278"/>
            <a:ext cx="74475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444444"/>
                </a:solidFill>
                <a:latin typeface="Segoe UI"/>
                <a:ea typeface="Microsoft YaHei"/>
                <a:cs typeface="Segoe UI"/>
              </a:rPr>
              <a:t>云不是无形的，它是一栋栋可以被导弹命中的混凝土建筑。摧毁一个算力节点，可能比摧毁十个军事基地更具战略效果。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612481" y="4744402"/>
            <a:ext cx="296703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444444"/>
                </a:solidFill>
                <a:latin typeface="Segoe UI"/>
                <a:ea typeface="Microsoft YaHei"/>
                <a:cs typeface="Segoe UI"/>
              </a:rPr>
              <a:t>保护数据中心已不是商业问题，而是国防问题。</a:t>
            </a:r>
          </a:p>
        </p:txBody>
      </p:sp>
      <p:sp>
        <p:nvSpPr>
          <p:cNvPr id="25" name="Line 25"/>
          <p:cNvSpPr/>
          <p:nvPr/>
        </p:nvSpPr>
        <p:spPr>
          <a:xfrm>
            <a:off x="571500" y="62865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0E4F5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560070" y="6522720"/>
            <a:ext cx="331127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Segoe UI"/>
                <a:ea typeface="Microsoft YaHei"/>
                <a:cs typeface="Segoe UI"/>
              </a:rPr>
              <a:t>来源：AWS官方确认、arXiv.org、Aviation Safety Network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477054" y="6522720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5FAFF"/>
              </a:gs>
              <a:gs pos="100000">
                <a:srgbClr val="FFFFFF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00B4D8"/>
              </a:gs>
              <a:gs pos="100000">
                <a:srgbClr val="0050B3"/>
              </a:gs>
            </a:gsLst>
            <a:lin ang="270000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285750"/>
            <a:ext cx="476250" cy="476250"/>
          </a:xfrm>
          <a:prstGeom prst="rect">
            <a:avLst/>
          </a:prstGeom>
          <a:solidFill>
            <a:srgbClr val="0050B3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17456" y="396240"/>
            <a:ext cx="18433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15390" y="396240"/>
            <a:ext cx="281806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没有绝对安全的通信手段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9525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A0C4E8"/>
            </a:solidFill>
            <a:custDash>
              <a:ds d="600000" sp="400000"/>
            </a:custDash>
          </a:ln>
        </p:spPr>
      </p:sp>
      <p:sp>
        <p:nvSpPr>
          <p:cNvPr id="8" name="Rectangle 8"/>
          <p:cNvSpPr/>
          <p:nvPr/>
        </p:nvSpPr>
        <p:spPr>
          <a:xfrm>
            <a:off x="571500" y="1143000"/>
            <a:ext cx="11049000" cy="523875"/>
          </a:xfrm>
          <a:prstGeom prst="roundRect">
            <a:avLst>
              <a:gd name="adj" fmla="val 14545"/>
            </a:avLst>
          </a:prstGeom>
          <a:solidFill>
            <a:srgbClr val="001F4D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4473107" y="1319689"/>
            <a:ext cx="324578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你以为自己是猎人，但你也可能变成猎物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1857375"/>
            <a:ext cx="723900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0E4F5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571500" y="1857375"/>
            <a:ext cx="57150" cy="171450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03910" y="2032635"/>
            <a:ext cx="171069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3580"/>
                </a:solidFill>
                <a:latin typeface="Segoe UI"/>
                <a:ea typeface="Microsoft YaHei"/>
                <a:cs typeface="Segoe UI"/>
              </a:rPr>
              <a:t>星链终端渗透与反渗透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05815" y="2315528"/>
            <a:ext cx="4033837" cy="8420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650"/>
              </a:lnSpc>
            </a:pPr>
            <a:r>
              <a:rPr lang="zh-CN" sz="1050" dirty="0">
                <a:solidFill>
                  <a:srgbClr val="444444"/>
                </a:solidFill>
                <a:latin typeface="Segoe UI"/>
                <a:ea typeface="Microsoft YaHei"/>
                <a:cs typeface="Segoe UI"/>
              </a:rPr>
              <a:t>• Starshield军事版终端部署于十多个无人机系统</a:t>
            </a:r>
            <a:r>
              <a:rPr lang="zh-CN" sz="1050" dirty="0">
                <a:solidFill>
                  <a:srgbClr val="444444"/>
                </a:solidFill>
                <a:latin typeface="Segoe UI"/>
                <a:ea typeface="Microsoft YaHei"/>
                <a:cs typeface="Segoe UI"/>
              </a:rPr>
              <a:t>• 美国利用"互联网自由倡议"将约6000台Starlink终端走私入境伊朗</a:t>
            </a:r>
            <a:r>
              <a:rPr lang="zh-CN" sz="1050" dirty="0">
                <a:solidFill>
                  <a:srgbClr val="444444"/>
                </a:solidFill>
                <a:latin typeface="Segoe UI"/>
                <a:ea typeface="Microsoft YaHei"/>
                <a:cs typeface="Segoe UI"/>
              </a:rPr>
              <a:t>• 累计估计有3万至5万台Starlink终端自2022年以来被走私进伊朗</a:t>
            </a:r>
            <a:r>
              <a:rPr lang="zh-CN" sz="1050" dirty="0">
                <a:solidFill>
                  <a:srgbClr val="444444"/>
                </a:solidFill>
                <a:latin typeface="Segoe UI"/>
                <a:ea typeface="Microsoft YaHei"/>
                <a:cs typeface="Segoe UI"/>
              </a:rPr>
              <a:t>• 伊朗情报部全国性反间谍行动，没收数百台终端</a:t>
            </a:r>
          </a:p>
        </p:txBody>
      </p:sp>
      <p:sp>
        <p:nvSpPr>
          <p:cNvPr id="14" name="Rectangle 14"/>
          <p:cNvSpPr/>
          <p:nvPr/>
        </p:nvSpPr>
        <p:spPr>
          <a:xfrm>
            <a:off x="8001000" y="1857375"/>
            <a:ext cx="3619500" cy="1714500"/>
          </a:xfrm>
          <a:prstGeom prst="roundRect">
            <a:avLst>
              <a:gd name="adj" fmla="val 4444"/>
            </a:avLst>
          </a:prstGeom>
          <a:solidFill>
            <a:srgbClr val="FFF5F5"/>
          </a:solidFill>
          <a:ln w="9525">
            <a:solidFill>
              <a:srgbClr val="C41E3A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9323903" y="2040731"/>
            <a:ext cx="97369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C41E3A"/>
                </a:solidFill>
                <a:latin typeface="Segoe UI"/>
                <a:ea typeface="Microsoft YaHei"/>
                <a:cs typeface="Segoe UI"/>
              </a:rPr>
              <a:t>伊朗反制行动</a:t>
            </a:r>
          </a:p>
        </p:txBody>
      </p:sp>
      <p:sp>
        <p:nvSpPr>
          <p:cNvPr id="16" name="Line 16"/>
          <p:cNvSpPr/>
          <p:nvPr/>
        </p:nvSpPr>
        <p:spPr>
          <a:xfrm>
            <a:off x="8191500" y="2286000"/>
            <a:ext cx="3238500" cy="9525"/>
          </a:xfrm>
          <a:custGeom>
            <a:avLst/>
            <a:gdLst/>
            <a:ahLst/>
            <a:cxnLst/>
            <a:rect l="l" t="t" r="r" b="b"/>
            <a:pathLst>
              <a:path w="3238500" h="9525">
                <a:moveTo>
                  <a:pt x="0" y="0"/>
                </a:moveTo>
                <a:lnTo>
                  <a:pt x="3238500" y="0"/>
                </a:lnTo>
              </a:path>
            </a:pathLst>
          </a:custGeom>
          <a:noFill/>
          <a:ln w="9525">
            <a:solidFill>
              <a:srgbClr val="C41E3A">
                <a:alpha val="30000"/>
              </a:srgbClr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8974812" y="2506028"/>
            <a:ext cx="167187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444444"/>
                </a:solidFill>
                <a:latin typeface="Segoe UI"/>
                <a:ea typeface="Microsoft YaHei"/>
                <a:cs typeface="Segoe UI"/>
              </a:rPr>
              <a:t>3月19日：锡斯坦被捕13人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817292" y="2744152"/>
            <a:ext cx="19869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444444"/>
                </a:solidFill>
                <a:latin typeface="Segoe UI"/>
                <a:ea typeface="Microsoft YaHei"/>
                <a:cs typeface="Segoe UI"/>
              </a:rPr>
              <a:t>没收5台Starlink+枪支监视设备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974812" y="3029902"/>
            <a:ext cx="167187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444444"/>
                </a:solidFill>
                <a:latin typeface="Segoe UI"/>
                <a:ea typeface="Microsoft YaHei"/>
                <a:cs typeface="Segoe UI"/>
              </a:rPr>
              <a:t>3月25日：德黑兰被捕39人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810292" y="3268028"/>
            <a:ext cx="200091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444444"/>
                </a:solidFill>
                <a:latin typeface="Segoe UI"/>
                <a:ea typeface="Microsoft YaHei"/>
                <a:cs typeface="Segoe UI"/>
              </a:rPr>
              <a:t>没收7台Starlink+49枚自制炸弹</a:t>
            </a:r>
          </a:p>
        </p:txBody>
      </p:sp>
      <p:sp>
        <p:nvSpPr>
          <p:cNvPr id="21" name="Rectangle 21"/>
          <p:cNvSpPr/>
          <p:nvPr/>
        </p:nvSpPr>
        <p:spPr>
          <a:xfrm>
            <a:off x="571500" y="3810000"/>
            <a:ext cx="11049000" cy="857250"/>
          </a:xfrm>
          <a:prstGeom prst="roundRect">
            <a:avLst>
              <a:gd name="adj" fmla="val 8889"/>
            </a:avLst>
          </a:prstGeom>
          <a:solidFill>
            <a:srgbClr val="E8F4FD"/>
          </a:solidFill>
          <a:ln w="9525">
            <a:solidFill>
              <a:srgbClr val="00B4D8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5240655" y="4013835"/>
            <a:ext cx="171069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03580"/>
                </a:solidFill>
                <a:latin typeface="Segoe UI"/>
                <a:ea typeface="Microsoft YaHei"/>
                <a:cs typeface="Segoe UI"/>
              </a:rPr>
              <a:t>非对称对抗的典型逻辑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422332" y="4287202"/>
            <a:ext cx="53473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444444"/>
                </a:solidFill>
                <a:latin typeface="Segoe UI"/>
                <a:ea typeface="Microsoft YaHei"/>
                <a:cs typeface="Segoe UI"/>
              </a:rPr>
              <a:t>进攻方可以利用卫星网络追踪目标，防御方同样可以利用信号特征反向定位并没收设备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465463" y="4477702"/>
            <a:ext cx="326107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444444"/>
                </a:solidFill>
                <a:latin typeface="Segoe UI"/>
                <a:ea typeface="Microsoft YaHei"/>
                <a:cs typeface="Segoe UI"/>
              </a:rPr>
              <a:t>数据内容可以加密，但"正在通信"这一事实无法隐藏</a:t>
            </a:r>
          </a:p>
        </p:txBody>
      </p:sp>
      <p:sp>
        <p:nvSpPr>
          <p:cNvPr id="25" name="Line 25"/>
          <p:cNvSpPr/>
          <p:nvPr/>
        </p:nvSpPr>
        <p:spPr>
          <a:xfrm>
            <a:off x="571500" y="62865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0E4F5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560070" y="6522720"/>
            <a:ext cx="38513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Segoe UI"/>
                <a:ea typeface="Microsoft YaHei"/>
                <a:cs typeface="Segoe UI"/>
              </a:rPr>
              <a:t>来源：路透社调查、五角大楼文件、Iran International、Military.com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477054" y="6522720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1F4D"/>
              </a:gs>
              <a:gs pos="50000">
                <a:srgbClr val="003580"/>
              </a:gs>
              <a:gs pos="100000">
                <a:srgbClr val="0050B3"/>
              </a:gs>
            </a:gsLst>
            <a:lin ang="2700000" scaled="1"/>
          </a:gradFill>
          <a:ln>
            <a:noFill/>
          </a:ln>
        </p:spPr>
      </p:sp>
      <p:grpSp>
        <p:nvGrpSpPr>
          <p:cNvPr id="18" name="Group 1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Line 3"/>
            <p:cNvSpPr/>
            <p:nvPr/>
          </p:nvSpPr>
          <p:spPr>
            <a:xfrm>
              <a:off x="0" y="76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4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1524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4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228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4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0" y="304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4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0" y="3810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4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0" y="457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4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0" y="5334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4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4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152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FFFFF">
                  <a:alpha val="4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FFFFF">
                  <a:alpha val="4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457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FFFFF">
                  <a:alpha val="40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FFFFF">
                  <a:alpha val="4000"/>
                </a:srgb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762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FFFFF">
                  <a:alpha val="4000"/>
                </a:srgbClr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FFFFF">
                  <a:alpha val="4000"/>
                </a:srgbClr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1066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FFFFF">
                  <a:alpha val="4000"/>
                </a:srgbClr>
              </a:solidFill>
            </a:ln>
          </p:spPr>
        </p:sp>
      </p:grpSp>
      <p:sp>
        <p:nvSpPr>
          <p:cNvPr id="19" name="Freeform 19"/>
          <p:cNvSpPr/>
          <p:nvPr/>
        </p:nvSpPr>
        <p:spPr>
          <a:xfrm>
            <a:off x="0" y="5111750"/>
            <a:ext cx="12192000" cy="1746250"/>
          </a:xfrm>
          <a:custGeom>
            <a:avLst/>
            <a:gdLst/>
            <a:ahLst/>
            <a:cxnLst/>
            <a:rect l="l" t="t" r="r" b="b"/>
            <a:pathLst>
              <a:path w="12192000" h="1746250">
                <a:moveTo>
                  <a:pt x="0" y="603250"/>
                </a:moveTo>
                <a:cubicBezTo>
                  <a:pt x="1016000" y="349250"/>
                  <a:pt x="2032000" y="317500"/>
                  <a:pt x="3048000" y="508000"/>
                </a:cubicBezTo>
                <a:cubicBezTo>
                  <a:pt x="4064000" y="698500"/>
                  <a:pt x="5080000" y="635000"/>
                  <a:pt x="6096000" y="317500"/>
                </a:cubicBezTo>
                <a:cubicBezTo>
                  <a:pt x="7112000" y="0"/>
                  <a:pt x="8128000" y="63500"/>
                  <a:pt x="9144000" y="508000"/>
                </a:cubicBezTo>
                <a:cubicBezTo>
                  <a:pt x="10160000" y="952500"/>
                  <a:pt x="11176000" y="889000"/>
                  <a:pt x="12192000" y="317500"/>
                </a:cubicBezTo>
                <a:lnTo>
                  <a:pt x="12192000" y="1746250"/>
                </a:lnTo>
                <a:lnTo>
                  <a:pt x="0" y="1746250"/>
                </a:lnTo>
                <a:close/>
              </a:path>
            </a:pathLst>
          </a:custGeom>
          <a:solidFill>
            <a:srgbClr val="00B4D8">
              <a:alpha val="6000"/>
            </a:srgbClr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0B4D8"/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0050B3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4927568" y="661035"/>
            <a:ext cx="233686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三条总体判断</a:t>
            </a:r>
          </a:p>
        </p:txBody>
      </p:sp>
      <p:sp>
        <p:nvSpPr>
          <p:cNvPr id="23" name="Rectangle 23"/>
          <p:cNvSpPr/>
          <p:nvPr/>
        </p:nvSpPr>
        <p:spPr>
          <a:xfrm>
            <a:off x="5143500" y="1095375"/>
            <a:ext cx="1905000" cy="28575"/>
          </a:xfrm>
          <a:prstGeom prst="rect">
            <a:avLst/>
          </a:prstGeom>
          <a:solidFill>
            <a:srgbClr val="00B4D8"/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762000" y="1428750"/>
            <a:ext cx="10668000" cy="1238250"/>
          </a:xfrm>
          <a:prstGeom prst="roundRect">
            <a:avLst>
              <a:gd name="adj" fmla="val 7692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00B4D8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62000" y="1428750"/>
            <a:ext cx="76200" cy="123825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085850" y="1743075"/>
            <a:ext cx="321999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B4D8"/>
                </a:solidFill>
                <a:latin typeface="Segoe UI"/>
                <a:ea typeface="Microsoft YaHei"/>
                <a:cs typeface="Segoe UI"/>
              </a:rPr>
              <a:t>判断一 · 从火力密度转向数据定力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90612" y="2116931"/>
            <a:ext cx="531495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125" dirty="0">
                <a:solidFill>
                  <a:srgbClr val="C8DFF0"/>
                </a:solidFill>
                <a:latin typeface="Segoe UI"/>
                <a:ea typeface="Microsoft YaHei"/>
                <a:cs typeface="Segoe UI"/>
              </a:rPr>
              <a:t>谁掌握数据采集、传输、算力和算法，谁就掌握主动权。</a:t>
            </a:r>
            <a:r>
              <a:rPr lang="zh-CN" sz="1125" dirty="0">
                <a:solidFill>
                  <a:srgbClr val="C8DFF0"/>
                </a:solidFill>
                <a:latin typeface="Segoe UI"/>
                <a:ea typeface="Microsoft YaHei"/>
                <a:cs typeface="Segoe UI"/>
              </a:rPr>
              <a:t>从德黑兰的摄像头到星链终端，从网络骨干网到数据中心，数据流贯穿战争全周期。</a:t>
            </a:r>
          </a:p>
        </p:txBody>
      </p:sp>
      <p:sp>
        <p:nvSpPr>
          <p:cNvPr id="28" name="Rectangle 28"/>
          <p:cNvSpPr/>
          <p:nvPr/>
        </p:nvSpPr>
        <p:spPr>
          <a:xfrm>
            <a:off x="762000" y="2857500"/>
            <a:ext cx="10668000" cy="1238250"/>
          </a:xfrm>
          <a:prstGeom prst="roundRect">
            <a:avLst>
              <a:gd name="adj" fmla="val 7692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00B4D8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762000" y="2857500"/>
            <a:ext cx="76200" cy="123825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1085850" y="3171825"/>
            <a:ext cx="321999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B4D8"/>
                </a:solidFill>
                <a:latin typeface="Segoe UI"/>
                <a:ea typeface="Microsoft YaHei"/>
                <a:cs typeface="Segoe UI"/>
              </a:rPr>
              <a:t>判断二 · 民用基础设施即战场延伸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90612" y="3545681"/>
            <a:ext cx="5457825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125" dirty="0">
                <a:solidFill>
                  <a:srgbClr val="C8DFF0"/>
                </a:solidFill>
                <a:latin typeface="Segoe UI"/>
                <a:ea typeface="Microsoft YaHei"/>
                <a:cs typeface="Segoe UI"/>
              </a:rPr>
              <a:t>交通摄像头、云数据中心、低轨卫星互联网、手机应用程序——这些日常数字服务，</a:t>
            </a:r>
            <a:r>
              <a:rPr lang="zh-CN" sz="1125" dirty="0">
                <a:solidFill>
                  <a:srgbClr val="C8DFF0"/>
                </a:solidFill>
                <a:latin typeface="Segoe UI"/>
                <a:ea typeface="Microsoft YaHei"/>
                <a:cs typeface="Segoe UI"/>
              </a:rPr>
              <a:t>在战时瞬间转化为情报来源、打击目标和攻防工具。民用与军用之间的界限已经消失。</a:t>
            </a:r>
          </a:p>
        </p:txBody>
      </p:sp>
      <p:sp>
        <p:nvSpPr>
          <p:cNvPr id="32" name="Rectangle 32"/>
          <p:cNvSpPr/>
          <p:nvPr/>
        </p:nvSpPr>
        <p:spPr>
          <a:xfrm>
            <a:off x="762000" y="4286250"/>
            <a:ext cx="10668000" cy="1238250"/>
          </a:xfrm>
          <a:prstGeom prst="roundRect">
            <a:avLst>
              <a:gd name="adj" fmla="val 7692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00B4D8"/>
            </a:solidFill>
          </a:ln>
        </p:spPr>
      </p:sp>
      <p:sp>
        <p:nvSpPr>
          <p:cNvPr id="33" name="Rectangle 33"/>
          <p:cNvSpPr/>
          <p:nvPr/>
        </p:nvSpPr>
        <p:spPr>
          <a:xfrm>
            <a:off x="762000" y="4286250"/>
            <a:ext cx="76200" cy="123825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1085850" y="4600575"/>
            <a:ext cx="36400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B4D8"/>
                </a:solidFill>
                <a:latin typeface="Segoe UI"/>
                <a:ea typeface="Microsoft YaHei"/>
                <a:cs typeface="Segoe UI"/>
              </a:rPr>
              <a:t>判断三 · 数据战没有单方面的绝对优势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90612" y="4974431"/>
            <a:ext cx="4314825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125" dirty="0">
                <a:solidFill>
                  <a:srgbClr val="C8DFF0"/>
                </a:solidFill>
                <a:latin typeface="Segoe UI"/>
                <a:ea typeface="Microsoft YaHei"/>
                <a:cs typeface="Segoe UI"/>
              </a:rPr>
              <a:t>伊朗以非对称手段打击数据中心、击落无人机、没收星链终端，</a:t>
            </a:r>
            <a:r>
              <a:rPr lang="zh-CN" sz="1125" dirty="0">
                <a:solidFill>
                  <a:srgbClr val="C8DFF0"/>
                </a:solidFill>
                <a:latin typeface="Segoe UI"/>
                <a:ea typeface="Microsoft YaHei"/>
                <a:cs typeface="Segoe UI"/>
              </a:rPr>
              <a:t>说明即使是技术弱势一方，也能找到强者的数据节点实施致命打击。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280410" y="5966460"/>
            <a:ext cx="56311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8AB4E8"/>
                </a:solidFill>
                <a:latin typeface="Segoe UI"/>
                <a:ea typeface="Microsoft YaHei"/>
                <a:cs typeface="Segoe UI"/>
              </a:rPr>
              <a:t>下一次战争的第一声警报，可能不是防空雷达的蜂鸣，而是数据中心的断电报警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477054" y="6522720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8DB5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2026-06-21T12:00:54Z</dcterms:created>
  <dcterms:modified xsi:type="dcterms:W3CDTF">2026-06-21T12:00:54Z</dcterms:modified>
  <cp:category/>
  <cp:contentStatus/>
</cp:coreProperties>
</file>