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2C61"/>
              </a:gs>
              <a:gs pos="100000">
                <a:srgbClr val="001F45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ltUpDiag">
            <a:fgClr>
              <a:srgbClr val="0066CC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5334000"/>
            <a:ext cx="12192000" cy="1524000"/>
          </a:xfrm>
          <a:prstGeom prst="rect">
            <a:avLst/>
          </a:prstGeom>
          <a:solidFill>
            <a:srgbClr val="00418D">
              <a:alpha val="35000"/>
            </a:srgbClr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0066CC">
                <a:alpha val="30000"/>
              </a:srgbClr>
            </a:solidFill>
          </a:ln>
        </p:spPr>
      </p:sp>
      <p:sp>
        <p:nvSpPr>
          <p:cNvPr id="6" name="Rectangle 6"/>
          <p:cNvSpPr/>
          <p:nvPr/>
        </p:nvSpPr>
        <p:spPr>
          <a:xfrm>
            <a:off x="762000" y="2476500"/>
            <a:ext cx="38100" cy="1333500"/>
          </a:xfrm>
          <a:prstGeom prst="rect">
            <a:avLst/>
          </a:prstGeom>
          <a:solidFill>
            <a:srgbClr val="0066CC">
              <a:alpha val="50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924504" y="2517458"/>
            <a:ext cx="6342993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关于2026年美以对伊军事冲突中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50719" y="3069908"/>
            <a:ext cx="4490561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信息数据战的分析报告</a:t>
            </a:r>
          </a:p>
        </p:txBody>
      </p:sp>
      <p:sp>
        <p:nvSpPr>
          <p:cNvPr id="9" name="Line 9"/>
          <p:cNvSpPr/>
          <p:nvPr/>
        </p:nvSpPr>
        <p:spPr>
          <a:xfrm>
            <a:off x="4191000" y="371475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19050">
            <a:solidFill>
              <a:srgbClr val="0066CC">
                <a:alpha val="60000"/>
              </a:srgbClr>
            </a:solidFill>
          </a:ln>
        </p:spPr>
      </p:sp>
      <p:sp>
        <p:nvSpPr>
          <p:cNvPr id="10" name="Ellipse 10"/>
          <p:cNvSpPr/>
          <p:nvPr/>
        </p:nvSpPr>
        <p:spPr>
          <a:xfrm>
            <a:off x="6067425" y="3686175"/>
            <a:ext cx="57150" cy="57150"/>
          </a:xfrm>
          <a:prstGeom prst="ellipse">
            <a:avLst/>
          </a:prstGeom>
          <a:solidFill>
            <a:srgbClr val="0066CC">
              <a:alpha val="80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376862" y="3933825"/>
            <a:ext cx="14382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E2E8F0">
                    <a:alphaMod val="80000"/>
                  </a:srgbClr>
                </a:solidFill>
                <a:latin typeface="Segoe UI"/>
                <a:ea typeface="Microsoft YaHei"/>
                <a:cs typeface="Segoe UI"/>
              </a:rPr>
              <a:t>（供内部参阅）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51302" y="5855018"/>
            <a:ext cx="8893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2E8F0">
                    <a:alphaMod val="60000"/>
                  </a:srgbClr>
                </a:solidFill>
                <a:latin typeface="Segoe UI"/>
                <a:ea typeface="Microsoft YaHei"/>
                <a:cs typeface="Segoe UI"/>
              </a:rPr>
              <a:t>2026年6月</a:t>
            </a:r>
          </a:p>
        </p:txBody>
      </p:sp>
      <p:sp>
        <p:nvSpPr>
          <p:cNvPr id="13" name="Ellipse 13"/>
          <p:cNvSpPr/>
          <p:nvPr/>
        </p:nvSpPr>
        <p:spPr>
          <a:xfrm>
            <a:off x="10287000" y="381000"/>
            <a:ext cx="1143000" cy="1143000"/>
          </a:xfrm>
          <a:prstGeom prst="ellipse">
            <a:avLst/>
          </a:prstGeom>
          <a:noFill/>
          <a:ln w="9525">
            <a:solidFill>
              <a:srgbClr val="0066CC">
                <a:alpha val="15000"/>
              </a:srgbClr>
            </a:solidFill>
          </a:ln>
        </p:spPr>
      </p:sp>
      <p:sp>
        <p:nvSpPr>
          <p:cNvPr id="14" name="Ellipse 14"/>
          <p:cNvSpPr/>
          <p:nvPr/>
        </p:nvSpPr>
        <p:spPr>
          <a:xfrm>
            <a:off x="10477500" y="571500"/>
            <a:ext cx="762000" cy="762000"/>
          </a:xfrm>
          <a:prstGeom prst="ellipse">
            <a:avLst/>
          </a:prstGeom>
          <a:noFill/>
          <a:ln w="4762">
            <a:solidFill>
              <a:srgbClr val="0066CC">
                <a:alpha val="10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10477500" y="400050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0" y="762000"/>
                </a:moveTo>
                <a:lnTo>
                  <a:pt x="952500" y="0"/>
                </a:lnTo>
              </a:path>
            </a:pathLst>
          </a:custGeom>
          <a:noFill/>
          <a:ln w="9525">
            <a:solidFill>
              <a:srgbClr val="0066CC">
                <a:alpha val="20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10668000" y="419100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0" y="762000"/>
                </a:moveTo>
                <a:lnTo>
                  <a:pt x="952500" y="0"/>
                </a:lnTo>
              </a:path>
            </a:pathLst>
          </a:custGeom>
          <a:noFill/>
          <a:ln w="4762">
            <a:solidFill>
              <a:srgbClr val="0066CC">
                <a:alpha val="15000"/>
              </a:srgbClr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00418D"/>
              </a:gs>
              <a:gs pos="100000">
                <a:srgbClr val="072C61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762000" y="952500"/>
            <a:ext cx="3810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18210" y="946785"/>
            <a:ext cx="93808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18D"/>
                </a:solidFill>
                <a:latin typeface="Segoe UI"/>
                <a:ea typeface="Microsoft YaHei"/>
                <a:cs typeface="Segoe UI"/>
              </a:rPr>
              <a:t>目 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7260" y="13754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CONTENTS</a:t>
            </a:r>
          </a:p>
        </p:txBody>
      </p:sp>
      <p:sp>
        <p:nvSpPr>
          <p:cNvPr id="7" name="Line 7"/>
          <p:cNvSpPr/>
          <p:nvPr/>
        </p:nvSpPr>
        <p:spPr>
          <a:xfrm>
            <a:off x="762000" y="16192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1905000"/>
            <a:ext cx="5048250" cy="66675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762000" y="1905000"/>
            <a:ext cx="57150" cy="666750"/>
          </a:xfrm>
          <a:prstGeom prst="rect">
            <a:avLst/>
          </a:prstGeom>
          <a:solidFill>
            <a:srgbClr val="00418D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6038850" y="2181225"/>
            <a:ext cx="114300" cy="114300"/>
          </a:xfrm>
          <a:prstGeom prst="ellipse">
            <a:avLst/>
          </a:prstGeom>
          <a:solidFill>
            <a:srgbClr val="00418D"/>
          </a:solidFill>
          <a:ln>
            <a:noFill/>
          </a:ln>
        </p:spPr>
      </p:sp>
      <p:sp>
        <p:nvSpPr>
          <p:cNvPr id="11" name="Line 11"/>
          <p:cNvSpPr/>
          <p:nvPr/>
        </p:nvSpPr>
        <p:spPr>
          <a:xfrm>
            <a:off x="5810250" y="2238375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00418D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028700" y="2028825"/>
            <a:ext cx="339852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202C"/>
                </a:solidFill>
                <a:latin typeface="Segoe UI"/>
                <a:ea typeface="Microsoft YaHei"/>
                <a:cs typeface="Segoe UI"/>
              </a:rPr>
              <a:t>一、民用监控系统已成为战略情报源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4415" y="2306002"/>
            <a:ext cx="34150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以色列8200部队渗透伊朗交通摄像头 · AI行为模式分析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191250" y="1905000"/>
            <a:ext cx="5048250" cy="66675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6191250" y="1905000"/>
            <a:ext cx="57150" cy="66675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6038850" y="2847975"/>
            <a:ext cx="114300" cy="11430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7" name="Line 17"/>
          <p:cNvSpPr/>
          <p:nvPr/>
        </p:nvSpPr>
        <p:spPr>
          <a:xfrm>
            <a:off x="6096000" y="2571750"/>
            <a:ext cx="9525" cy="333375"/>
          </a:xfrm>
          <a:custGeom>
            <a:avLst/>
            <a:gdLst/>
            <a:ahLst/>
            <a:cxnLst/>
            <a:rect l="l" t="t" r="r" b="b"/>
            <a:pathLst>
              <a:path w="9525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/>
          <a:ln w="19050">
            <a:solidFill>
              <a:srgbClr val="C41E3A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457950" y="2028825"/>
            <a:ext cx="341952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202C"/>
                </a:solidFill>
                <a:latin typeface="Segoe UI"/>
                <a:ea typeface="Microsoft YaHei"/>
                <a:cs typeface="Segoe UI"/>
              </a:rPr>
              <a:t>二、网络阻断已成为开战的"第一枪"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3665" y="2306002"/>
            <a:ext cx="26870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伊朗网络流量跌至4% · 数字+物理同步打击</a:t>
            </a:r>
          </a:p>
        </p:txBody>
      </p:sp>
      <p:sp>
        <p:nvSpPr>
          <p:cNvPr id="20" name="Line 20"/>
          <p:cNvSpPr/>
          <p:nvPr/>
        </p:nvSpPr>
        <p:spPr>
          <a:xfrm>
            <a:off x="6096000" y="2571750"/>
            <a:ext cx="9525" cy="333375"/>
          </a:xfrm>
          <a:custGeom>
            <a:avLst/>
            <a:gdLst/>
            <a:ahLst/>
            <a:cxnLst/>
            <a:rect l="l" t="t" r="r" b="b"/>
            <a:pathLst>
              <a:path w="9525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/>
          <a:ln w="19050">
            <a:solidFill>
              <a:srgbClr val="C41E3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762000" y="2952750"/>
            <a:ext cx="5048250" cy="66675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762000" y="2952750"/>
            <a:ext cx="57150" cy="666750"/>
          </a:xfrm>
          <a:prstGeom prst="rect">
            <a:avLst/>
          </a:prstGeom>
          <a:solidFill>
            <a:srgbClr val="00418D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6038850" y="3228975"/>
            <a:ext cx="114300" cy="114300"/>
          </a:xfrm>
          <a:prstGeom prst="ellipse">
            <a:avLst/>
          </a:prstGeom>
          <a:solidFill>
            <a:srgbClr val="00418D"/>
          </a:solidFill>
          <a:ln>
            <a:noFill/>
          </a:ln>
        </p:spPr>
      </p:sp>
      <p:sp>
        <p:nvSpPr>
          <p:cNvPr id="24" name="Line 24"/>
          <p:cNvSpPr/>
          <p:nvPr/>
        </p:nvSpPr>
        <p:spPr>
          <a:xfrm>
            <a:off x="5810250" y="3286125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00418D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028700" y="3076575"/>
            <a:ext cx="318849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202C"/>
                </a:solidFill>
                <a:latin typeface="Segoe UI"/>
                <a:ea typeface="Microsoft YaHei"/>
                <a:cs typeface="Segoe UI"/>
              </a:rPr>
              <a:t>三、战争账单本质上就是数据账单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34415" y="3353752"/>
            <a:ext cx="33590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前六天127亿美元 · 每一枚导弹都是一台会飞的计算机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191250" y="2952750"/>
            <a:ext cx="5048250" cy="66675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6191250" y="2952750"/>
            <a:ext cx="57150" cy="66675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6038850" y="3562350"/>
            <a:ext cx="114300" cy="11430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7950" y="3076575"/>
            <a:ext cx="339852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202C"/>
                </a:solidFill>
                <a:latin typeface="Segoe UI"/>
                <a:ea typeface="Microsoft YaHei"/>
                <a:cs typeface="Segoe UI"/>
              </a:rPr>
              <a:t>四、算力节点已成为高价值战略目标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463665" y="3353752"/>
            <a:ext cx="25679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伊朗非对称反击 · 不打航母专打数据中心</a:t>
            </a:r>
          </a:p>
        </p:txBody>
      </p:sp>
      <p:sp>
        <p:nvSpPr>
          <p:cNvPr id="32" name="Line 32"/>
          <p:cNvSpPr/>
          <p:nvPr/>
        </p:nvSpPr>
        <p:spPr>
          <a:xfrm>
            <a:off x="6096000" y="3619500"/>
            <a:ext cx="9525" cy="333375"/>
          </a:xfrm>
          <a:custGeom>
            <a:avLst/>
            <a:gdLst/>
            <a:ahLst/>
            <a:cxnLst/>
            <a:rect l="l" t="t" r="r" b="b"/>
            <a:pathLst>
              <a:path w="9525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/>
          <a:ln w="19050">
            <a:solidFill>
              <a:srgbClr val="00418D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762000" y="4000500"/>
            <a:ext cx="5048250" cy="66675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762000" y="4000500"/>
            <a:ext cx="57150" cy="666750"/>
          </a:xfrm>
          <a:prstGeom prst="rect">
            <a:avLst/>
          </a:prstGeom>
          <a:solidFill>
            <a:srgbClr val="00418D"/>
          </a:solidFill>
          <a:ln>
            <a:noFill/>
          </a:ln>
        </p:spPr>
      </p:sp>
      <p:sp>
        <p:nvSpPr>
          <p:cNvPr id="35" name="Ellipse 35"/>
          <p:cNvSpPr/>
          <p:nvPr/>
        </p:nvSpPr>
        <p:spPr>
          <a:xfrm>
            <a:off x="6038850" y="4276725"/>
            <a:ext cx="114300" cy="114300"/>
          </a:xfrm>
          <a:prstGeom prst="ellipse">
            <a:avLst/>
          </a:prstGeom>
          <a:solidFill>
            <a:srgbClr val="00418D"/>
          </a:solidFill>
          <a:ln>
            <a:noFill/>
          </a:ln>
        </p:spPr>
      </p:sp>
      <p:sp>
        <p:nvSpPr>
          <p:cNvPr id="36" name="Line 36"/>
          <p:cNvSpPr/>
          <p:nvPr/>
        </p:nvSpPr>
        <p:spPr>
          <a:xfrm>
            <a:off x="5810250" y="4333875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00418D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028700" y="4124325"/>
            <a:ext cx="276844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202C"/>
                </a:solidFill>
                <a:latin typeface="Segoe UI"/>
                <a:ea typeface="Microsoft YaHei"/>
                <a:cs typeface="Segoe UI"/>
              </a:rPr>
              <a:t>五、没有绝对安全的通信手段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34415" y="4401502"/>
            <a:ext cx="22879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星链渗透伊朗 · 射频干扰与全国搜剿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191250" y="4000500"/>
            <a:ext cx="5048250" cy="666750"/>
          </a:xfrm>
          <a:prstGeom prst="roundRect">
            <a:avLst>
              <a:gd name="adj" fmla="val 5714"/>
            </a:avLst>
          </a:prstGeom>
          <a:solidFill>
            <a:srgbClr val="E8F0FE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6191250" y="4000500"/>
            <a:ext cx="57150" cy="6667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457950" y="412432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418D"/>
                </a:solidFill>
                <a:latin typeface="Segoe UI"/>
                <a:ea typeface="Microsoft YaHei"/>
                <a:cs typeface="Segoe UI"/>
              </a:rPr>
              <a:t>三条总体判断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463665" y="4401502"/>
            <a:ext cx="34290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从火力密度转向数据定力 · 民用即战场 · 没有绝对优势</a:t>
            </a:r>
          </a:p>
        </p:txBody>
      </p:sp>
      <p:sp>
        <p:nvSpPr>
          <p:cNvPr id="43" name="Line 43"/>
          <p:cNvSpPr/>
          <p:nvPr/>
        </p:nvSpPr>
        <p:spPr>
          <a:xfrm>
            <a:off x="762000" y="9525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rgbClr val="00418D"/>
            </a:solidFill>
          </a:ln>
        </p:spPr>
      </p:sp>
      <p:sp>
        <p:nvSpPr>
          <p:cNvPr id="44" name="Line 44"/>
          <p:cNvSpPr/>
          <p:nvPr/>
        </p:nvSpPr>
        <p:spPr>
          <a:xfrm>
            <a:off x="762000" y="95250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00418D"/>
            </a:solidFill>
          </a:ln>
        </p:spPr>
      </p:sp>
      <p:sp>
        <p:nvSpPr>
          <p:cNvPr id="45" name="Line 45"/>
          <p:cNvSpPr/>
          <p:nvPr/>
        </p:nvSpPr>
        <p:spPr>
          <a:xfrm>
            <a:off x="11430000" y="9525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rgbClr val="00418D"/>
            </a:solidFill>
          </a:ln>
        </p:spPr>
      </p:sp>
      <p:sp>
        <p:nvSpPr>
          <p:cNvPr id="46" name="Line 46"/>
          <p:cNvSpPr/>
          <p:nvPr/>
        </p:nvSpPr>
        <p:spPr>
          <a:xfrm>
            <a:off x="11239500" y="95250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19050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418D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2C61"/>
              </a:gs>
              <a:gs pos="100000">
                <a:srgbClr val="001F45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ltUpDiag">
            <a:fgClr>
              <a:srgbClr val="0066CC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884920" y="2162175"/>
            <a:ext cx="2422160" cy="274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0" b="1" dirty="0">
                <a:solidFill>
                  <a:srgbClr val="FFFFFF">
                    <a:alphaMod val="4000"/>
                  </a:srgbClr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2286000"/>
            <a:ext cx="57150" cy="1143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3747611" y="2533650"/>
            <a:ext cx="469677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一、民用监控系统已成为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07769" y="3009900"/>
            <a:ext cx="217646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战略情报源</a:t>
            </a:r>
          </a:p>
        </p:txBody>
      </p:sp>
      <p:sp>
        <p:nvSpPr>
          <p:cNvPr id="8" name="Line 8"/>
          <p:cNvSpPr/>
          <p:nvPr/>
        </p:nvSpPr>
        <p:spPr>
          <a:xfrm>
            <a:off x="4667250" y="361950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67425" y="3590925"/>
            <a:ext cx="57150" cy="5715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805196" y="3854768"/>
            <a:ext cx="25816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2E8F0">
                    <a:alphaMod val="70000"/>
                  </a:srgbClr>
                </a:solidFill>
                <a:latin typeface="Segoe UI"/>
                <a:ea typeface="Microsoft YaHei"/>
                <a:cs typeface="Segoe UI"/>
              </a:rPr>
              <a:t>城市交通摄像头 → 全天候瞄准镜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953000" y="4381500"/>
            <a:ext cx="2286000" cy="304800"/>
          </a:xfrm>
          <a:prstGeom prst="roundRect">
            <a:avLst>
              <a:gd name="adj" fmla="val 12500"/>
            </a:avLst>
          </a:prstGeom>
          <a:noFill/>
          <a:ln w="9525">
            <a:solidFill>
              <a:srgbClr val="0066CC">
                <a:alpha val="40000"/>
              </a:srgbClr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078039" y="4477702"/>
            <a:ext cx="20359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2E8F0">
                    <a:alphaMod val="60000"/>
                  </a:srgbClr>
                </a:solidFill>
                <a:latin typeface="Segoe UI"/>
                <a:ea typeface="Microsoft YaHei"/>
                <a:cs typeface="Segoe UI"/>
              </a:rPr>
              <a:t>8200部队 · 摩萨德 · AI模式识别</a:t>
            </a:r>
          </a:p>
        </p:txBody>
      </p:sp>
      <p:sp>
        <p:nvSpPr>
          <p:cNvPr id="13" name="Line 13"/>
          <p:cNvSpPr/>
          <p:nvPr/>
        </p:nvSpPr>
        <p:spPr>
          <a:xfrm>
            <a:off x="762000" y="7620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rgbClr val="0066CC">
                <a:alpha val="40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762000" y="76200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0066CC">
                <a:alpha val="40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11430000" y="7620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rgbClr val="0066CC">
                <a:alpha val="40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11239500" y="76200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19050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66CC">
                <a:alpha val="40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10477500" y="40005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762000"/>
                </a:moveTo>
                <a:lnTo>
                  <a:pt x="762000" y="0"/>
                </a:lnTo>
              </a:path>
            </a:pathLst>
          </a:custGeom>
          <a:noFill/>
          <a:ln w="9525">
            <a:solidFill>
              <a:srgbClr val="0066CC">
                <a:alpha val="15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10668000" y="4191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762000"/>
                </a:moveTo>
                <a:lnTo>
                  <a:pt x="762000" y="0"/>
                </a:lnTo>
              </a:path>
            </a:pathLst>
          </a:custGeom>
          <a:noFill/>
          <a:ln w="4762">
            <a:solidFill>
              <a:srgbClr val="0066CC">
                <a:alpha val="10000"/>
              </a:srgbClr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00418D"/>
              </a:gs>
              <a:gs pos="100000">
                <a:srgbClr val="072C61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762000" y="952500"/>
            <a:ext cx="38100" cy="3429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25830" y="1011555"/>
            <a:ext cx="240563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418D"/>
                </a:solidFill>
                <a:latin typeface="Segoe UI"/>
                <a:ea typeface="Microsoft YaHei"/>
                <a:cs typeface="Segoe UI"/>
              </a:rPr>
              <a:t>从摄像头到瞄准镜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8212" y="1354931"/>
            <a:ext cx="29239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CASE STUDY: FROM CAMERA TO CROSSHAIR</a:t>
            </a:r>
          </a:p>
        </p:txBody>
      </p:sp>
      <p:sp>
        <p:nvSpPr>
          <p:cNvPr id="7" name="Line 7"/>
          <p:cNvSpPr/>
          <p:nvPr/>
        </p:nvSpPr>
        <p:spPr>
          <a:xfrm>
            <a:off x="762000" y="16192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1809750"/>
            <a:ext cx="10668000" cy="419100"/>
          </a:xfrm>
          <a:prstGeom prst="roundRect">
            <a:avLst>
              <a:gd name="adj" fmla="val 9091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762000" y="1809750"/>
            <a:ext cx="38100" cy="4191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37260" y="1946910"/>
            <a:ext cx="53991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202C"/>
                </a:solidFill>
                <a:latin typeface="Segoe UI"/>
                <a:ea typeface="Microsoft YaHei"/>
                <a:cs typeface="Segoe UI"/>
              </a:rPr>
              <a:t>核心洞察：民用监控设施的战时军事价值急剧上升，城市智慧化=战场透明化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2476500"/>
            <a:ext cx="3333750" cy="1905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62000" y="2476500"/>
            <a:ext cx="3333750" cy="38100"/>
          </a:xfrm>
          <a:prstGeom prst="roundRect">
            <a:avLst>
              <a:gd name="adj" fmla="val 50000"/>
            </a:avLst>
          </a:prstGeom>
          <a:solidFill>
            <a:srgbClr val="00418D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35355" y="266414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418D"/>
                </a:solidFill>
                <a:latin typeface="Segoe UI"/>
                <a:ea typeface="Microsoft YaHei"/>
                <a:cs typeface="Segoe UI"/>
              </a:rPr>
              <a:t>渗透行动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9165" y="2982278"/>
            <a:ext cx="15948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以色列8200部队与摩萨德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9165" y="3191828"/>
            <a:ext cx="1706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多年渗透伊朗民用监控网络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9165" y="3401378"/>
            <a:ext cx="1006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接管设备控制权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9165" y="3610928"/>
            <a:ext cx="1286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实时回传加密视频流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381500" y="2476500"/>
            <a:ext cx="3333750" cy="1905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4381500" y="2476500"/>
            <a:ext cx="3333750" cy="38100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554855" y="2664142"/>
            <a:ext cx="5730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41E3A"/>
                </a:solidFill>
                <a:latin typeface="Segoe UI"/>
                <a:ea typeface="Microsoft YaHei"/>
                <a:cs typeface="Segoe UI"/>
              </a:rPr>
              <a:t>AI分析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58665" y="2982278"/>
            <a:ext cx="1405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AI算法对海量视频进行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58665" y="3191828"/>
            <a:ext cx="1006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行为模式分析：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58665" y="3458528"/>
            <a:ext cx="15458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识别军官车队典型路线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58665" y="3649028"/>
            <a:ext cx="16228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统计人员/车辆出入频率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58665" y="3839528"/>
            <a:ext cx="15458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通过车牌推断隶属关系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001000" y="2476500"/>
            <a:ext cx="3429000" cy="1905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8001000" y="2476500"/>
            <a:ext cx="3429000" cy="381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174355" y="266414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66CC"/>
                </a:solidFill>
                <a:latin typeface="Segoe UI"/>
                <a:ea typeface="Microsoft YaHei"/>
                <a:cs typeface="Segoe UI"/>
              </a:rPr>
              <a:t>精确打击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178165" y="2982278"/>
            <a:ext cx="15458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2026年2月28日开战当天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178165" y="3191828"/>
            <a:ext cx="1566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以色列空军基于情报成果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178165" y="3401378"/>
            <a:ext cx="1426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对德黑兰多个目标实施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178165" y="361092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精确打击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78165" y="3820478"/>
            <a:ext cx="16438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包括军官住所/秘密指挥点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62000" y="4667250"/>
            <a:ext cx="10668000" cy="571500"/>
          </a:xfrm>
          <a:prstGeom prst="roundRect">
            <a:avLst>
              <a:gd name="adj" fmla="val 10000"/>
            </a:avLst>
          </a:prstGeom>
          <a:solidFill>
            <a:srgbClr val="FEF3E8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762000" y="4667250"/>
            <a:ext cx="57150" cy="5715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1032510" y="480441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41E3A"/>
                </a:solidFill>
                <a:latin typeface="Segoe UI"/>
                <a:ea typeface="Microsoft YaHei"/>
                <a:cs typeface="Segoe UI"/>
              </a:rPr>
              <a:t>结论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604962" y="4812506"/>
            <a:ext cx="72594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防御方若不能对监控设备实施严格的密码管理、固件更新和网络隔离，则"城市安全"与"战场透明"仅一线之隔</a:t>
            </a:r>
          </a:p>
        </p:txBody>
      </p:sp>
      <p:sp>
        <p:nvSpPr>
          <p:cNvPr id="38" name="Line 38"/>
          <p:cNvSpPr/>
          <p:nvPr/>
        </p:nvSpPr>
        <p:spPr>
          <a:xfrm>
            <a:off x="762000" y="62865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749618" y="6419374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来源：《金融时报》《路透社》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993940" y="6419374"/>
            <a:ext cx="14484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01 / 信息数据战分析 · 4</a:t>
            </a:r>
          </a:p>
        </p:txBody>
      </p:sp>
      <p:sp>
        <p:nvSpPr>
          <p:cNvPr id="41" name="Line 41"/>
          <p:cNvSpPr/>
          <p:nvPr/>
        </p:nvSpPr>
        <p:spPr>
          <a:xfrm>
            <a:off x="762000" y="952500"/>
            <a:ext cx="9525" cy="142875"/>
          </a:xfrm>
          <a:custGeom>
            <a:avLst/>
            <a:gdLst/>
            <a:ahLst/>
            <a:cxnLst/>
            <a:rect l="l" t="t" r="r" b="b"/>
            <a:pathLst>
              <a:path w="952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19050">
            <a:solidFill>
              <a:srgbClr val="00418D"/>
            </a:solidFill>
          </a:ln>
        </p:spPr>
      </p:sp>
      <p:sp>
        <p:nvSpPr>
          <p:cNvPr id="42" name="Line 42"/>
          <p:cNvSpPr/>
          <p:nvPr/>
        </p:nvSpPr>
        <p:spPr>
          <a:xfrm>
            <a:off x="762000" y="952500"/>
            <a:ext cx="142875" cy="9525"/>
          </a:xfrm>
          <a:custGeom>
            <a:avLst/>
            <a:gdLst/>
            <a:ahLst/>
            <a:cxnLst/>
            <a:rect l="l" t="t" r="r" b="b"/>
            <a:pathLst>
              <a:path w="142875" h="952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19050">
            <a:solidFill>
              <a:srgbClr val="00418D"/>
            </a:solidFill>
          </a:ln>
        </p:spPr>
      </p:sp>
      <p:sp>
        <p:nvSpPr>
          <p:cNvPr id="43" name="Line 43"/>
          <p:cNvSpPr/>
          <p:nvPr/>
        </p:nvSpPr>
        <p:spPr>
          <a:xfrm>
            <a:off x="11430000" y="952500"/>
            <a:ext cx="9525" cy="142875"/>
          </a:xfrm>
          <a:custGeom>
            <a:avLst/>
            <a:gdLst/>
            <a:ahLst/>
            <a:cxnLst/>
            <a:rect l="l" t="t" r="r" b="b"/>
            <a:pathLst>
              <a:path w="952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19050">
            <a:solidFill>
              <a:srgbClr val="00418D"/>
            </a:solidFill>
          </a:ln>
        </p:spPr>
      </p:sp>
      <p:sp>
        <p:nvSpPr>
          <p:cNvPr id="44" name="Line 44"/>
          <p:cNvSpPr/>
          <p:nvPr/>
        </p:nvSpPr>
        <p:spPr>
          <a:xfrm>
            <a:off x="11287125" y="952500"/>
            <a:ext cx="142875" cy="9525"/>
          </a:xfrm>
          <a:custGeom>
            <a:avLst/>
            <a:gdLst/>
            <a:ahLst/>
            <a:cxnLst/>
            <a:rect l="l" t="t" r="r" b="b"/>
            <a:pathLst>
              <a:path w="142875" h="9525">
                <a:moveTo>
                  <a:pt x="142875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418D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2C61"/>
              </a:gs>
              <a:gs pos="100000">
                <a:srgbClr val="001F45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ltUpDiag">
            <a:fgClr>
              <a:srgbClr val="0066CC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884920" y="2162175"/>
            <a:ext cx="2422160" cy="274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0" b="1" dirty="0">
                <a:solidFill>
                  <a:srgbClr val="FFFFFF">
                    <a:alphaMod val="4000"/>
                  </a:srgbClr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2286000"/>
            <a:ext cx="57150" cy="11430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167664" y="2533650"/>
            <a:ext cx="385667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二、网络阻断已成为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66714" y="3009900"/>
            <a:ext cx="305857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开战的"第一枪"</a:t>
            </a:r>
          </a:p>
        </p:txBody>
      </p:sp>
      <p:sp>
        <p:nvSpPr>
          <p:cNvPr id="8" name="Line 8"/>
          <p:cNvSpPr/>
          <p:nvPr/>
        </p:nvSpPr>
        <p:spPr>
          <a:xfrm>
            <a:off x="4667250" y="361950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19050">
            <a:solidFill>
              <a:srgbClr val="C41E3A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67425" y="3590925"/>
            <a:ext cx="57150" cy="5715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818698" y="3854768"/>
            <a:ext cx="25546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2E8F0">
                    <a:alphaMod val="70000"/>
                  </a:srgbClr>
                </a:solidFill>
                <a:latin typeface="Segoe UI"/>
                <a:ea typeface="Microsoft YaHei"/>
                <a:cs typeface="Segoe UI"/>
              </a:rPr>
              <a:t>先断数据神经，再实施物理打击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953000" y="4381500"/>
            <a:ext cx="2286000" cy="304800"/>
          </a:xfrm>
          <a:prstGeom prst="roundRect">
            <a:avLst>
              <a:gd name="adj" fmla="val 12500"/>
            </a:avLst>
          </a:prstGeom>
          <a:noFill/>
          <a:ln w="9525">
            <a:solidFill>
              <a:srgbClr val="C41E3A">
                <a:alpha val="40000"/>
              </a:srgbClr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4962525" y="4477702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2E8F0">
                    <a:alphaMod val="60000"/>
                  </a:srgbClr>
                </a:solidFill>
                <a:latin typeface="Segoe UI"/>
                <a:ea typeface="Microsoft YaHei"/>
                <a:cs typeface="Segoe UI"/>
              </a:rPr>
              <a:t>NetBlocks · Cloudflare · 流量归零</a:t>
            </a:r>
          </a:p>
        </p:txBody>
      </p:sp>
      <p:sp>
        <p:nvSpPr>
          <p:cNvPr id="13" name="Line 13"/>
          <p:cNvSpPr/>
          <p:nvPr/>
        </p:nvSpPr>
        <p:spPr>
          <a:xfrm>
            <a:off x="762000" y="7620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rgbClr val="0066CC">
                <a:alpha val="40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762000" y="76200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0066CC">
                <a:alpha val="40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11430000" y="7620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rgbClr val="0066CC">
                <a:alpha val="40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11239500" y="76200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19050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66CC">
                <a:alpha val="40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10477500" y="40005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762000"/>
                </a:moveTo>
                <a:lnTo>
                  <a:pt x="762000" y="0"/>
                </a:lnTo>
              </a:path>
            </a:pathLst>
          </a:custGeom>
          <a:noFill/>
          <a:ln w="9525">
            <a:solidFill>
              <a:srgbClr val="C41E3A">
                <a:alpha val="15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10668000" y="4191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762000"/>
                </a:moveTo>
                <a:lnTo>
                  <a:pt x="762000" y="0"/>
                </a:lnTo>
              </a:path>
            </a:pathLst>
          </a:custGeom>
          <a:noFill/>
          <a:ln w="4762">
            <a:solidFill>
              <a:srgbClr val="C41E3A">
                <a:alpha val="10000"/>
              </a:srgbClr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00418D"/>
              </a:gs>
              <a:gs pos="100000">
                <a:srgbClr val="072C61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762000" y="952500"/>
            <a:ext cx="38100" cy="3429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25830" y="1011555"/>
            <a:ext cx="155292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418D"/>
                </a:solidFill>
                <a:latin typeface="Segoe UI"/>
                <a:ea typeface="Microsoft YaHei"/>
                <a:cs typeface="Segoe UI"/>
              </a:rPr>
              <a:t>断网72小时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8212" y="1354931"/>
            <a:ext cx="32389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CASE STUDY: 72 HOURS OF INTERNET BLACKOUT</a:t>
            </a:r>
          </a:p>
        </p:txBody>
      </p:sp>
      <p:sp>
        <p:nvSpPr>
          <p:cNvPr id="7" name="Line 7"/>
          <p:cNvSpPr/>
          <p:nvPr/>
        </p:nvSpPr>
        <p:spPr>
          <a:xfrm>
            <a:off x="762000" y="16192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1905000"/>
            <a:ext cx="2476500" cy="85725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20229" y="1946910"/>
            <a:ext cx="56004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4%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56836" y="2363152"/>
            <a:ext cx="1286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伊朗网络流量最低值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524250" y="1905000"/>
            <a:ext cx="2476500" cy="85725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378516" y="1946910"/>
            <a:ext cx="76796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98%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89095" y="2363152"/>
            <a:ext cx="11468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较前一周下降幅度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286500" y="1905000"/>
            <a:ext cx="2476500" cy="85725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706012" y="1946910"/>
            <a:ext cx="163747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7:00 UTC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75848" y="2363152"/>
            <a:ext cx="10978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2月28日开战时间</a:t>
            </a:r>
          </a:p>
        </p:txBody>
      </p:sp>
      <p:sp>
        <p:nvSpPr>
          <p:cNvPr id="17" name="Rectangle 17"/>
          <p:cNvSpPr/>
          <p:nvPr/>
        </p:nvSpPr>
        <p:spPr>
          <a:xfrm>
            <a:off x="9048750" y="1905000"/>
            <a:ext cx="2381250" cy="85725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855391" y="1946910"/>
            <a:ext cx="76796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≈0%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65970" y="2363152"/>
            <a:ext cx="11468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德黑兰等主要省份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4855" y="29975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418D"/>
                </a:solidFill>
                <a:latin typeface="Segoe UI"/>
                <a:ea typeface="Microsoft YaHei"/>
                <a:cs typeface="Segoe UI"/>
              </a:rPr>
              <a:t>事件时序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62000" y="3333750"/>
            <a:ext cx="10668000" cy="5715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762000" y="3333750"/>
            <a:ext cx="57150" cy="571500"/>
          </a:xfrm>
          <a:prstGeom prst="rect">
            <a:avLst/>
          </a:prstGeom>
          <a:solidFill>
            <a:srgbClr val="00418D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32510" y="3470910"/>
            <a:ext cx="20971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202C"/>
                </a:solidFill>
                <a:latin typeface="Segoe UI"/>
                <a:ea typeface="Microsoft YaHei"/>
                <a:cs typeface="Segoe UI"/>
              </a:rPr>
              <a:t>7:00 UTC · 网络断崖式下跌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4415" y="3677602"/>
            <a:ext cx="34851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NetBlocks监测显示伊朗全国互联网流量开始断崖式下跌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62000" y="4000500"/>
            <a:ext cx="10668000" cy="5715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762000" y="4000500"/>
            <a:ext cx="57150" cy="5715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032510" y="4137660"/>
            <a:ext cx="22147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202C"/>
                </a:solidFill>
                <a:latin typeface="Segoe UI"/>
                <a:ea typeface="Microsoft YaHei"/>
                <a:cs typeface="Segoe UI"/>
              </a:rPr>
              <a:t>网络攻击与军事打击同步展开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4415" y="4344352"/>
            <a:ext cx="32400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IRNA、塔斯尼姆通讯社等主要新闻网站遭入侵或下线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62000" y="4667250"/>
            <a:ext cx="10668000" cy="5715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762000" y="4667250"/>
            <a:ext cx="57150" cy="5715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032510" y="4804410"/>
            <a:ext cx="26180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202C"/>
                </a:solidFill>
                <a:latin typeface="Segoe UI"/>
                <a:ea typeface="Microsoft YaHei"/>
                <a:cs typeface="Segoe UI"/>
              </a:rPr>
              <a:t>心理战：BadeSaba祈祷应用被劫持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34415" y="5011102"/>
            <a:ext cx="29670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伊朗国内主流祈祷应用遭劫持，推送心理战信息</a:t>
            </a:r>
          </a:p>
        </p:txBody>
      </p:sp>
      <p:sp>
        <p:nvSpPr>
          <p:cNvPr id="33" name="Rectangle 33"/>
          <p:cNvSpPr/>
          <p:nvPr/>
        </p:nvSpPr>
        <p:spPr>
          <a:xfrm>
            <a:off x="762000" y="5524500"/>
            <a:ext cx="10668000" cy="476250"/>
          </a:xfrm>
          <a:prstGeom prst="roundRect">
            <a:avLst>
              <a:gd name="adj" fmla="val 12000"/>
            </a:avLst>
          </a:prstGeom>
          <a:solidFill>
            <a:srgbClr val="FEF3E8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762000" y="5524500"/>
            <a:ext cx="57150" cy="47625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033462" y="5688806"/>
            <a:ext cx="81295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网络战的窗口可能只有数小时，但这数小时足以决定整场战局的走向。关键信息基础设施的供应链安全已与航母同等重要。</a:t>
            </a:r>
          </a:p>
        </p:txBody>
      </p:sp>
      <p:sp>
        <p:nvSpPr>
          <p:cNvPr id="36" name="Line 36"/>
          <p:cNvSpPr/>
          <p:nvPr/>
        </p:nvSpPr>
        <p:spPr>
          <a:xfrm>
            <a:off x="762000" y="62865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749618" y="6419374"/>
            <a:ext cx="22220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来源：NetBlocks · Cloudflare Radar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993940" y="6419374"/>
            <a:ext cx="14484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02 / 信息数据战分析 · 6</a:t>
            </a:r>
          </a:p>
        </p:txBody>
      </p:sp>
      <p:sp>
        <p:nvSpPr>
          <p:cNvPr id="39" name="Line 39"/>
          <p:cNvSpPr/>
          <p:nvPr/>
        </p:nvSpPr>
        <p:spPr>
          <a:xfrm>
            <a:off x="762000" y="952500"/>
            <a:ext cx="9525" cy="142875"/>
          </a:xfrm>
          <a:custGeom>
            <a:avLst/>
            <a:gdLst/>
            <a:ahLst/>
            <a:cxnLst/>
            <a:rect l="l" t="t" r="r" b="b"/>
            <a:pathLst>
              <a:path w="952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19050">
            <a:solidFill>
              <a:srgbClr val="00418D"/>
            </a:solidFill>
          </a:ln>
        </p:spPr>
      </p:sp>
      <p:sp>
        <p:nvSpPr>
          <p:cNvPr id="40" name="Line 40"/>
          <p:cNvSpPr/>
          <p:nvPr/>
        </p:nvSpPr>
        <p:spPr>
          <a:xfrm>
            <a:off x="762000" y="952500"/>
            <a:ext cx="142875" cy="9525"/>
          </a:xfrm>
          <a:custGeom>
            <a:avLst/>
            <a:gdLst/>
            <a:ahLst/>
            <a:cxnLst/>
            <a:rect l="l" t="t" r="r" b="b"/>
            <a:pathLst>
              <a:path w="142875" h="952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19050">
            <a:solidFill>
              <a:srgbClr val="00418D"/>
            </a:solidFill>
          </a:ln>
        </p:spPr>
      </p:sp>
      <p:sp>
        <p:nvSpPr>
          <p:cNvPr id="41" name="Line 41"/>
          <p:cNvSpPr/>
          <p:nvPr/>
        </p:nvSpPr>
        <p:spPr>
          <a:xfrm>
            <a:off x="11430000" y="952500"/>
            <a:ext cx="9525" cy="142875"/>
          </a:xfrm>
          <a:custGeom>
            <a:avLst/>
            <a:gdLst/>
            <a:ahLst/>
            <a:cxnLst/>
            <a:rect l="l" t="t" r="r" b="b"/>
            <a:pathLst>
              <a:path w="952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19050">
            <a:solidFill>
              <a:srgbClr val="00418D"/>
            </a:solidFill>
          </a:ln>
        </p:spPr>
      </p:sp>
      <p:sp>
        <p:nvSpPr>
          <p:cNvPr id="42" name="Line 42"/>
          <p:cNvSpPr/>
          <p:nvPr/>
        </p:nvSpPr>
        <p:spPr>
          <a:xfrm>
            <a:off x="11287125" y="952500"/>
            <a:ext cx="142875" cy="9525"/>
          </a:xfrm>
          <a:custGeom>
            <a:avLst/>
            <a:gdLst/>
            <a:ahLst/>
            <a:cxnLst/>
            <a:rect l="l" t="t" r="r" b="b"/>
            <a:pathLst>
              <a:path w="142875" h="9525">
                <a:moveTo>
                  <a:pt x="142875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418D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2C61"/>
              </a:gs>
              <a:gs pos="100000">
                <a:srgbClr val="001F45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ltUpDiag">
            <a:fgClr>
              <a:srgbClr val="0066CC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884920" y="2162175"/>
            <a:ext cx="2422160" cy="274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0" b="1" dirty="0">
                <a:solidFill>
                  <a:srgbClr val="FFFFFF">
                    <a:alphaMod val="4000"/>
                  </a:srgbClr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2286000"/>
            <a:ext cx="57150" cy="1143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167664" y="2533650"/>
            <a:ext cx="385667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三、战争账单本质上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97742" y="3009900"/>
            <a:ext cx="259651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就是数据账单</a:t>
            </a:r>
          </a:p>
        </p:txBody>
      </p:sp>
      <p:sp>
        <p:nvSpPr>
          <p:cNvPr id="8" name="Line 8"/>
          <p:cNvSpPr/>
          <p:nvPr/>
        </p:nvSpPr>
        <p:spPr>
          <a:xfrm>
            <a:off x="4667250" y="361950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67425" y="3590925"/>
            <a:ext cx="57150" cy="5715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728686" y="3854768"/>
            <a:ext cx="27346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2E8F0">
                    <a:alphaMod val="70000"/>
                  </a:srgbClr>
                </a:solidFill>
                <a:latin typeface="Segoe UI"/>
                <a:ea typeface="Microsoft YaHei"/>
                <a:cs typeface="Segoe UI"/>
              </a:rPr>
              <a:t>每一枚导弹都是一台会飞的计算机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953000" y="4381500"/>
            <a:ext cx="2286000" cy="304800"/>
          </a:xfrm>
          <a:prstGeom prst="roundRect">
            <a:avLst>
              <a:gd name="adj" fmla="val 12500"/>
            </a:avLst>
          </a:prstGeom>
          <a:noFill/>
          <a:ln w="9525">
            <a:solidFill>
              <a:srgbClr val="0066CC">
                <a:alpha val="40000"/>
              </a:srgbClr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134046" y="4477702"/>
            <a:ext cx="19239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2E8F0">
                    <a:alphaMod val="60000"/>
                  </a:srgbClr>
                </a:solidFill>
                <a:latin typeface="Segoe UI"/>
                <a:ea typeface="Microsoft YaHei"/>
                <a:cs typeface="Segoe UI"/>
              </a:rPr>
              <a:t>战斧 · JASSM · JDAM · THAAD</a:t>
            </a:r>
          </a:p>
        </p:txBody>
      </p:sp>
      <p:sp>
        <p:nvSpPr>
          <p:cNvPr id="13" name="Line 13"/>
          <p:cNvSpPr/>
          <p:nvPr/>
        </p:nvSpPr>
        <p:spPr>
          <a:xfrm>
            <a:off x="762000" y="7620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rgbClr val="0066CC">
                <a:alpha val="40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762000" y="76200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0066CC">
                <a:alpha val="40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11430000" y="7620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rgbClr val="0066CC">
                <a:alpha val="40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11239500" y="76200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19050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66CC">
                <a:alpha val="40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10477500" y="40005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762000"/>
                </a:moveTo>
                <a:lnTo>
                  <a:pt x="762000" y="0"/>
                </a:lnTo>
              </a:path>
            </a:pathLst>
          </a:custGeom>
          <a:noFill/>
          <a:ln w="9525">
            <a:solidFill>
              <a:srgbClr val="0066CC">
                <a:alpha val="15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10668000" y="4191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762000"/>
                </a:moveTo>
                <a:lnTo>
                  <a:pt x="762000" y="0"/>
                </a:lnTo>
              </a:path>
            </a:pathLst>
          </a:custGeom>
          <a:noFill/>
          <a:ln w="4762">
            <a:solidFill>
              <a:srgbClr val="0066CC">
                <a:alpha val="10000"/>
              </a:srgbClr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00418D"/>
              </a:gs>
              <a:gs pos="100000">
                <a:srgbClr val="072C61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762000" y="952500"/>
            <a:ext cx="38100" cy="3429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25830" y="1011555"/>
            <a:ext cx="428746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418D"/>
                </a:solidFill>
                <a:latin typeface="Segoe UI"/>
                <a:ea typeface="Microsoft YaHei"/>
                <a:cs typeface="Segoe UI"/>
              </a:rPr>
              <a:t>从战斧到JDAM：战争的成本逻辑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8212" y="1354931"/>
            <a:ext cx="38015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CASE STUDY: THE COST LOGIC OF PRECISION MUNITIONS</a:t>
            </a:r>
          </a:p>
        </p:txBody>
      </p:sp>
      <p:sp>
        <p:nvSpPr>
          <p:cNvPr id="7" name="Line 7"/>
          <p:cNvSpPr/>
          <p:nvPr/>
        </p:nvSpPr>
        <p:spPr>
          <a:xfrm>
            <a:off x="762000" y="16192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1809750"/>
            <a:ext cx="10668000" cy="419100"/>
          </a:xfrm>
          <a:prstGeom prst="roundRect">
            <a:avLst>
              <a:gd name="adj" fmla="val 9091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762000" y="1809750"/>
            <a:ext cx="38100" cy="4191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37260" y="1946910"/>
            <a:ext cx="64472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202C"/>
                </a:solidFill>
                <a:latin typeface="Segoe UI"/>
                <a:ea typeface="Microsoft YaHei"/>
                <a:cs typeface="Segoe UI"/>
              </a:rPr>
              <a:t>核心洞察：高精度武器的成本优势建立在数据链优势之上——采购的不是弹药，而是数据终端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2476500"/>
            <a:ext cx="5048250" cy="1524000"/>
          </a:xfrm>
          <a:prstGeom prst="roundRect">
            <a:avLst>
              <a:gd name="adj" fmla="val 37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62000" y="2476500"/>
            <a:ext cx="5048250" cy="38100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35355" y="2664142"/>
            <a:ext cx="21135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41E3A"/>
                </a:solidFill>
                <a:latin typeface="Segoe UI"/>
                <a:ea typeface="Microsoft YaHei"/>
                <a:cs typeface="Segoe UI"/>
              </a:rPr>
              <a:t>冲突初期：高数据链依赖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9165" y="2982278"/>
            <a:ext cx="21899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JASSM最新型号：约 230万美元/枚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9165" y="3191828"/>
            <a:ext cx="20569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战斧巡航导弹：约 200万美元/枚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9165" y="3401378"/>
            <a:ext cx="29180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内置完整惯导+卫星接收机+地形匹配+末端识别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9165" y="3610928"/>
            <a:ext cx="21269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需要卫星数据链实时更新目标坐标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096000" y="2476500"/>
            <a:ext cx="5334000" cy="1524000"/>
          </a:xfrm>
          <a:prstGeom prst="roundRect">
            <a:avLst>
              <a:gd name="adj" fmla="val 37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6096000" y="2476500"/>
            <a:ext cx="5334000" cy="381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269355" y="2664142"/>
            <a:ext cx="23025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66CC"/>
                </a:solidFill>
                <a:latin typeface="Segoe UI"/>
                <a:ea typeface="Microsoft YaHei"/>
                <a:cs typeface="Segoe UI"/>
              </a:rPr>
              <a:t>冲突后期：数据链需求降低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273165" y="2982278"/>
            <a:ext cx="22459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2000磅 GBU-31：约 10.7万美元/枚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273165" y="3191828"/>
            <a:ext cx="21689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1000磅 GBU-32：约 7.9万美元/枚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273165" y="3401378"/>
            <a:ext cx="20919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500磅 GBU-38：约 7.5万美元/枚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273165" y="3610928"/>
            <a:ext cx="34010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成本骤降——伊朗防空系统被削弱后复杂数据链需求降低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62000" y="4286250"/>
            <a:ext cx="10668000" cy="66675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762000" y="4286250"/>
            <a:ext cx="57150" cy="666750"/>
          </a:xfrm>
          <a:prstGeom prst="rect">
            <a:avLst/>
          </a:prstGeom>
          <a:solidFill>
            <a:srgbClr val="00418D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032510" y="4423410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418D"/>
                </a:solidFill>
                <a:latin typeface="Segoe UI"/>
                <a:ea typeface="Microsoft YaHei"/>
                <a:cs typeface="Segoe UI"/>
              </a:rPr>
              <a:t>冲突前两个月总花费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4415" y="4668202"/>
            <a:ext cx="37231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250亿至290亿美元 | 日均约4-5亿美元 | 前六天约127亿美元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62000" y="5143500"/>
            <a:ext cx="10668000" cy="476250"/>
          </a:xfrm>
          <a:prstGeom prst="roundRect">
            <a:avLst>
              <a:gd name="adj" fmla="val 12000"/>
            </a:avLst>
          </a:prstGeom>
          <a:solidFill>
            <a:srgbClr val="FEF3E8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762000" y="5143500"/>
            <a:ext cx="57150" cy="47625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033462" y="5307806"/>
            <a:ext cx="75970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THAAD消耗至少50%（约190-290枚）| Patriot拦截弹42%-50%（约1060-1430枚）| 每一枚拦截弹同样依赖数据链</a:t>
            </a:r>
          </a:p>
        </p:txBody>
      </p:sp>
      <p:sp>
        <p:nvSpPr>
          <p:cNvPr id="32" name="Line 32"/>
          <p:cNvSpPr/>
          <p:nvPr/>
        </p:nvSpPr>
        <p:spPr>
          <a:xfrm>
            <a:off x="762000" y="62865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49618" y="6419374"/>
            <a:ext cx="18579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来源：CSIS · 公开军事预算报告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993940" y="6419374"/>
            <a:ext cx="14484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03 / 信息数据战分析 · 8</a:t>
            </a:r>
          </a:p>
        </p:txBody>
      </p:sp>
      <p:sp>
        <p:nvSpPr>
          <p:cNvPr id="35" name="Line 35"/>
          <p:cNvSpPr/>
          <p:nvPr/>
        </p:nvSpPr>
        <p:spPr>
          <a:xfrm>
            <a:off x="762000" y="952500"/>
            <a:ext cx="9525" cy="142875"/>
          </a:xfrm>
          <a:custGeom>
            <a:avLst/>
            <a:gdLst/>
            <a:ahLst/>
            <a:cxnLst/>
            <a:rect l="l" t="t" r="r" b="b"/>
            <a:pathLst>
              <a:path w="952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19050">
            <a:solidFill>
              <a:srgbClr val="00418D"/>
            </a:solidFill>
          </a:ln>
        </p:spPr>
      </p:sp>
      <p:sp>
        <p:nvSpPr>
          <p:cNvPr id="36" name="Line 36"/>
          <p:cNvSpPr/>
          <p:nvPr/>
        </p:nvSpPr>
        <p:spPr>
          <a:xfrm>
            <a:off x="762000" y="952500"/>
            <a:ext cx="142875" cy="9525"/>
          </a:xfrm>
          <a:custGeom>
            <a:avLst/>
            <a:gdLst/>
            <a:ahLst/>
            <a:cxnLst/>
            <a:rect l="l" t="t" r="r" b="b"/>
            <a:pathLst>
              <a:path w="142875" h="952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19050">
            <a:solidFill>
              <a:srgbClr val="00418D"/>
            </a:solidFill>
          </a:ln>
        </p:spPr>
      </p:sp>
      <p:sp>
        <p:nvSpPr>
          <p:cNvPr id="37" name="Line 37"/>
          <p:cNvSpPr/>
          <p:nvPr/>
        </p:nvSpPr>
        <p:spPr>
          <a:xfrm>
            <a:off x="11430000" y="952500"/>
            <a:ext cx="9525" cy="142875"/>
          </a:xfrm>
          <a:custGeom>
            <a:avLst/>
            <a:gdLst/>
            <a:ahLst/>
            <a:cxnLst/>
            <a:rect l="l" t="t" r="r" b="b"/>
            <a:pathLst>
              <a:path w="952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19050">
            <a:solidFill>
              <a:srgbClr val="00418D"/>
            </a:solidFill>
          </a:ln>
        </p:spPr>
      </p:sp>
      <p:sp>
        <p:nvSpPr>
          <p:cNvPr id="38" name="Line 38"/>
          <p:cNvSpPr/>
          <p:nvPr/>
        </p:nvSpPr>
        <p:spPr>
          <a:xfrm>
            <a:off x="11287125" y="952500"/>
            <a:ext cx="142875" cy="9525"/>
          </a:xfrm>
          <a:custGeom>
            <a:avLst/>
            <a:gdLst/>
            <a:ahLst/>
            <a:cxnLst/>
            <a:rect l="l" t="t" r="r" b="b"/>
            <a:pathLst>
              <a:path w="142875" h="9525">
                <a:moveTo>
                  <a:pt x="142875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418D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2C61"/>
              </a:gs>
              <a:gs pos="100000">
                <a:srgbClr val="001F45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ltUpDiag">
            <a:fgClr>
              <a:srgbClr val="0066CC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884920" y="2162175"/>
            <a:ext cx="2422160" cy="274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0" b="1" dirty="0">
                <a:solidFill>
                  <a:srgbClr val="FFFFFF">
                    <a:alphaMod val="4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2286000"/>
            <a:ext cx="57150" cy="11430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167664" y="2533650"/>
            <a:ext cx="385667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四、算力节点已成为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87716" y="3009900"/>
            <a:ext cx="301656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高价值战略目标</a:t>
            </a:r>
          </a:p>
        </p:txBody>
      </p:sp>
      <p:sp>
        <p:nvSpPr>
          <p:cNvPr id="8" name="Line 8"/>
          <p:cNvSpPr/>
          <p:nvPr/>
        </p:nvSpPr>
        <p:spPr>
          <a:xfrm>
            <a:off x="4667250" y="361950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19050">
            <a:solidFill>
              <a:srgbClr val="C41E3A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67425" y="3590925"/>
            <a:ext cx="57150" cy="5715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5088731" y="3854768"/>
            <a:ext cx="20145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2E8F0">
                    <a:alphaMod val="70000"/>
                  </a:srgbClr>
                </a:solidFill>
                <a:latin typeface="Segoe UI"/>
                <a:ea typeface="Microsoft YaHei"/>
                <a:cs typeface="Segoe UI"/>
              </a:rPr>
              <a:t>不打航母，专打数据中心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953000" y="4381500"/>
            <a:ext cx="2286000" cy="304800"/>
          </a:xfrm>
          <a:prstGeom prst="roundRect">
            <a:avLst>
              <a:gd name="adj" fmla="val 12500"/>
            </a:avLst>
          </a:prstGeom>
          <a:noFill/>
          <a:ln w="9525">
            <a:solidFill>
              <a:srgbClr val="C41E3A">
                <a:alpha val="40000"/>
              </a:srgbClr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260062" y="4477702"/>
            <a:ext cx="16718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2E8F0">
                    <a:alphaMod val="60000"/>
                  </a:srgbClr>
                </a:solidFill>
                <a:latin typeface="Segoe UI"/>
                <a:ea typeface="Microsoft YaHei"/>
                <a:cs typeface="Segoe UI"/>
              </a:rPr>
              <a:t>AWS · MQ-9 · 非对称反击</a:t>
            </a:r>
          </a:p>
        </p:txBody>
      </p:sp>
      <p:sp>
        <p:nvSpPr>
          <p:cNvPr id="13" name="Line 13"/>
          <p:cNvSpPr/>
          <p:nvPr/>
        </p:nvSpPr>
        <p:spPr>
          <a:xfrm>
            <a:off x="762000" y="7620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rgbClr val="0066CC">
                <a:alpha val="40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762000" y="76200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0066CC">
                <a:alpha val="40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11430000" y="7620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rgbClr val="0066CC">
                <a:alpha val="40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11239500" y="76200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19050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66CC">
                <a:alpha val="40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10477500" y="40005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762000"/>
                </a:moveTo>
                <a:lnTo>
                  <a:pt x="762000" y="0"/>
                </a:lnTo>
              </a:path>
            </a:pathLst>
          </a:custGeom>
          <a:noFill/>
          <a:ln w="9525">
            <a:solidFill>
              <a:srgbClr val="C41E3A">
                <a:alpha val="15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10668000" y="4191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762000"/>
                </a:moveTo>
                <a:lnTo>
                  <a:pt x="762000" y="0"/>
                </a:lnTo>
              </a:path>
            </a:pathLst>
          </a:custGeom>
          <a:noFill/>
          <a:ln w="4762">
            <a:solidFill>
              <a:srgbClr val="C41E3A">
                <a:alpha val="10000"/>
              </a:srgbClr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00418D"/>
              </a:gs>
              <a:gs pos="100000">
                <a:srgbClr val="072C61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762000" y="952500"/>
            <a:ext cx="38100" cy="3429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25830" y="1011555"/>
            <a:ext cx="412574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418D"/>
                </a:solidFill>
                <a:latin typeface="Segoe UI"/>
                <a:ea typeface="Microsoft YaHei"/>
                <a:cs typeface="Segoe UI"/>
              </a:rPr>
              <a:t>AWS数据中心遇袭与非对称反击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8212" y="1354931"/>
            <a:ext cx="41540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CASE STUDY: DATA CENTER STRIKE AND ASYMMETRIC WARFARE</a:t>
            </a:r>
          </a:p>
        </p:txBody>
      </p:sp>
      <p:sp>
        <p:nvSpPr>
          <p:cNvPr id="7" name="Line 7"/>
          <p:cNvSpPr/>
          <p:nvPr/>
        </p:nvSpPr>
        <p:spPr>
          <a:xfrm>
            <a:off x="762000" y="16192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1809750"/>
            <a:ext cx="10668000" cy="419100"/>
          </a:xfrm>
          <a:prstGeom prst="roundRect">
            <a:avLst>
              <a:gd name="adj" fmla="val 9091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762000" y="1809750"/>
            <a:ext cx="38100" cy="4191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37260" y="1946910"/>
            <a:ext cx="49911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202C"/>
                </a:solidFill>
                <a:latin typeface="Segoe UI"/>
                <a:ea typeface="Microsoft YaHei"/>
                <a:cs typeface="Segoe UI"/>
              </a:rPr>
              <a:t>核心洞察：摧毁一个算力节点，可能比摧毁十个军事基地更具战略效果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2476500"/>
            <a:ext cx="5143500" cy="1905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62000" y="2476500"/>
            <a:ext cx="5143500" cy="38100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35355" y="2664142"/>
            <a:ext cx="23403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41E3A"/>
                </a:solidFill>
                <a:latin typeface="Segoe UI"/>
                <a:ea typeface="Microsoft YaHei"/>
                <a:cs typeface="Segoe UI"/>
              </a:rPr>
              <a:t>数据中心遭袭（3月1-2日）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9165" y="2982278"/>
            <a:ext cx="29810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AWS阿联酋 ME-CENTRAL-1 可用区被直接命中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9165" y="3191828"/>
            <a:ext cx="25959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巴林 ME-SOUTH-1 可用区遭受间接损害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9165" y="3401378"/>
            <a:ext cx="28480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建筑结构损坏 · 电力中断 · 消防系统误启动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9165" y="3610928"/>
            <a:ext cx="27990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EC2 / S3 / DynamoDB 等核心服务严重降级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9165" y="3820478"/>
            <a:ext cx="25049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这些数据中心托管着AI指挥链核心节点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191250" y="2476500"/>
            <a:ext cx="5238750" cy="1905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6191250" y="2476500"/>
            <a:ext cx="5238750" cy="381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364605" y="2664142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66CC"/>
                </a:solidFill>
                <a:latin typeface="Segoe UI"/>
                <a:ea typeface="Microsoft YaHei"/>
                <a:cs typeface="Segoe UI"/>
              </a:rPr>
              <a:t>无人机反制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368415" y="2982278"/>
            <a:ext cx="21199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伊朗防空部队累计击落至少11架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68415" y="3191828"/>
            <a:ext cx="16438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美军MQ-9"死神"无人机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68415" y="3401378"/>
            <a:ext cx="21619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每架成本约3000万至3500万美元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62000" y="4667250"/>
            <a:ext cx="3333750" cy="57150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2198089" y="4739640"/>
            <a:ext cx="4615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≥11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857423" y="5019199"/>
            <a:ext cx="11429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MQ-9被击落（架）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381500" y="4667250"/>
            <a:ext cx="3333750" cy="57150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552956" y="4739640"/>
            <a:ext cx="99083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0418D"/>
                </a:solidFill>
                <a:latin typeface="Arial"/>
                <a:ea typeface="Microsoft YaHei"/>
                <a:cs typeface="Arial"/>
              </a:rPr>
              <a:t>$3000万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606939" y="5019199"/>
            <a:ext cx="8828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单架MQ-9成本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001000" y="4667250"/>
            <a:ext cx="3429000" cy="57150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358698" y="4739640"/>
            <a:ext cx="71360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3.5亿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079040" y="5019199"/>
            <a:ext cx="12729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MQ-9总损失（美元）</a:t>
            </a:r>
          </a:p>
        </p:txBody>
      </p:sp>
      <p:sp>
        <p:nvSpPr>
          <p:cNvPr id="34" name="Line 34"/>
          <p:cNvSpPr/>
          <p:nvPr/>
        </p:nvSpPr>
        <p:spPr>
          <a:xfrm>
            <a:off x="762000" y="62865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49618" y="6419374"/>
            <a:ext cx="2105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来源：AWS官方公告 · 公开军事信息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922431" y="6419374"/>
            <a:ext cx="15199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04 / 信息数据战分析 · 10</a:t>
            </a:r>
          </a:p>
        </p:txBody>
      </p:sp>
      <p:sp>
        <p:nvSpPr>
          <p:cNvPr id="37" name="Line 37"/>
          <p:cNvSpPr/>
          <p:nvPr/>
        </p:nvSpPr>
        <p:spPr>
          <a:xfrm>
            <a:off x="762000" y="952500"/>
            <a:ext cx="9525" cy="142875"/>
          </a:xfrm>
          <a:custGeom>
            <a:avLst/>
            <a:gdLst/>
            <a:ahLst/>
            <a:cxnLst/>
            <a:rect l="l" t="t" r="r" b="b"/>
            <a:pathLst>
              <a:path w="952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19050">
            <a:solidFill>
              <a:srgbClr val="00418D"/>
            </a:solidFill>
          </a:ln>
        </p:spPr>
      </p:sp>
      <p:sp>
        <p:nvSpPr>
          <p:cNvPr id="38" name="Line 38"/>
          <p:cNvSpPr/>
          <p:nvPr/>
        </p:nvSpPr>
        <p:spPr>
          <a:xfrm>
            <a:off x="762000" y="952500"/>
            <a:ext cx="142875" cy="9525"/>
          </a:xfrm>
          <a:custGeom>
            <a:avLst/>
            <a:gdLst/>
            <a:ahLst/>
            <a:cxnLst/>
            <a:rect l="l" t="t" r="r" b="b"/>
            <a:pathLst>
              <a:path w="142875" h="952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19050">
            <a:solidFill>
              <a:srgbClr val="00418D"/>
            </a:solidFill>
          </a:ln>
        </p:spPr>
      </p:sp>
      <p:sp>
        <p:nvSpPr>
          <p:cNvPr id="39" name="Line 39"/>
          <p:cNvSpPr/>
          <p:nvPr/>
        </p:nvSpPr>
        <p:spPr>
          <a:xfrm>
            <a:off x="11430000" y="952500"/>
            <a:ext cx="9525" cy="142875"/>
          </a:xfrm>
          <a:custGeom>
            <a:avLst/>
            <a:gdLst/>
            <a:ahLst/>
            <a:cxnLst/>
            <a:rect l="l" t="t" r="r" b="b"/>
            <a:pathLst>
              <a:path w="952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19050">
            <a:solidFill>
              <a:srgbClr val="00418D"/>
            </a:solidFill>
          </a:ln>
        </p:spPr>
      </p:sp>
      <p:sp>
        <p:nvSpPr>
          <p:cNvPr id="40" name="Line 40"/>
          <p:cNvSpPr/>
          <p:nvPr/>
        </p:nvSpPr>
        <p:spPr>
          <a:xfrm>
            <a:off x="11287125" y="952500"/>
            <a:ext cx="142875" cy="9525"/>
          </a:xfrm>
          <a:custGeom>
            <a:avLst/>
            <a:gdLst/>
            <a:ahLst/>
            <a:cxnLst/>
            <a:rect l="l" t="t" r="r" b="b"/>
            <a:pathLst>
              <a:path w="142875" h="9525">
                <a:moveTo>
                  <a:pt x="142875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418D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2C61"/>
              </a:gs>
              <a:gs pos="100000">
                <a:srgbClr val="001F45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ltUpDiag">
            <a:fgClr>
              <a:srgbClr val="0066CC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884920" y="2162175"/>
            <a:ext cx="2422160" cy="274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0" b="1" dirty="0">
                <a:solidFill>
                  <a:srgbClr val="FFFFFF">
                    <a:alphaMod val="4000"/>
                  </a:srgbClr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2286000"/>
            <a:ext cx="57150" cy="1143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167664" y="2533650"/>
            <a:ext cx="385667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五、没有绝对安全的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17795" y="3009900"/>
            <a:ext cx="175641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通信手段</a:t>
            </a:r>
          </a:p>
        </p:txBody>
      </p:sp>
      <p:sp>
        <p:nvSpPr>
          <p:cNvPr id="8" name="Line 8"/>
          <p:cNvSpPr/>
          <p:nvPr/>
        </p:nvSpPr>
        <p:spPr>
          <a:xfrm>
            <a:off x="4667250" y="361950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67425" y="3590925"/>
            <a:ext cx="57150" cy="5715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539663" y="3854768"/>
            <a:ext cx="31126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2E8F0">
                    <a:alphaMod val="70000"/>
                  </a:srgbClr>
                </a:solidFill>
                <a:latin typeface="Segoe UI"/>
                <a:ea typeface="Microsoft YaHei"/>
                <a:cs typeface="Segoe UI"/>
              </a:rPr>
              <a:t>数据可以加密，但"正在通信"无法隐藏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953000" y="4381500"/>
            <a:ext cx="2286000" cy="304800"/>
          </a:xfrm>
          <a:prstGeom prst="roundRect">
            <a:avLst>
              <a:gd name="adj" fmla="val 12500"/>
            </a:avLst>
          </a:prstGeom>
          <a:noFill/>
          <a:ln w="9525">
            <a:solidFill>
              <a:srgbClr val="0066CC">
                <a:alpha val="40000"/>
              </a:srgbClr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158550" y="4477702"/>
            <a:ext cx="18749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2E8F0">
                    <a:alphaMod val="60000"/>
                  </a:srgbClr>
                </a:solidFill>
                <a:latin typeface="Segoe UI"/>
                <a:ea typeface="Microsoft YaHei"/>
                <a:cs typeface="Segoe UI"/>
              </a:rPr>
              <a:t>Starlink · 射频干扰 · 反间谍</a:t>
            </a:r>
          </a:p>
        </p:txBody>
      </p:sp>
      <p:sp>
        <p:nvSpPr>
          <p:cNvPr id="13" name="Line 13"/>
          <p:cNvSpPr/>
          <p:nvPr/>
        </p:nvSpPr>
        <p:spPr>
          <a:xfrm>
            <a:off x="762000" y="7620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rgbClr val="0066CC">
                <a:alpha val="40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762000" y="76200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0066CC">
                <a:alpha val="40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11430000" y="7620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rgbClr val="0066CC">
                <a:alpha val="40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11239500" y="76200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19050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66CC">
                <a:alpha val="40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10477500" y="40005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762000"/>
                </a:moveTo>
                <a:lnTo>
                  <a:pt x="762000" y="0"/>
                </a:lnTo>
              </a:path>
            </a:pathLst>
          </a:custGeom>
          <a:noFill/>
          <a:ln w="9525">
            <a:solidFill>
              <a:srgbClr val="0066CC">
                <a:alpha val="15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10668000" y="4191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762000"/>
                </a:moveTo>
                <a:lnTo>
                  <a:pt x="762000" y="0"/>
                </a:lnTo>
              </a:path>
            </a:pathLst>
          </a:custGeom>
          <a:noFill/>
          <a:ln w="4762">
            <a:solidFill>
              <a:srgbClr val="0066CC">
                <a:alpha val="10000"/>
              </a:srgbClr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00418D"/>
              </a:gs>
              <a:gs pos="100000">
                <a:srgbClr val="072C61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762000" y="952500"/>
            <a:ext cx="38100" cy="3429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25830" y="1011555"/>
            <a:ext cx="446389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418D"/>
                </a:solidFill>
                <a:latin typeface="Segoe UI"/>
                <a:ea typeface="Microsoft YaHei"/>
                <a:cs typeface="Segoe UI"/>
              </a:rPr>
              <a:t>星链攻防战：卫星互联网的战场化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8212" y="1354931"/>
            <a:ext cx="29464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CASE STUDY: STARLINK IN THE BATTLEFIELD</a:t>
            </a:r>
          </a:p>
        </p:txBody>
      </p:sp>
      <p:sp>
        <p:nvSpPr>
          <p:cNvPr id="7" name="Line 7"/>
          <p:cNvSpPr/>
          <p:nvPr/>
        </p:nvSpPr>
        <p:spPr>
          <a:xfrm>
            <a:off x="762000" y="16192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1809750"/>
            <a:ext cx="10668000" cy="419100"/>
          </a:xfrm>
          <a:prstGeom prst="roundRect">
            <a:avLst>
              <a:gd name="adj" fmla="val 9091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762000" y="1809750"/>
            <a:ext cx="38100" cy="4191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37260" y="1946910"/>
            <a:ext cx="45270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202C"/>
                </a:solidFill>
                <a:latin typeface="Segoe UI"/>
                <a:ea typeface="Microsoft YaHei"/>
                <a:cs typeface="Segoe UI"/>
              </a:rPr>
              <a:t>核心洞察：数据内容可以加密，但"正在通信"这一事实无法隐藏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2476500"/>
            <a:ext cx="5143500" cy="1905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62000" y="2476500"/>
            <a:ext cx="5143500" cy="38100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35355" y="2664142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41E3A"/>
                </a:solidFill>
                <a:latin typeface="Segoe UI"/>
                <a:ea typeface="Microsoft YaHei"/>
                <a:cs typeface="Segoe UI"/>
              </a:rPr>
              <a:t>美以：渗透部署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9165" y="2982278"/>
            <a:ext cx="27080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SpaceX向美军出售Starshield军事版终端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9165" y="3191828"/>
            <a:ext cx="25259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冲突开始时已部署于十多个无人机系统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9165" y="3401378"/>
            <a:ext cx="25399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美国国务院利用"互联网自由倡议"资金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9165" y="3610928"/>
            <a:ext cx="23999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约6000台Starlink终端走私入境伊朗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9165" y="3820478"/>
            <a:ext cx="25679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累计估计3万至5万台终端自2022年走私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191250" y="2476500"/>
            <a:ext cx="5238750" cy="1905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6191250" y="2476500"/>
            <a:ext cx="5238750" cy="381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364605" y="2664142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66CC"/>
                </a:solidFill>
                <a:latin typeface="Segoe UI"/>
                <a:ea typeface="Microsoft YaHei"/>
                <a:cs typeface="Segoe UI"/>
              </a:rPr>
              <a:t>伊朗：反制行动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368415" y="2982278"/>
            <a:ext cx="20429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自3月起展开全国性反间谍行动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68415" y="3191828"/>
            <a:ext cx="19519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宣布没收数百台Starlink终端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68415" y="3401378"/>
            <a:ext cx="22879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3月19日：逮捕13人，没收5台终端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368415" y="3610928"/>
            <a:ext cx="24279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3月25日：德黑兰逮捕39人，没收7台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68415" y="3820478"/>
            <a:ext cx="22459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部署先进射频干扰系统使终端失效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4667250"/>
            <a:ext cx="10668000" cy="571500"/>
          </a:xfrm>
          <a:prstGeom prst="roundRect">
            <a:avLst>
              <a:gd name="adj" fmla="val 10000"/>
            </a:avLst>
          </a:prstGeom>
          <a:solidFill>
            <a:srgbClr val="FEF3E8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762000" y="4667250"/>
            <a:ext cx="57150" cy="5715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032510" y="4804410"/>
            <a:ext cx="8705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41E3A"/>
                </a:solidFill>
                <a:latin typeface="Segoe UI"/>
                <a:ea typeface="Microsoft YaHei"/>
                <a:cs typeface="Segoe UI"/>
              </a:rPr>
              <a:t>攻防对称性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176462" y="4812506"/>
            <a:ext cx="57292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进攻方可以利用卫星网络追踪目标，防御方同样可以利用信号特征反向定位并没收设备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4415" y="5011102"/>
            <a:ext cx="330307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数据对抗时代，没有哪种通信手段能确保100%的安全</a:t>
            </a:r>
          </a:p>
        </p:txBody>
      </p:sp>
      <p:sp>
        <p:nvSpPr>
          <p:cNvPr id="32" name="Line 32"/>
          <p:cNvSpPr/>
          <p:nvPr/>
        </p:nvSpPr>
        <p:spPr>
          <a:xfrm>
            <a:off x="762000" y="62865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49618" y="6419374"/>
            <a:ext cx="22545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来源：公开媒体报道 · 伊朗情报部公告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922431" y="6419374"/>
            <a:ext cx="15199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05 / 信息数据战分析 · 12</a:t>
            </a:r>
          </a:p>
        </p:txBody>
      </p:sp>
      <p:sp>
        <p:nvSpPr>
          <p:cNvPr id="35" name="Line 35"/>
          <p:cNvSpPr/>
          <p:nvPr/>
        </p:nvSpPr>
        <p:spPr>
          <a:xfrm>
            <a:off x="762000" y="952500"/>
            <a:ext cx="9525" cy="142875"/>
          </a:xfrm>
          <a:custGeom>
            <a:avLst/>
            <a:gdLst/>
            <a:ahLst/>
            <a:cxnLst/>
            <a:rect l="l" t="t" r="r" b="b"/>
            <a:pathLst>
              <a:path w="952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19050">
            <a:solidFill>
              <a:srgbClr val="00418D"/>
            </a:solidFill>
          </a:ln>
        </p:spPr>
      </p:sp>
      <p:sp>
        <p:nvSpPr>
          <p:cNvPr id="36" name="Line 36"/>
          <p:cNvSpPr/>
          <p:nvPr/>
        </p:nvSpPr>
        <p:spPr>
          <a:xfrm>
            <a:off x="762000" y="952500"/>
            <a:ext cx="142875" cy="9525"/>
          </a:xfrm>
          <a:custGeom>
            <a:avLst/>
            <a:gdLst/>
            <a:ahLst/>
            <a:cxnLst/>
            <a:rect l="l" t="t" r="r" b="b"/>
            <a:pathLst>
              <a:path w="142875" h="952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19050">
            <a:solidFill>
              <a:srgbClr val="00418D"/>
            </a:solidFill>
          </a:ln>
        </p:spPr>
      </p:sp>
      <p:sp>
        <p:nvSpPr>
          <p:cNvPr id="37" name="Line 37"/>
          <p:cNvSpPr/>
          <p:nvPr/>
        </p:nvSpPr>
        <p:spPr>
          <a:xfrm>
            <a:off x="11430000" y="952500"/>
            <a:ext cx="9525" cy="142875"/>
          </a:xfrm>
          <a:custGeom>
            <a:avLst/>
            <a:gdLst/>
            <a:ahLst/>
            <a:cxnLst/>
            <a:rect l="l" t="t" r="r" b="b"/>
            <a:pathLst>
              <a:path w="952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19050">
            <a:solidFill>
              <a:srgbClr val="00418D"/>
            </a:solidFill>
          </a:ln>
        </p:spPr>
      </p:sp>
      <p:sp>
        <p:nvSpPr>
          <p:cNvPr id="38" name="Line 38"/>
          <p:cNvSpPr/>
          <p:nvPr/>
        </p:nvSpPr>
        <p:spPr>
          <a:xfrm>
            <a:off x="11287125" y="952500"/>
            <a:ext cx="142875" cy="9525"/>
          </a:xfrm>
          <a:custGeom>
            <a:avLst/>
            <a:gdLst/>
            <a:ahLst/>
            <a:cxnLst/>
            <a:rect l="l" t="t" r="r" b="b"/>
            <a:pathLst>
              <a:path w="142875" h="9525">
                <a:moveTo>
                  <a:pt x="142875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418D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00418D"/>
              </a:gs>
              <a:gs pos="100000">
                <a:srgbClr val="072C61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762000" y="952500"/>
            <a:ext cx="38100" cy="3429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25830" y="1011555"/>
            <a:ext cx="181756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418D"/>
                </a:solidFill>
                <a:latin typeface="Segoe UI"/>
                <a:ea typeface="Microsoft YaHei"/>
                <a:cs typeface="Segoe UI"/>
              </a:rPr>
              <a:t>三条总体判断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8212" y="1354931"/>
            <a:ext cx="182129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THREE CORE CONCLUSIONS</a:t>
            </a:r>
          </a:p>
        </p:txBody>
      </p:sp>
      <p:sp>
        <p:nvSpPr>
          <p:cNvPr id="7" name="Line 7"/>
          <p:cNvSpPr/>
          <p:nvPr/>
        </p:nvSpPr>
        <p:spPr>
          <a:xfrm>
            <a:off x="762000" y="16192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1905000"/>
            <a:ext cx="10668000" cy="1143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1905000"/>
            <a:ext cx="10668000" cy="38100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952500" y="2095500"/>
            <a:ext cx="342900" cy="3429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47143" y="2171700"/>
            <a:ext cx="1536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4950" y="2171700"/>
            <a:ext cx="23483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202C"/>
                </a:solidFill>
                <a:latin typeface="Segoe UI"/>
                <a:ea typeface="Microsoft YaHei"/>
                <a:cs typeface="Segoe UI"/>
              </a:rPr>
              <a:t>从火力密度转向数据定力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8212" y="2497931"/>
            <a:ext cx="69294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谁掌握数据采集、传输、算力和算法，谁就掌握主动权。高精度武器的成本优势建立在数据链优势之上，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8212" y="2707481"/>
            <a:ext cx="39290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若对手具备干扰数据链路的能力，则昂贵弹药将迅速贬值。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62000" y="3238500"/>
            <a:ext cx="10668000" cy="1143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762000" y="3238500"/>
            <a:ext cx="10668000" cy="38100"/>
          </a:xfrm>
          <a:prstGeom prst="roundRect">
            <a:avLst>
              <a:gd name="adj" fmla="val 50000"/>
            </a:avLst>
          </a:prstGeom>
          <a:solidFill>
            <a:srgbClr val="00418D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52500" y="3429000"/>
            <a:ext cx="342900" cy="342900"/>
          </a:xfrm>
          <a:prstGeom prst="rect">
            <a:avLst/>
          </a:prstGeom>
          <a:solidFill>
            <a:srgbClr val="00418D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047143" y="3505200"/>
            <a:ext cx="1536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04950" y="3505200"/>
            <a:ext cx="23483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202C"/>
                </a:solidFill>
                <a:latin typeface="Segoe UI"/>
                <a:ea typeface="Microsoft YaHei"/>
                <a:cs typeface="Segoe UI"/>
              </a:rPr>
              <a:t>民用基础设施即战场延伸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8212" y="3831431"/>
            <a:ext cx="664440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交通摄像头、云数据中心、低轨卫星互联网、手机应用程序——这些日常数字服务，在战时瞬间转化为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8212" y="4040981"/>
            <a:ext cx="5429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情报来源、打击目标和攻防工具。城市智慧化程度越高，战场透明化程度也越高。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62000" y="4572000"/>
            <a:ext cx="10668000" cy="1143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762000" y="4572000"/>
            <a:ext cx="10668000" cy="381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952500" y="4762500"/>
            <a:ext cx="342900" cy="3429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47143" y="4838700"/>
            <a:ext cx="1536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04950" y="4838700"/>
            <a:ext cx="276844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202C"/>
                </a:solidFill>
                <a:latin typeface="Segoe UI"/>
                <a:ea typeface="Microsoft YaHei"/>
                <a:cs typeface="Segoe UI"/>
              </a:rPr>
              <a:t>数据战没有单方面的绝对优势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38212" y="5164931"/>
            <a:ext cx="6629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伊朗以非对称手段打击数据中心、击落无人机、没收星链终端，说明即使是技术弱势一方，也能找到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8212" y="5374481"/>
            <a:ext cx="75295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强者的数据节点实施致命打击。下一次战争的第一声警报，可能不是防空雷达的蜂鸣，而是数据中心的断电报警。</a:t>
            </a:r>
          </a:p>
        </p:txBody>
      </p:sp>
      <p:sp>
        <p:nvSpPr>
          <p:cNvPr id="29" name="Line 29"/>
          <p:cNvSpPr/>
          <p:nvPr/>
        </p:nvSpPr>
        <p:spPr>
          <a:xfrm>
            <a:off x="762000" y="62865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0214967" y="6419374"/>
            <a:ext cx="12274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信息数据战分析 · 13</a:t>
            </a:r>
          </a:p>
        </p:txBody>
      </p:sp>
      <p:sp>
        <p:nvSpPr>
          <p:cNvPr id="31" name="Line 31"/>
          <p:cNvSpPr/>
          <p:nvPr/>
        </p:nvSpPr>
        <p:spPr>
          <a:xfrm>
            <a:off x="762000" y="952500"/>
            <a:ext cx="9525" cy="142875"/>
          </a:xfrm>
          <a:custGeom>
            <a:avLst/>
            <a:gdLst/>
            <a:ahLst/>
            <a:cxnLst/>
            <a:rect l="l" t="t" r="r" b="b"/>
            <a:pathLst>
              <a:path w="952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19050">
            <a:solidFill>
              <a:srgbClr val="00418D"/>
            </a:solidFill>
          </a:ln>
        </p:spPr>
      </p:sp>
      <p:sp>
        <p:nvSpPr>
          <p:cNvPr id="32" name="Line 32"/>
          <p:cNvSpPr/>
          <p:nvPr/>
        </p:nvSpPr>
        <p:spPr>
          <a:xfrm>
            <a:off x="762000" y="952500"/>
            <a:ext cx="142875" cy="9525"/>
          </a:xfrm>
          <a:custGeom>
            <a:avLst/>
            <a:gdLst/>
            <a:ahLst/>
            <a:cxnLst/>
            <a:rect l="l" t="t" r="r" b="b"/>
            <a:pathLst>
              <a:path w="142875" h="952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19050">
            <a:solidFill>
              <a:srgbClr val="00418D"/>
            </a:solidFill>
          </a:ln>
        </p:spPr>
      </p:sp>
      <p:sp>
        <p:nvSpPr>
          <p:cNvPr id="33" name="Line 33"/>
          <p:cNvSpPr/>
          <p:nvPr/>
        </p:nvSpPr>
        <p:spPr>
          <a:xfrm>
            <a:off x="11430000" y="952500"/>
            <a:ext cx="9525" cy="142875"/>
          </a:xfrm>
          <a:custGeom>
            <a:avLst/>
            <a:gdLst/>
            <a:ahLst/>
            <a:cxnLst/>
            <a:rect l="l" t="t" r="r" b="b"/>
            <a:pathLst>
              <a:path w="952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19050">
            <a:solidFill>
              <a:srgbClr val="00418D"/>
            </a:solidFill>
          </a:ln>
        </p:spPr>
      </p:sp>
      <p:sp>
        <p:nvSpPr>
          <p:cNvPr id="34" name="Line 34"/>
          <p:cNvSpPr/>
          <p:nvPr/>
        </p:nvSpPr>
        <p:spPr>
          <a:xfrm>
            <a:off x="11287125" y="952500"/>
            <a:ext cx="142875" cy="9525"/>
          </a:xfrm>
          <a:custGeom>
            <a:avLst/>
            <a:gdLst/>
            <a:ahLst/>
            <a:cxnLst/>
            <a:rect l="l" t="t" r="r" b="b"/>
            <a:pathLst>
              <a:path w="142875" h="9525">
                <a:moveTo>
                  <a:pt x="142875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418D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2C61"/>
              </a:gs>
              <a:gs pos="100000">
                <a:srgbClr val="001F45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ltUpDiag">
            <a:fgClr>
              <a:srgbClr val="0066CC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5334000"/>
            <a:ext cx="12192000" cy="1524000"/>
          </a:xfrm>
          <a:prstGeom prst="rect">
            <a:avLst/>
          </a:prstGeom>
          <a:solidFill>
            <a:srgbClr val="00418D">
              <a:alpha val="35000"/>
            </a:srgbClr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0066CC">
                <a:alpha val="30000"/>
              </a:srgbClr>
            </a:solidFill>
          </a:ln>
        </p:spPr>
      </p:sp>
      <p:sp>
        <p:nvSpPr>
          <p:cNvPr id="6" name="Rectangle 6"/>
          <p:cNvSpPr/>
          <p:nvPr/>
        </p:nvSpPr>
        <p:spPr>
          <a:xfrm>
            <a:off x="762000" y="2476500"/>
            <a:ext cx="57150" cy="952500"/>
          </a:xfrm>
          <a:prstGeom prst="rect">
            <a:avLst/>
          </a:prstGeom>
          <a:solidFill>
            <a:srgbClr val="0066CC">
              <a:alpha val="60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00402" y="2436495"/>
            <a:ext cx="1191197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谢谢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86889" y="3171825"/>
            <a:ext cx="101822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E2E8F0">
                    <a:alphaMod val="70000"/>
                  </a:srgbClr>
                </a:solidFill>
                <a:latin typeface="Segoe UI"/>
                <a:ea typeface="Microsoft YaHei"/>
                <a:cs typeface="Segoe UI"/>
              </a:rPr>
              <a:t>THANK YOU</a:t>
            </a:r>
          </a:p>
        </p:txBody>
      </p:sp>
      <p:sp>
        <p:nvSpPr>
          <p:cNvPr id="9" name="Line 9"/>
          <p:cNvSpPr/>
          <p:nvPr/>
        </p:nvSpPr>
        <p:spPr>
          <a:xfrm>
            <a:off x="4667250" y="361950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19050">
            <a:solidFill>
              <a:srgbClr val="0066CC">
                <a:alpha val="60000"/>
              </a:srgbClr>
            </a:solidFill>
          </a:ln>
        </p:spPr>
      </p:sp>
      <p:sp>
        <p:nvSpPr>
          <p:cNvPr id="10" name="Ellipse 10"/>
          <p:cNvSpPr/>
          <p:nvPr/>
        </p:nvSpPr>
        <p:spPr>
          <a:xfrm>
            <a:off x="6067425" y="3590925"/>
            <a:ext cx="57150" cy="57150"/>
          </a:xfrm>
          <a:prstGeom prst="ellipse">
            <a:avLst/>
          </a:prstGeom>
          <a:solidFill>
            <a:srgbClr val="0066CC">
              <a:alpha val="80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638675" y="3950018"/>
            <a:ext cx="29146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2E8F0">
                    <a:alphaMod val="60000"/>
                  </a:srgbClr>
                </a:solidFill>
                <a:latin typeface="Segoe UI"/>
                <a:ea typeface="Microsoft YaHei"/>
                <a:cs typeface="Segoe UI"/>
              </a:rPr>
              <a:t>在算法面前，没有谁是无法被分析的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08651" y="5680710"/>
            <a:ext cx="177469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2E8F0">
                    <a:alphaMod val="50000"/>
                  </a:srgbClr>
                </a:solidFill>
                <a:latin typeface="Segoe UI"/>
                <a:ea typeface="Microsoft YaHei"/>
                <a:cs typeface="Segoe UI"/>
              </a:rPr>
              <a:t>2026年6月 · 供内部参阅</a:t>
            </a:r>
          </a:p>
        </p:txBody>
      </p:sp>
      <p:sp>
        <p:nvSpPr>
          <p:cNvPr id="13" name="Ellipse 13"/>
          <p:cNvSpPr/>
          <p:nvPr/>
        </p:nvSpPr>
        <p:spPr>
          <a:xfrm>
            <a:off x="10287000" y="381000"/>
            <a:ext cx="1143000" cy="1143000"/>
          </a:xfrm>
          <a:prstGeom prst="ellipse">
            <a:avLst/>
          </a:prstGeom>
          <a:noFill/>
          <a:ln w="9525">
            <a:solidFill>
              <a:srgbClr val="0066CC">
                <a:alpha val="15000"/>
              </a:srgbClr>
            </a:solidFill>
          </a:ln>
        </p:spPr>
      </p:sp>
      <p:sp>
        <p:nvSpPr>
          <p:cNvPr id="14" name="Ellipse 14"/>
          <p:cNvSpPr/>
          <p:nvPr/>
        </p:nvSpPr>
        <p:spPr>
          <a:xfrm>
            <a:off x="10477500" y="571500"/>
            <a:ext cx="762000" cy="762000"/>
          </a:xfrm>
          <a:prstGeom prst="ellipse">
            <a:avLst/>
          </a:prstGeom>
          <a:noFill/>
          <a:ln w="4762">
            <a:solidFill>
              <a:srgbClr val="0066CC">
                <a:alpha val="10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10477500" y="400050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0" y="762000"/>
                </a:moveTo>
                <a:lnTo>
                  <a:pt x="952500" y="0"/>
                </a:lnTo>
              </a:path>
            </a:pathLst>
          </a:custGeom>
          <a:noFill/>
          <a:ln w="9525">
            <a:solidFill>
              <a:srgbClr val="0066CC">
                <a:alpha val="20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10668000" y="419100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0" y="762000"/>
                </a:moveTo>
                <a:lnTo>
                  <a:pt x="952500" y="0"/>
                </a:lnTo>
              </a:path>
            </a:pathLst>
          </a:custGeom>
          <a:noFill/>
          <a:ln w="4762">
            <a:solidFill>
              <a:srgbClr val="0066CC">
                <a:alpha val="15000"/>
              </a:srgbClr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2026-06-21T12:25:49Z</dcterms:created>
  <dcterms:modified xsi:type="dcterms:W3CDTF">2026-06-21T12:25:49Z</dcterms:modified>
  <cp:category/>
  <cp:contentStatus/>
</cp:coreProperties>
</file>