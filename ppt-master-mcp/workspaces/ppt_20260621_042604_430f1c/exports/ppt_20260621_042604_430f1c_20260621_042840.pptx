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50000">
                <a:srgbClr val="001F4D"/>
              </a:gs>
              <a:gs pos="100000">
                <a:srgbClr val="000D1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763000" y="-762000"/>
            <a:ext cx="3429000" cy="3429000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810750" y="285750"/>
            <a:ext cx="2286000" cy="2286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-3333750" y="3333750"/>
            <a:ext cx="4762500" cy="4762500"/>
          </a:xfrm>
          <a:prstGeom prst="ellipse">
            <a:avLst/>
          </a:prstGeom>
          <a:solidFill>
            <a:srgbClr val="FFFFFF">
              <a:alpha val="2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235538" y="2120265"/>
            <a:ext cx="572092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2026年美以对伊军事冲突中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74830" y="2691765"/>
            <a:ext cx="424234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信息数据战分析报告</a:t>
            </a:r>
          </a:p>
        </p:txBody>
      </p:sp>
      <p:sp>
        <p:nvSpPr>
          <p:cNvPr id="11" name="Line 11"/>
          <p:cNvSpPr/>
          <p:nvPr/>
        </p:nvSpPr>
        <p:spPr>
          <a:xfrm>
            <a:off x="4191000" y="3429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9050">
            <a:solidFill>
              <a:srgbClr val="00B4D8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57900" y="3390900"/>
            <a:ext cx="76200" cy="76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24976" y="3727132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供内部参阅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78742" y="46167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信息数据战研究课题组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0712" y="5013960"/>
            <a:ext cx="7905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8909C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657225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003366">
              <a:alpha val="5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4F8"/>
              </a:gs>
              <a:gs pos="100000">
                <a:srgbClr val="E8EEF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0" cy="6858000"/>
          </a:xfrm>
          <a:prstGeom prst="rect">
            <a:avLst/>
          </a:prstGeom>
          <a:solidFill>
            <a:srgbClr val="0050B3">
              <a:alpha val="5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0"/>
            <a:ext cx="571500" cy="6858000"/>
          </a:xfrm>
          <a:custGeom>
            <a:avLst/>
            <a:gdLst/>
            <a:ahLst/>
            <a:cxnLst/>
            <a:rect l="l" t="t" r="r" b="b"/>
            <a:pathLst>
              <a:path w="571500" h="6858000">
                <a:moveTo>
                  <a:pt x="571500" y="0"/>
                </a:moveTo>
                <a:lnTo>
                  <a:pt x="571500" y="6858000"/>
                </a:lnTo>
                <a:lnTo>
                  <a:pt x="0" y="6477000"/>
                </a:lnTo>
                <a:lnTo>
                  <a:pt x="0" y="381000"/>
                </a:lnTo>
                <a:close/>
              </a:path>
            </a:pathLst>
          </a:custGeom>
          <a:solidFill>
            <a:srgbClr val="0050B3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5937" y="363855"/>
            <a:ext cx="34737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675" y="376238"/>
            <a:ext cx="3721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9260" y="489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8909C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62000" y="10477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10477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28700" y="1219200"/>
            <a:ext cx="419100" cy="4191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03686" y="133350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0200" y="1219200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5915" y="1553528"/>
            <a:ext cx="29320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交通摄像头→全天候瞄准镜，8200部队渗透案例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143125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14312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28700" y="2314575"/>
            <a:ext cx="419100" cy="4191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03686" y="2428875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0200" y="2314575"/>
            <a:ext cx="29994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5915" y="2648902"/>
            <a:ext cx="29460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伊朗全国流量下降98%，网络战与物理打击同步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23850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62000" y="3238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1028700" y="3409950"/>
            <a:ext cx="419100" cy="4191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03686" y="352425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00200" y="3409950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05915" y="3744278"/>
            <a:ext cx="32260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前两月花费250-290亿，每枚导弹即一台飞行计算机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" y="4333875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62000" y="4333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028700" y="4505325"/>
            <a:ext cx="419100" cy="4191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03686" y="4619625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00200" y="4505325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05915" y="4839652"/>
            <a:ext cx="29040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伊朗无人机打击AWS数据中心，击落11架MQ-9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54292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5429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1028700" y="5600700"/>
            <a:ext cx="419100" cy="4191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03686" y="571500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00200" y="5600700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05915" y="5935028"/>
            <a:ext cx="2623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星链渗透与伊朗反制：射频干扰→终端失效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477000" y="1047750"/>
            <a:ext cx="4953000" cy="5286375"/>
          </a:xfrm>
          <a:prstGeom prst="roundRect">
            <a:avLst>
              <a:gd name="adj" fmla="val 2308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0050B3">
                <a:alpha val="15000"/>
              </a:srgbClr>
            </a:solidFill>
            <a:custDash>
              <a:ds d="500000" sp="50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8470487" y="1441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报告框架</a:t>
            </a:r>
          </a:p>
        </p:txBody>
      </p:sp>
      <p:sp>
        <p:nvSpPr>
          <p:cNvPr id="43" name="Line 43"/>
          <p:cNvSpPr/>
          <p:nvPr/>
        </p:nvSpPr>
        <p:spPr>
          <a:xfrm>
            <a:off x="7429500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0050B3">
                <a:alpha val="3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298180" y="2061210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现代战争核心已从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38160" y="2346960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火力密度转向数据定力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14109" y="2831306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64091" y="311705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数据战没有单方面的绝对优势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810500" y="371475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0050B3">
              <a:alpha val="8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04915" y="3821430"/>
            <a:ext cx="10971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5个维度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0060" y="42205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全方位解析信息数据战特征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623387" y="6551295"/>
            <a:ext cx="29452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2026年美以对伊军事冲突中信息数据战分析报告 · 目录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8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691" y="380048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92430"/>
            <a:ext cx="41698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04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50B3">
                <a:alpha val="20000"/>
              </a:srgbClr>
            </a:solidFill>
            <a:prstDash val="dash"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047750"/>
            <a:ext cx="38100" cy="47625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840903" y="1205389"/>
            <a:ext cx="651019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城市智慧化程度越高，战场透明化程度也越高——民用监控设施的战时军事价值急剧上升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714500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62000" y="1857375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0878" y="19250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核心案例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7855" y="189261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以色列精确打击德黑兰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7712" y="2259806"/>
            <a:ext cx="32989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2026.2.28开战当天，以色列空军对德黑兰市内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3912" y="250745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多个目标实施精确打击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2755106"/>
            <a:ext cx="30364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打击坐标来源：8200部队与摩萨德多年渗透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7712" y="3002756"/>
            <a:ext cx="28564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长期系统性地接管交通摄像头等民用设备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7712" y="3250406"/>
            <a:ext cx="31339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AI算法分析行为模式，识别军官护卫车队路线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714500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286500" y="1714500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1857375"/>
            <a:ext cx="952500" cy="247650"/>
          </a:xfrm>
          <a:prstGeom prst="roundRect">
            <a:avLst>
              <a:gd name="adj" fmla="val 15385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45878" y="19250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渗透手段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2712" y="2307431"/>
            <a:ext cx="2593181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交通监控摄像头——实时视频流加密回传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市政传感器——环境数据辅助情报分析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车牌识别——推断机构内部车辆隶属关系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出入频率统计——定位秘密指挥点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810000"/>
            <a:ext cx="11049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0050B3">
                <a:alpha val="30000"/>
              </a:srgb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3810000"/>
            <a:ext cx="11049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20473" y="4045268"/>
            <a:ext cx="951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⚡ 核心结论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60407" y="4394835"/>
            <a:ext cx="56711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民用监控设施已成为"城市安全 ↔ 战场透明"的一线之隔。防御方必须对监控设备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80560" y="4632960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实施严格的密码管理、固件更新和网络隔离。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0070" y="6570345"/>
            <a:ext cx="2393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来源：金融时报、路透社2026年3月深度报道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8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691" y="380048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92430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04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50B3">
                <a:alpha val="20000"/>
              </a:srgbClr>
            </a:solidFill>
            <a:prstDash val="dash"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047750"/>
            <a:ext cx="38100" cy="476250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500860" y="1205389"/>
            <a:ext cx="71902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先切断对手的数据神经，再实施物理打击——网络战的窗口可能只有数小时，却足以决定战局走向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71450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3429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902016" y="1756410"/>
            <a:ext cx="7679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6609" y="221218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伊朗全国互联网流量骤降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0470" y="2466499"/>
            <a:ext cx="2391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前一周正常水平对比 · Cloudflare Radar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39026" y="2704624"/>
            <a:ext cx="1493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最低降至正常水平的约4%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81500" y="171450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81500" y="1714500"/>
            <a:ext cx="3429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277262" y="1756410"/>
            <a:ext cx="16374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7:00 UTC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87876" y="2212181"/>
            <a:ext cx="14162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2026.2.28 开战时刻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6754" y="2466499"/>
            <a:ext cx="18384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IRNA等主要新闻网站遭入侵下线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73504" y="27046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祈祷应用被劫持推送心理战信息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191500" y="171450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191500" y="1714500"/>
            <a:ext cx="34290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493663" y="1756410"/>
            <a:ext cx="8246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双重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05339" y="2212181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伊朗主动切网 + 美以网络攻击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3536" y="24664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多重因素叠加导致断网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83504" y="27046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德黑兰、法尔斯等省份接近归零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381375"/>
            <a:ext cx="11049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3381375"/>
            <a:ext cx="76200" cy="19050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0105" y="356901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网络战的多维打击体系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2962" y="3926681"/>
            <a:ext cx="4579144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 xml:space="preserve">❶ </a:t>
            </a:r>
            <a:r>
              <a:rPr lang="zh-CN" sz="1125" b="1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物理层断网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：伊朗当局主动切断全国互联网，阻断外部侦察和内部协调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 xml:space="preserve">❷ </a:t>
            </a:r>
            <a:r>
              <a:rPr lang="zh-CN" sz="1125" b="1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网络层攻击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：美以网络攻击与军事打击同步，入侵IRNA等主要新闻网站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 xml:space="preserve">❸ </a:t>
            </a:r>
            <a:r>
              <a:rPr lang="zh-CN" sz="1125" b="1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心理层作战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：劫持BadeSaba祈祷应用推送心理战信息，瓦解民众意志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 xml:space="preserve">❹ </a:t>
            </a:r>
            <a:r>
              <a:rPr lang="zh-CN" sz="1125" b="1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信息层封锁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：伊朗官方媒体系统瘫痪，信息发布渠道被全面压制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5476875"/>
            <a:ext cx="11049000" cy="428625"/>
          </a:xfrm>
          <a:prstGeom prst="roundRect">
            <a:avLst>
              <a:gd name="adj" fmla="val 13333"/>
            </a:avLst>
          </a:prstGeom>
          <a:solidFill>
            <a:srgbClr val="0050B3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292411" y="5623560"/>
            <a:ext cx="56071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💡 关键信息基础设施的供应链安全和主动防御能力，已与航母、战斗机同等重要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0070" y="6570345"/>
            <a:ext cx="20331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来源：NetBlocks、Cloudflare Radar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F8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34691" y="380048"/>
            <a:ext cx="3498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392430"/>
            <a:ext cx="59781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战争账单即数据账单 · 算力节点成高价值目标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04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50B3">
                <a:alpha val="20000"/>
              </a:srgbClr>
            </a:solidFill>
            <a:prstDash val="dash"/>
          </a:ln>
        </p:spPr>
      </p:sp>
      <p:sp>
        <p:nvSpPr>
          <p:cNvPr id="8" name="Rectangle 8"/>
          <p:cNvSpPr/>
          <p:nvPr/>
        </p:nvSpPr>
        <p:spPr>
          <a:xfrm>
            <a:off x="571500" y="1047750"/>
            <a:ext cx="5334000" cy="47625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047750"/>
            <a:ext cx="38100" cy="47625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5808" y="1205389"/>
            <a:ext cx="36028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战争账单：每一枚导弹都是一台会飞的计算机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666875"/>
            <a:ext cx="1714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666875"/>
            <a:ext cx="17145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4714" y="1786890"/>
            <a:ext cx="12680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250-290亿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7230" y="21412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前两月美军总花费（美元）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381250" y="1666875"/>
            <a:ext cx="1714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381250" y="1666875"/>
            <a:ext cx="17145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881698" y="1786890"/>
            <a:ext cx="7136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113亿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06980" y="21412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第一周未预算支出（美元）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1666875"/>
            <a:ext cx="1714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191000" y="1666875"/>
            <a:ext cx="17145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91448" y="1786890"/>
            <a:ext cx="7136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230万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86726" y="2141220"/>
            <a:ext cx="15230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JASSM导弹单价（美元/枚）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8165" y="2744152"/>
            <a:ext cx="4407217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JASSM/战斧导弹 = 惯性导航 + 卫星接收 + 地形匹配 + 末端目标识别</a:t>
            </a:r>
            <a:r>
              <a:rPr lang="zh-CN" sz="105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防空弱化后改用JDAM（GBU-31约10.7万）——数据链需求降低致成本骤降</a:t>
            </a:r>
            <a:r>
              <a:rPr lang="zh-CN" sz="1050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THAAD库存消耗至少50%，Patriot拦截弹消耗42%-50%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047750"/>
            <a:ext cx="5334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047750"/>
            <a:ext cx="38100" cy="476250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460808" y="1205389"/>
            <a:ext cx="43347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2E44"/>
                </a:solidFill>
                <a:latin typeface="Segoe UI"/>
                <a:ea typeface="Microsoft YaHei"/>
                <a:cs typeface="Segoe UI"/>
              </a:rPr>
              <a:t>算力节点：伊朗非对称反击——不打航母，专打数据中心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86500" y="1666875"/>
            <a:ext cx="5334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286500" y="166687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57962" y="1859756"/>
            <a:ext cx="314325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125" b="1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2026.3.1-2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 xml:space="preserve"> 伊朗无人机袭击海湾地区基础设施：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AWS阿联酋ME-CENTRAL-1可用区被直接命中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AWS巴林ME-SOUTH-1可用区遭受间接损害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EC2、S3、DynamoDB等核心服务严重降级</a:t>
            </a:r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● 这些数据中心托管着美军AI指挥链核心节点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3238500"/>
            <a:ext cx="25717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286500" y="3238500"/>
            <a:ext cx="38100" cy="619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308840" y="3346132"/>
            <a:ext cx="5270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11架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4389" y="3638074"/>
            <a:ext cx="16759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至少击落MQ-9"死神"无人机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048750" y="3238500"/>
            <a:ext cx="25717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0E6E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9048750" y="3238500"/>
            <a:ext cx="38100" cy="61912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944024" y="3346132"/>
            <a:ext cx="7812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3000万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33156" y="3638074"/>
            <a:ext cx="14029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B8C"/>
                </a:solidFill>
                <a:latin typeface="Segoe UI"/>
                <a:ea typeface="Microsoft YaHei"/>
                <a:cs typeface="Segoe UI"/>
              </a:rPr>
              <a:t>每架MQ-9成本（美元）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000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0050B3">
              <a:alpha val="6000"/>
            </a:srgbClr>
          </a:solidFill>
          <a:ln w="9525">
            <a:solidFill>
              <a:srgbClr val="0050B3">
                <a:alpha val="20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46891" y="4196239"/>
            <a:ext cx="8982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⚡ 核心洞察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81300" y="4479131"/>
            <a:ext cx="6629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D4A"/>
                </a:solidFill>
                <a:latin typeface="Segoe UI"/>
                <a:ea typeface="Microsoft YaHei"/>
                <a:cs typeface="Segoe UI"/>
              </a:rPr>
              <a:t>摧毁一个算力节点，可能比摧毁十个军事基地更具战略效果。数据中心与弹药库、指挥所同等重要。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0070" y="657034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来源：美军公开开支数据、AWS官方通告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50000">
                <a:srgbClr val="001F4D"/>
              </a:gs>
              <a:gs pos="100000">
                <a:srgbClr val="000D1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5873750"/>
            <a:ext cx="12192000" cy="984250"/>
          </a:xfrm>
          <a:custGeom>
            <a:avLst/>
            <a:gdLst/>
            <a:ahLst/>
            <a:cxnLst/>
            <a:rect l="l" t="t" r="r" b="b"/>
            <a:pathLst>
              <a:path w="12192000" h="984250">
                <a:moveTo>
                  <a:pt x="0" y="603250"/>
                </a:moveTo>
                <a:cubicBezTo>
                  <a:pt x="1270000" y="349250"/>
                  <a:pt x="2540000" y="317500"/>
                  <a:pt x="3810000" y="508000"/>
                </a:cubicBezTo>
                <a:cubicBezTo>
                  <a:pt x="5080000" y="698500"/>
                  <a:pt x="6350000" y="635000"/>
                  <a:pt x="7620000" y="317500"/>
                </a:cubicBezTo>
                <a:cubicBezTo>
                  <a:pt x="8890000" y="0"/>
                  <a:pt x="10414000" y="63500"/>
                  <a:pt x="12192000" y="508000"/>
                </a:cubicBezTo>
                <a:lnTo>
                  <a:pt x="12192000" y="984250"/>
                </a:lnTo>
                <a:lnTo>
                  <a:pt x="0" y="984250"/>
                </a:lnTo>
                <a:close/>
              </a:path>
            </a:pathLst>
          </a:custGeom>
          <a:solidFill>
            <a:srgbClr val="00B4D8">
              <a:alpha val="6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804386" y="39338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7143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B4D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904875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904875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108710"/>
            <a:ext cx="16602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星链渗透 vs 伊朗反制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1458278"/>
            <a:ext cx="2580322" cy="89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SpaceX向美军出售Starshield军事版终端</a:t>
            </a: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约6000台Starlink终端走私入境伊朗</a:t>
            </a: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伊朗反间谍行动没收数百台终端</a:t>
            </a: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部署射频干扰系统使部分终端完全失效</a:t>
            </a:r>
          </a:p>
        </p:txBody>
      </p:sp>
      <p:sp>
        <p:nvSpPr>
          <p:cNvPr id="12" name="Line 12"/>
          <p:cNvSpPr/>
          <p:nvPr/>
        </p:nvSpPr>
        <p:spPr>
          <a:xfrm>
            <a:off x="6096000" y="904875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9525">
            <a:solidFill>
              <a:srgbClr val="00B4D8">
                <a:alpha val="30000"/>
              </a:srgbClr>
            </a:solidFill>
            <a:prstDash val="dash"/>
          </a:ln>
        </p:spPr>
      </p:sp>
      <p:sp>
        <p:nvSpPr>
          <p:cNvPr id="13" name="Rectangle 13"/>
          <p:cNvSpPr/>
          <p:nvPr/>
        </p:nvSpPr>
        <p:spPr>
          <a:xfrm>
            <a:off x="6286500" y="904875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286500" y="904875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61760" y="11087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数据对抗时代的本质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3665" y="1458278"/>
            <a:ext cx="2020253" cy="899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进攻方利用卫星网络追踪目标</a:t>
            </a: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防御方利用信号特征反向定位</a:t>
            </a: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数据内容可以加密</a:t>
            </a:r>
            <a:r>
              <a:rPr lang="zh-CN" sz="1050" dirty="0">
                <a:solidFill>
                  <a:srgbClr val="CFD8DC"/>
                </a:solidFill>
                <a:latin typeface="Segoe UI"/>
                <a:ea typeface="Microsoft YaHei"/>
                <a:cs typeface="Segoe UI"/>
              </a:rPr>
              <a:t>● 但"正在通信"这一事实无法隐藏</a:t>
            </a:r>
          </a:p>
        </p:txBody>
      </p:sp>
      <p:sp>
        <p:nvSpPr>
          <p:cNvPr id="17" name="Line 17"/>
          <p:cNvSpPr/>
          <p:nvPr/>
        </p:nvSpPr>
        <p:spPr>
          <a:xfrm>
            <a:off x="571500" y="3048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0B4D8">
                <a:alpha val="2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252133" y="3218498"/>
            <a:ext cx="168773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三条总体判断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714750"/>
            <a:ext cx="352425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714750"/>
            <a:ext cx="352425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212517" y="3902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B4D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4270" y="42043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从火力密度转向数据定力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1112" y="4514374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谁掌握数据采集、传输、算力和算法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66186" y="470487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谁就掌握主动权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33875" y="3714750"/>
            <a:ext cx="352425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333875" y="3714750"/>
            <a:ext cx="352425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974892" y="3902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B4D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56644" y="42043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43488" y="4514374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交通摄像头、云数据中心、低轨卫星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43488" y="4704874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战时瞬间转化为情报来源与打击目标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3714750"/>
            <a:ext cx="352425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3714750"/>
            <a:ext cx="352425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737267" y="39023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B4D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87040" y="42043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数据战没有绝对优势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70871" y="45143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弱势一方也能找到强者的数据节点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60919" y="470487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B0BEC5"/>
                </a:solidFill>
                <a:latin typeface="Segoe UI"/>
                <a:ea typeface="Microsoft YaHei"/>
                <a:cs typeface="Segoe UI"/>
              </a:rPr>
              <a:t>实施致命非对称打击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714500" y="5191125"/>
            <a:ext cx="8763000" cy="762000"/>
          </a:xfrm>
          <a:prstGeom prst="roundRect">
            <a:avLst>
              <a:gd name="adj" fmla="val 10000"/>
            </a:avLst>
          </a:prstGeom>
          <a:solidFill>
            <a:srgbClr val="00B4D8">
              <a:alpha val="8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80410" y="5394960"/>
            <a:ext cx="56311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下一次战争的第一声警报，可能不是防空雷达的蜂鸣，而是数据中心的断电报警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80460" y="5680710"/>
            <a:ext cx="4831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第一个倒下的，可能不是士兵，而是一根连接国家与外界的海底光缆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rgbClr val="003366">
              <a:alpha val="50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0" y="657225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383357" y="6684645"/>
            <a:ext cx="34252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8909C"/>
                </a:solidFill>
                <a:latin typeface="Segoe UI"/>
                <a:ea typeface="Microsoft YaHei"/>
                <a:cs typeface="Segoe UI"/>
              </a:rPr>
              <a:t>2026年美以对伊军事冲突中信息数据战分析报告 · 仅供内部参阅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2026-06-20T20:28:40Z</dcterms:created>
  <dcterms:modified xsi:type="dcterms:W3CDTF">2026-06-20T20:28:40Z</dcterms:modified>
  <cp:category/>
  <cp:contentStatus/>
</cp:coreProperties>
</file>