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10287000" y="142875"/>
            <a:ext cx="1524000" cy="381000"/>
          </a:xfrm>
          <a:prstGeom prst="roundRect">
            <a:avLst>
              <a:gd name="adj" fmla="val 10000"/>
            </a:avLst>
          </a:prstGeom>
          <a:solidFill>
            <a:srgbClr val="003366"/>
          </a:solidFill>
          <a:ln w="9525">
            <a:solidFill>
              <a:srgbClr val="FFFFFF">
                <a:alpha val="50000"/>
              </a:srgbClr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10776585" y="275749"/>
            <a:ext cx="5448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报告编号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679622" y="2407920"/>
            <a:ext cx="483275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关于2026年美以对伊军事冲突中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385310" y="2836545"/>
            <a:ext cx="342138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信息数据战的分析报告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766786" y="3409950"/>
            <a:ext cx="265842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"史诗狂怒"行动中的数字战场</a:t>
            </a:r>
          </a:p>
        </p:txBody>
      </p:sp>
      <p:sp>
        <p:nvSpPr>
          <p:cNvPr id="10" name="Line 10"/>
          <p:cNvSpPr/>
          <p:nvPr/>
        </p:nvSpPr>
        <p:spPr>
          <a:xfrm>
            <a:off x="5143500" y="3952875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19050">
            <a:solidFill>
              <a:srgbClr val="0066CC"/>
            </a:solidFill>
          </a:ln>
        </p:spPr>
      </p:sp>
      <p:sp>
        <p:nvSpPr>
          <p:cNvPr id="11" name="Ellipse 11"/>
          <p:cNvSpPr/>
          <p:nvPr/>
        </p:nvSpPr>
        <p:spPr>
          <a:xfrm>
            <a:off x="5162550" y="3924300"/>
            <a:ext cx="57150" cy="5715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2" name="Ellipse 12"/>
          <p:cNvSpPr/>
          <p:nvPr/>
        </p:nvSpPr>
        <p:spPr>
          <a:xfrm>
            <a:off x="5876925" y="3924300"/>
            <a:ext cx="57150" cy="5715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3" name="Ellipse 13"/>
          <p:cNvSpPr/>
          <p:nvPr/>
        </p:nvSpPr>
        <p:spPr>
          <a:xfrm>
            <a:off x="6591300" y="3924300"/>
            <a:ext cx="57150" cy="5715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5448776" y="4331018"/>
            <a:ext cx="129444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（供内部参阅）</a:t>
            </a:r>
          </a:p>
        </p:txBody>
      </p:sp>
      <p:sp>
        <p:nvSpPr>
          <p:cNvPr id="15" name="Rectangle 15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5750123" y="6506528"/>
            <a:ext cx="69175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99999"/>
                </a:solidFill>
                <a:latin typeface="Segoe UI"/>
                <a:ea typeface="Microsoft YaHei"/>
                <a:cs typeface="Segoe UI"/>
              </a:rPr>
              <a:t>2026年6月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53390" y="234315"/>
            <a:ext cx="62539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目 录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64820" y="521970"/>
            <a:ext cx="57492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>
                    <a:alphaMod val="70000"/>
                  </a:srgbClr>
                </a:solidFill>
                <a:latin typeface="Segoe UI"/>
                <a:ea typeface="Microsoft YaHei"/>
                <a:cs typeface="Segoe UI"/>
              </a:rPr>
              <a:t>CONTENTS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143000"/>
            <a:ext cx="5143500" cy="762000"/>
          </a:xfrm>
          <a:prstGeom prst="roundRect">
            <a:avLst>
              <a:gd name="adj" fmla="val 10000"/>
            </a:avLst>
          </a:prstGeom>
          <a:solidFill>
            <a:srgbClr val="F0F4F8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1143000"/>
            <a:ext cx="76200" cy="762000"/>
          </a:xfrm>
          <a:prstGeom prst="roundRect">
            <a:avLst>
              <a:gd name="adj" fmla="val 25000"/>
            </a:avLst>
          </a:prstGeom>
          <a:solidFill>
            <a:srgbClr val="CC000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840105" y="1283018"/>
            <a:ext cx="30586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03366"/>
                </a:solidFill>
                <a:latin typeface="Segoe UI"/>
                <a:ea typeface="Microsoft YaHei"/>
                <a:cs typeface="Segoe UI"/>
              </a:rPr>
              <a:t>一、民用监控系统已成为战略情报源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4868" y="1561624"/>
            <a:ext cx="23650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交通摄像头 → 全天候瞄准镜，AI行为分析</a:t>
            </a:r>
          </a:p>
        </p:txBody>
      </p:sp>
      <p:sp>
        <p:nvSpPr>
          <p:cNvPr id="11" name="Rectangle 11"/>
          <p:cNvSpPr/>
          <p:nvPr/>
        </p:nvSpPr>
        <p:spPr>
          <a:xfrm>
            <a:off x="6286500" y="1143000"/>
            <a:ext cx="5143500" cy="762000"/>
          </a:xfrm>
          <a:prstGeom prst="roundRect">
            <a:avLst>
              <a:gd name="adj" fmla="val 10000"/>
            </a:avLst>
          </a:prstGeom>
          <a:solidFill>
            <a:srgbClr val="F0F4F8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6286500" y="1143000"/>
            <a:ext cx="76200" cy="762000"/>
          </a:xfrm>
          <a:prstGeom prst="roundRect">
            <a:avLst>
              <a:gd name="adj" fmla="val 25000"/>
            </a:avLst>
          </a:prstGeom>
          <a:solidFill>
            <a:srgbClr val="0066CC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6555105" y="1283018"/>
            <a:ext cx="307757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03366"/>
                </a:solidFill>
                <a:latin typeface="Segoe UI"/>
                <a:ea typeface="Microsoft YaHei"/>
                <a:cs typeface="Segoe UI"/>
              </a:rPr>
              <a:t>二、网络阻断已成为开战的"第一枪"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559868" y="1561624"/>
            <a:ext cx="21440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伊朗全国流量断崖下跌至正常水平4%</a:t>
            </a:r>
          </a:p>
        </p:txBody>
      </p:sp>
      <p:sp>
        <p:nvSpPr>
          <p:cNvPr id="15" name="Rectangle 15"/>
          <p:cNvSpPr/>
          <p:nvPr/>
        </p:nvSpPr>
        <p:spPr>
          <a:xfrm>
            <a:off x="571500" y="2190750"/>
            <a:ext cx="5143500" cy="762000"/>
          </a:xfrm>
          <a:prstGeom prst="roundRect">
            <a:avLst>
              <a:gd name="adj" fmla="val 10000"/>
            </a:avLst>
          </a:prstGeom>
          <a:solidFill>
            <a:srgbClr val="F0F4F8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571500" y="2190750"/>
            <a:ext cx="76200" cy="762000"/>
          </a:xfrm>
          <a:prstGeom prst="roundRect">
            <a:avLst>
              <a:gd name="adj" fmla="val 25000"/>
            </a:avLst>
          </a:prstGeom>
          <a:solidFill>
            <a:srgbClr val="0066CC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840105" y="2330768"/>
            <a:ext cx="286964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03366"/>
                </a:solidFill>
                <a:latin typeface="Segoe UI"/>
                <a:ea typeface="Microsoft YaHei"/>
                <a:cs typeface="Segoe UI"/>
              </a:rPr>
              <a:t>三、战争账单本质上就是数据账单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44868" y="2609374"/>
            <a:ext cx="195550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前两月美军花费约250~290亿美元</a:t>
            </a:r>
          </a:p>
        </p:txBody>
      </p:sp>
      <p:sp>
        <p:nvSpPr>
          <p:cNvPr id="19" name="Rectangle 19"/>
          <p:cNvSpPr/>
          <p:nvPr/>
        </p:nvSpPr>
        <p:spPr>
          <a:xfrm>
            <a:off x="6286500" y="2190750"/>
            <a:ext cx="5143500" cy="762000"/>
          </a:xfrm>
          <a:prstGeom prst="roundRect">
            <a:avLst>
              <a:gd name="adj" fmla="val 10000"/>
            </a:avLst>
          </a:prstGeom>
          <a:solidFill>
            <a:srgbClr val="F0F4F8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6286500" y="2190750"/>
            <a:ext cx="76200" cy="762000"/>
          </a:xfrm>
          <a:prstGeom prst="roundRect">
            <a:avLst>
              <a:gd name="adj" fmla="val 25000"/>
            </a:avLst>
          </a:prstGeom>
          <a:solidFill>
            <a:srgbClr val="0066CC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6555105" y="2330768"/>
            <a:ext cx="30586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03366"/>
                </a:solidFill>
                <a:latin typeface="Segoe UI"/>
                <a:ea typeface="Microsoft YaHei"/>
                <a:cs typeface="Segoe UI"/>
              </a:rPr>
              <a:t>四、算力节点已成为高价值战略目标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559868" y="2609374"/>
            <a:ext cx="249507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伊朗非对称反击：不打航母，专打数据中心</a:t>
            </a:r>
          </a:p>
        </p:txBody>
      </p:sp>
      <p:sp>
        <p:nvSpPr>
          <p:cNvPr id="23" name="Rectangle 23"/>
          <p:cNvSpPr/>
          <p:nvPr/>
        </p:nvSpPr>
        <p:spPr>
          <a:xfrm>
            <a:off x="571500" y="3238500"/>
            <a:ext cx="10858500" cy="762000"/>
          </a:xfrm>
          <a:prstGeom prst="roundRect">
            <a:avLst>
              <a:gd name="adj" fmla="val 10000"/>
            </a:avLst>
          </a:prstGeom>
          <a:solidFill>
            <a:srgbClr val="F0F4F8"/>
          </a:solidFill>
          <a:ln>
            <a:noFill/>
          </a:ln>
        </p:spPr>
      </p:sp>
      <p:sp>
        <p:nvSpPr>
          <p:cNvPr id="24" name="Rectangle 24"/>
          <p:cNvSpPr/>
          <p:nvPr/>
        </p:nvSpPr>
        <p:spPr>
          <a:xfrm>
            <a:off x="571500" y="3238500"/>
            <a:ext cx="76200" cy="762000"/>
          </a:xfrm>
          <a:prstGeom prst="roundRect">
            <a:avLst>
              <a:gd name="adj" fmla="val 25000"/>
            </a:avLst>
          </a:prstGeom>
          <a:solidFill>
            <a:srgbClr val="CC0000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840105" y="3378518"/>
            <a:ext cx="24915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03366"/>
                </a:solidFill>
                <a:latin typeface="Segoe UI"/>
                <a:ea typeface="Microsoft YaHei"/>
                <a:cs typeface="Segoe UI"/>
              </a:rPr>
              <a:t>五、没有绝对安全的通信手段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44868" y="3657124"/>
            <a:ext cx="223504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星链渗透、伊朗反间谍行动与射频干扰</a:t>
            </a:r>
          </a:p>
        </p:txBody>
      </p:sp>
      <p:sp>
        <p:nvSpPr>
          <p:cNvPr id="27" name="Rectangle 27"/>
          <p:cNvSpPr/>
          <p:nvPr/>
        </p:nvSpPr>
        <p:spPr>
          <a:xfrm>
            <a:off x="571500" y="4381500"/>
            <a:ext cx="10858500" cy="1143000"/>
          </a:xfrm>
          <a:prstGeom prst="roundRect">
            <a:avLst>
              <a:gd name="adj" fmla="val 6667"/>
            </a:avLst>
          </a:prstGeom>
          <a:solidFill>
            <a:srgbClr val="E8F0FE"/>
          </a:solidFill>
          <a:ln>
            <a:noFill/>
          </a:ln>
        </p:spPr>
      </p:sp>
      <p:sp>
        <p:nvSpPr>
          <p:cNvPr id="28" name="Rectangle 28"/>
          <p:cNvSpPr/>
          <p:nvPr/>
        </p:nvSpPr>
        <p:spPr>
          <a:xfrm>
            <a:off x="571500" y="4381500"/>
            <a:ext cx="76200" cy="1143000"/>
          </a:xfrm>
          <a:prstGeom prst="roundRect">
            <a:avLst>
              <a:gd name="adj" fmla="val 25000"/>
            </a:avLst>
          </a:prstGeom>
          <a:solidFill>
            <a:srgbClr val="003366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842010" y="4537710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3366"/>
                </a:solidFill>
                <a:latin typeface="Segoe UI"/>
                <a:ea typeface="Microsoft YaHei"/>
                <a:cs typeface="Segoe UI"/>
              </a:rPr>
              <a:t>核心结论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43915" y="4839652"/>
            <a:ext cx="64674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现代战争的核心已从火力密度转向数据定力。民用基础设施即战场延伸，数据战没有单方面的绝对优势。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4868" y="5133499"/>
            <a:ext cx="470535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下一次战争的第一声警报，可能不是防空雷达的蜂鸣，而是数据中心的断电报警。</a:t>
            </a:r>
          </a:p>
        </p:txBody>
      </p:sp>
      <p:sp>
        <p:nvSpPr>
          <p:cNvPr id="32" name="Rectangle 32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5440037" y="6514624"/>
            <a:ext cx="131192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99999"/>
                </a:solidFill>
                <a:latin typeface="Segoe UI"/>
                <a:ea typeface="Microsoft YaHei"/>
                <a:cs typeface="Segoe UI"/>
              </a:rPr>
              <a:t>内部参阅 · 2026年6月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3" name="Polygon 3"/>
          <p:cNvSpPr/>
          <p:nvPr/>
        </p:nvSpPr>
        <p:spPr>
          <a:xfrm>
            <a:off x="8572500" y="0"/>
            <a:ext cx="3619500" cy="2667000"/>
          </a:xfrm>
          <a:custGeom>
            <a:avLst/>
            <a:gdLst/>
            <a:ahLst/>
            <a:cxnLst/>
            <a:rect l="l" t="t" r="r" b="b"/>
            <a:pathLst>
              <a:path w="3619500" h="2667000">
                <a:moveTo>
                  <a:pt x="0" y="0"/>
                </a:moveTo>
                <a:lnTo>
                  <a:pt x="3619500" y="0"/>
                </a:lnTo>
                <a:lnTo>
                  <a:pt x="3619500" y="2667000"/>
                </a:lnTo>
                <a:close/>
              </a:path>
            </a:pathLst>
          </a:custGeom>
          <a:solidFill>
            <a:srgbClr val="004D80">
              <a:alpha val="30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8572500" y="2857500"/>
            <a:ext cx="3810000" cy="3810000"/>
          </a:xfrm>
          <a:prstGeom prst="ellipse">
            <a:avLst/>
          </a:prstGeom>
          <a:noFill/>
          <a:ln w="9525">
            <a:solidFill>
              <a:srgbClr val="FFFFFF">
                <a:alpha val="5000"/>
              </a:srgbClr>
            </a:solidFill>
          </a:ln>
        </p:spPr>
      </p:sp>
      <p:sp>
        <p:nvSpPr>
          <p:cNvPr id="5" name="Ellipse 5"/>
          <p:cNvSpPr/>
          <p:nvPr/>
        </p:nvSpPr>
        <p:spPr>
          <a:xfrm>
            <a:off x="9144000" y="3429000"/>
            <a:ext cx="2667000" cy="2667000"/>
          </a:xfrm>
          <a:prstGeom prst="ellipse">
            <a:avLst/>
          </a:prstGeom>
          <a:noFill/>
          <a:ln w="9525">
            <a:solidFill>
              <a:srgbClr val="FFFFFF">
                <a:alpha val="8000"/>
              </a:srgbClr>
            </a:solidFill>
          </a:ln>
        </p:spPr>
      </p:sp>
      <p:sp>
        <p:nvSpPr>
          <p:cNvPr id="6" name="Rectangle 6"/>
          <p:cNvSpPr/>
          <p:nvPr/>
        </p:nvSpPr>
        <p:spPr>
          <a:xfrm>
            <a:off x="571500" y="1905000"/>
            <a:ext cx="76200" cy="1143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971550" y="1400175"/>
            <a:ext cx="2422160" cy="274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0" b="1" dirty="0">
                <a:solidFill>
                  <a:srgbClr val="FFFFFF">
                    <a:alphaMod val="8000"/>
                  </a:srgbClr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08710" y="3137535"/>
            <a:ext cx="3471005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民用监控系统已成为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8710" y="3613785"/>
            <a:ext cx="195881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战略情报源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27760" y="4251960"/>
            <a:ext cx="32308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B0C4DE"/>
                </a:solidFill>
                <a:latin typeface="Segoe UI"/>
                <a:ea typeface="Microsoft YaHei"/>
                <a:cs typeface="Segoe UI"/>
              </a:rPr>
              <a:t>城市智慧化程度越高，战场透明化程度也越高</a:t>
            </a:r>
          </a:p>
        </p:txBody>
      </p:sp>
      <p:sp>
        <p:nvSpPr>
          <p:cNvPr id="11" name="Line 11"/>
          <p:cNvSpPr/>
          <p:nvPr/>
        </p:nvSpPr>
        <p:spPr>
          <a:xfrm>
            <a:off x="1143000" y="4667250"/>
            <a:ext cx="2190750" cy="9525"/>
          </a:xfrm>
          <a:custGeom>
            <a:avLst/>
            <a:gdLst/>
            <a:ahLst/>
            <a:cxnLst/>
            <a:rect l="l" t="t" r="r" b="b"/>
            <a:pathLst>
              <a:path w="2190750" h="9525">
                <a:moveTo>
                  <a:pt x="0" y="0"/>
                </a:moveTo>
                <a:lnTo>
                  <a:pt x="2190750" y="0"/>
                </a:lnTo>
              </a:path>
            </a:pathLst>
          </a:custGeom>
          <a:noFill/>
          <a:ln w="28575">
            <a:solidFill>
              <a:srgbClr val="CC0000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1129665" y="6173152"/>
            <a:ext cx="141284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FFFF">
                    <a:alphaMod val="40000"/>
                  </a:srgbClr>
                </a:solidFill>
                <a:latin typeface="Segoe UI"/>
                <a:ea typeface="Microsoft YaHei"/>
                <a:cs typeface="Segoe UI"/>
              </a:rPr>
              <a:t>内部参阅 · 2026年6月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57200" y="266700"/>
            <a:ext cx="339852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一、民用监控系统已成为战略情报源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" y="666750"/>
            <a:ext cx="12134850" cy="476250"/>
          </a:xfrm>
          <a:prstGeom prst="rect">
            <a:avLst/>
          </a:prstGeom>
          <a:solidFill>
            <a:srgbClr val="F0F4F8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271462" y="831056"/>
            <a:ext cx="45291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核心观点：城市里的交通摄像头在战时可以变成对手的全天候瞄准镜</a:t>
            </a:r>
          </a:p>
        </p:txBody>
      </p:sp>
      <p:sp>
        <p:nvSpPr>
          <p:cNvPr id="9" name="Rectangle 9"/>
          <p:cNvSpPr/>
          <p:nvPr/>
        </p:nvSpPr>
        <p:spPr>
          <a:xfrm>
            <a:off x="381000" y="1381125"/>
            <a:ext cx="5524500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381000" y="1381125"/>
            <a:ext cx="5524500" cy="304800"/>
          </a:xfrm>
          <a:prstGeom prst="roundRect">
            <a:avLst>
              <a:gd name="adj" fmla="val 25000"/>
            </a:avLst>
          </a:prstGeom>
          <a:solidFill>
            <a:srgbClr val="003366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381000" y="1609725"/>
            <a:ext cx="5524500" cy="762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558165" y="1467802"/>
            <a:ext cx="193790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以军精准打击的关键情报来源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58165" y="1839278"/>
            <a:ext cx="30650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• 2026年2月28日开战当天，以色列空军对德黑兰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53415" y="2029778"/>
            <a:ext cx="142684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多个目标实施精确打击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58165" y="2267902"/>
            <a:ext cx="283402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• 打击坐标来源：8200部队与摩萨德联合行动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58165" y="2506028"/>
            <a:ext cx="196591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• 引用来源：《金融时报》披露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58165" y="2744152"/>
            <a:ext cx="322607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• 覆盖目标：高级军官住所、秘密指挥点、关键设施</a:t>
            </a:r>
          </a:p>
        </p:txBody>
      </p:sp>
      <p:sp>
        <p:nvSpPr>
          <p:cNvPr id="18" name="Rectangle 18"/>
          <p:cNvSpPr/>
          <p:nvPr/>
        </p:nvSpPr>
        <p:spPr>
          <a:xfrm>
            <a:off x="6286500" y="1381125"/>
            <a:ext cx="5524500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6286500" y="1381125"/>
            <a:ext cx="5524500" cy="304800"/>
          </a:xfrm>
          <a:prstGeom prst="roundRect">
            <a:avLst>
              <a:gd name="adj" fmla="val 25000"/>
            </a:avLst>
          </a:prstGeom>
          <a:solidFill>
            <a:srgbClr val="CC0000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6286500" y="1609725"/>
            <a:ext cx="5524500" cy="762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6463665" y="1467802"/>
            <a:ext cx="162181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全面的网络渗透与AI分析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463665" y="1839278"/>
            <a:ext cx="280601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• 渗透目标：交通监控摄像头、市政传感器等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63665" y="2077402"/>
            <a:ext cx="266600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• 操作方式：长期系统性地接管设备控制权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463665" y="2315528"/>
            <a:ext cx="282702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• 数据链条：实时视频流 → 加密回传 → AI分析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463665" y="2553652"/>
            <a:ext cx="249097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• 引用来源：路透社2026年3月深度报道</a:t>
            </a:r>
          </a:p>
        </p:txBody>
      </p:sp>
      <p:sp>
        <p:nvSpPr>
          <p:cNvPr id="26" name="Rectangle 26"/>
          <p:cNvSpPr/>
          <p:nvPr/>
        </p:nvSpPr>
        <p:spPr>
          <a:xfrm>
            <a:off x="381000" y="3429000"/>
            <a:ext cx="11430000" cy="857250"/>
          </a:xfrm>
          <a:prstGeom prst="roundRect">
            <a:avLst>
              <a:gd name="adj" fmla="val 8889"/>
            </a:avLst>
          </a:prstGeom>
          <a:solidFill>
            <a:srgbClr val="FFF3E0"/>
          </a:solidFill>
          <a:ln w="9525">
            <a:solidFill>
              <a:srgbClr val="FFB74D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381000" y="3429000"/>
            <a:ext cx="57150" cy="857250"/>
          </a:xfrm>
          <a:prstGeom prst="roundRect">
            <a:avLst>
              <a:gd name="adj" fmla="val 33333"/>
            </a:avLst>
          </a:prstGeom>
          <a:solidFill>
            <a:srgbClr val="FF6B35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04838" y="3574256"/>
            <a:ext cx="79254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E65100"/>
                </a:solidFill>
                <a:latin typeface="Segoe UI"/>
                <a:ea typeface="Microsoft YaHei"/>
                <a:cs typeface="Segoe UI"/>
              </a:rPr>
              <a:t>⚠ 核心启示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04838" y="3831431"/>
            <a:ext cx="587930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民用监控设施的战时军事价值急剧上升。</a:t>
            </a:r>
            <a:r>
              <a:rPr lang="zh-CN" sz="1125" b="1" dirty="0">
                <a:solidFill>
                  <a:srgbClr val="CC0000"/>
                </a:solidFill>
                <a:latin typeface="Segoe UI"/>
                <a:ea typeface="Microsoft YaHei"/>
                <a:cs typeface="Segoe UI"/>
              </a:rPr>
              <a:t>城市智慧化程度越高，战场透明化程度也越高。</a:t>
            </a:r>
          </a:p>
        </p:txBody>
      </p:sp>
      <p:sp>
        <p:nvSpPr>
          <p:cNvPr id="30" name="Rectangle 30"/>
          <p:cNvSpPr/>
          <p:nvPr/>
        </p:nvSpPr>
        <p:spPr>
          <a:xfrm>
            <a:off x="381000" y="4572000"/>
            <a:ext cx="2667000" cy="76200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1421130" y="4744402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2E7D32"/>
                </a:solidFill>
                <a:latin typeface="Segoe UI"/>
                <a:ea typeface="Microsoft YaHei"/>
                <a:cs typeface="Segoe UI"/>
              </a:rPr>
              <a:t>渗透方式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43166" y="5013960"/>
            <a:ext cx="154266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远程接管设备控制权</a:t>
            </a:r>
          </a:p>
        </p:txBody>
      </p:sp>
      <p:sp>
        <p:nvSpPr>
          <p:cNvPr id="33" name="Rectangle 33"/>
          <p:cNvSpPr/>
          <p:nvPr/>
        </p:nvSpPr>
        <p:spPr>
          <a:xfrm>
            <a:off x="3429000" y="4572000"/>
            <a:ext cx="2667000" cy="762000"/>
          </a:xfrm>
          <a:prstGeom prst="roundRect">
            <a:avLst>
              <a:gd name="adj" fmla="val 10000"/>
            </a:avLst>
          </a:prstGeom>
          <a:solidFill>
            <a:srgbClr val="E3F2FD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4469130" y="4744402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565C0"/>
                </a:solidFill>
                <a:latin typeface="Segoe UI"/>
                <a:ea typeface="Microsoft YaHei"/>
                <a:cs typeface="Segoe UI"/>
              </a:rPr>
              <a:t>分析手段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003767" y="5013960"/>
            <a:ext cx="151746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AI行为模式分析算法</a:t>
            </a:r>
          </a:p>
        </p:txBody>
      </p:sp>
      <p:sp>
        <p:nvSpPr>
          <p:cNvPr id="36" name="Rectangle 36"/>
          <p:cNvSpPr/>
          <p:nvPr/>
        </p:nvSpPr>
        <p:spPr>
          <a:xfrm>
            <a:off x="6477000" y="4572000"/>
            <a:ext cx="2667000" cy="762000"/>
          </a:xfrm>
          <a:prstGeom prst="roundRect">
            <a:avLst>
              <a:gd name="adj" fmla="val 10000"/>
            </a:avLst>
          </a:prstGeom>
          <a:solidFill>
            <a:srgbClr val="FCE4EC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7517130" y="4744402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C62828"/>
                </a:solidFill>
                <a:latin typeface="Segoe UI"/>
                <a:ea typeface="Microsoft YaHei"/>
                <a:cs typeface="Segoe UI"/>
              </a:rPr>
              <a:t>目标类型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871144" y="5013960"/>
            <a:ext cx="187871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民用基础设施全方位覆盖</a:t>
            </a:r>
          </a:p>
        </p:txBody>
      </p:sp>
      <p:sp>
        <p:nvSpPr>
          <p:cNvPr id="39" name="Rectangle 39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560070" y="6522720"/>
            <a:ext cx="134302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Segoe UI"/>
                <a:ea typeface="Microsoft YaHei"/>
                <a:cs typeface="Segoe UI"/>
              </a:rPr>
              <a:t>来源：金融时报、路透社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475494" y="6522720"/>
            <a:ext cx="124101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99999"/>
                </a:solidFill>
                <a:latin typeface="Segoe UI"/>
                <a:ea typeface="Microsoft YaHei"/>
                <a:cs typeface="Segoe UI"/>
              </a:rPr>
              <a:t>第一章 · 民用监控系统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397520" y="6522720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Segoe UI"/>
                <a:ea typeface="Microsoft YaHei"/>
                <a:cs typeface="Segoe UI"/>
              </a:rPr>
              <a:t>04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 rot="-900000">
            <a:off x="8572500" y="3810000"/>
            <a:ext cx="4762500" cy="38100"/>
          </a:xfrm>
          <a:prstGeom prst="rect">
            <a:avLst/>
          </a:prstGeom>
          <a:solidFill>
            <a:srgbClr val="FFFFFF">
              <a:alpha val="5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 rot="-600000">
            <a:off x="7620000" y="4762500"/>
            <a:ext cx="5715000" cy="28575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9239250" y="3524250"/>
            <a:ext cx="3429000" cy="3429000"/>
          </a:xfrm>
          <a:prstGeom prst="ellipse">
            <a:avLst/>
          </a:prstGeom>
          <a:noFill/>
          <a:ln w="9525">
            <a:solidFill>
              <a:srgbClr val="FFFFFF">
                <a:alpha val="4000"/>
              </a:srgbClr>
            </a:solidFill>
          </a:ln>
        </p:spPr>
      </p:sp>
      <p:sp>
        <p:nvSpPr>
          <p:cNvPr id="6" name="Rectangle 6"/>
          <p:cNvSpPr/>
          <p:nvPr/>
        </p:nvSpPr>
        <p:spPr>
          <a:xfrm>
            <a:off x="571500" y="1905000"/>
            <a:ext cx="76200" cy="1143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971550" y="1400175"/>
            <a:ext cx="2422160" cy="274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0" b="1" dirty="0">
                <a:solidFill>
                  <a:srgbClr val="FFFFFF">
                    <a:alphaMod val="8000"/>
                  </a:srgbClr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08710" y="3137535"/>
            <a:ext cx="2714911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网络阻断已成为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8710" y="3613785"/>
            <a:ext cx="2752715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开战的"第一枪"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27760" y="4251960"/>
            <a:ext cx="29108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B0C4DE"/>
                </a:solidFill>
                <a:latin typeface="Segoe UI"/>
                <a:ea typeface="Microsoft YaHei"/>
                <a:cs typeface="Segoe UI"/>
              </a:rPr>
              <a:t>先切断对手的数据神经，再实施物理打击</a:t>
            </a:r>
          </a:p>
        </p:txBody>
      </p:sp>
      <p:sp>
        <p:nvSpPr>
          <p:cNvPr id="11" name="Line 11"/>
          <p:cNvSpPr/>
          <p:nvPr/>
        </p:nvSpPr>
        <p:spPr>
          <a:xfrm>
            <a:off x="1143000" y="4667250"/>
            <a:ext cx="2190750" cy="9525"/>
          </a:xfrm>
          <a:custGeom>
            <a:avLst/>
            <a:gdLst/>
            <a:ahLst/>
            <a:cxnLst/>
            <a:rect l="l" t="t" r="r" b="b"/>
            <a:pathLst>
              <a:path w="2190750" h="9525">
                <a:moveTo>
                  <a:pt x="0" y="0"/>
                </a:moveTo>
                <a:lnTo>
                  <a:pt x="2190750" y="0"/>
                </a:lnTo>
              </a:path>
            </a:pathLst>
          </a:custGeom>
          <a:noFill/>
          <a:ln w="28575">
            <a:solidFill>
              <a:srgbClr val="CC0000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1129665" y="6173152"/>
            <a:ext cx="141284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FFFF">
                    <a:alphaMod val="40000"/>
                  </a:srgbClr>
                </a:solidFill>
                <a:latin typeface="Segoe UI"/>
                <a:ea typeface="Microsoft YaHei"/>
                <a:cs typeface="Segoe UI"/>
              </a:rPr>
              <a:t>内部参阅 · 2026年6月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57200" y="266700"/>
            <a:ext cx="3419523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二、网络阻断已成为开战的"第一枪"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" y="666750"/>
            <a:ext cx="12134850" cy="476250"/>
          </a:xfrm>
          <a:prstGeom prst="rect">
            <a:avLst/>
          </a:prstGeom>
          <a:solidFill>
            <a:srgbClr val="F0F4F8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271462" y="831056"/>
            <a:ext cx="347900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核心观点：战争在数字空间与物理空间几乎同步打响</a:t>
            </a:r>
          </a:p>
        </p:txBody>
      </p:sp>
      <p:sp>
        <p:nvSpPr>
          <p:cNvPr id="9" name="Rectangle 9"/>
          <p:cNvSpPr/>
          <p:nvPr/>
        </p:nvSpPr>
        <p:spPr>
          <a:xfrm>
            <a:off x="381000" y="1381125"/>
            <a:ext cx="5524500" cy="2286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381000" y="1381125"/>
            <a:ext cx="5524500" cy="304800"/>
          </a:xfrm>
          <a:prstGeom prst="roundRect">
            <a:avLst>
              <a:gd name="adj" fmla="val 25000"/>
            </a:avLst>
          </a:prstGeom>
          <a:solidFill>
            <a:srgbClr val="003366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381000" y="1609725"/>
            <a:ext cx="5524500" cy="762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558165" y="1467802"/>
            <a:ext cx="252598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关键数据：伊朗互联网流量断崖式下跌</a:t>
            </a:r>
          </a:p>
        </p:txBody>
      </p:sp>
      <p:sp>
        <p:nvSpPr>
          <p:cNvPr id="13" name="Rectangle 13"/>
          <p:cNvSpPr/>
          <p:nvPr/>
        </p:nvSpPr>
        <p:spPr>
          <a:xfrm>
            <a:off x="666750" y="1905000"/>
            <a:ext cx="1619250" cy="762000"/>
          </a:xfrm>
          <a:prstGeom prst="roundRect">
            <a:avLst>
              <a:gd name="adj" fmla="val 7500"/>
            </a:avLst>
          </a:prstGeom>
          <a:solidFill>
            <a:srgbClr val="FCE4EC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1227468" y="1979295"/>
            <a:ext cx="497815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4%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51881" y="2426970"/>
            <a:ext cx="10489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最低流量/正常水平</a:t>
            </a:r>
          </a:p>
        </p:txBody>
      </p:sp>
      <p:sp>
        <p:nvSpPr>
          <p:cNvPr id="16" name="Rectangle 16"/>
          <p:cNvSpPr/>
          <p:nvPr/>
        </p:nvSpPr>
        <p:spPr>
          <a:xfrm>
            <a:off x="2476500" y="1905000"/>
            <a:ext cx="1619250" cy="762000"/>
          </a:xfrm>
          <a:prstGeom prst="roundRect">
            <a:avLst>
              <a:gd name="adj" fmla="val 7500"/>
            </a:avLst>
          </a:prstGeom>
          <a:solidFill>
            <a:srgbClr val="E3F2FD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2944806" y="1979295"/>
            <a:ext cx="68263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98%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794635" y="2426970"/>
            <a:ext cx="9829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流量较前一周下降</a:t>
            </a:r>
          </a:p>
        </p:txBody>
      </p:sp>
      <p:sp>
        <p:nvSpPr>
          <p:cNvPr id="19" name="Rectangle 19"/>
          <p:cNvSpPr/>
          <p:nvPr/>
        </p:nvSpPr>
        <p:spPr>
          <a:xfrm>
            <a:off x="4286250" y="1905000"/>
            <a:ext cx="1428750" cy="762000"/>
          </a:xfrm>
          <a:prstGeom prst="roundRect">
            <a:avLst>
              <a:gd name="adj" fmla="val 7500"/>
            </a:avLst>
          </a:prstGeom>
          <a:solidFill>
            <a:srgbClr val="FFF3E0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4650515" y="2011680"/>
            <a:ext cx="70022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E65100"/>
                </a:solidFill>
                <a:latin typeface="Arial"/>
                <a:ea typeface="Microsoft YaHei"/>
                <a:cs typeface="Arial"/>
              </a:rPr>
              <a:t>7:00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632150" y="2426970"/>
            <a:ext cx="7369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UTC 开战时间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54368" y="2895124"/>
            <a:ext cx="67484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数据来源：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55320" y="3122295"/>
            <a:ext cx="180508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• 国际互联网监测组织 NetBlocks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55320" y="3312795"/>
            <a:ext cx="160705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• Cloudflare Radar 同步确认</a:t>
            </a:r>
          </a:p>
        </p:txBody>
      </p:sp>
      <p:sp>
        <p:nvSpPr>
          <p:cNvPr id="25" name="Rectangle 25"/>
          <p:cNvSpPr/>
          <p:nvPr/>
        </p:nvSpPr>
        <p:spPr>
          <a:xfrm>
            <a:off x="6286500" y="1381125"/>
            <a:ext cx="5524500" cy="2286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6286500" y="1381125"/>
            <a:ext cx="5524500" cy="304800"/>
          </a:xfrm>
          <a:prstGeom prst="roundRect">
            <a:avLst>
              <a:gd name="adj" fmla="val 25000"/>
            </a:avLst>
          </a:prstGeom>
          <a:solidFill>
            <a:srgbClr val="CC0000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6286500" y="1609725"/>
            <a:ext cx="5524500" cy="762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463665" y="1467802"/>
            <a:ext cx="9087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战术意义分析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463665" y="1839278"/>
            <a:ext cx="183989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① 网络阻断作为"战争起手式"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559868" y="2085499"/>
            <a:ext cx="23650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切断对手的指挥通信和数据链路，使敌方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559868" y="2275999"/>
            <a:ext cx="17149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防空系统和情报网络陷入瘫痪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463665" y="2553652"/>
            <a:ext cx="154586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② 数字与物理空间的协同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559868" y="2799874"/>
            <a:ext cx="23650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网络攻击与导弹打击几乎同时进行，形成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559868" y="2990374"/>
            <a:ext cx="153945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"致盲+摧毁"的复合打击链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463665" y="3268028"/>
            <a:ext cx="9857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③ 新型战争范式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559868" y="3514249"/>
            <a:ext cx="23650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数据神经被切断后，物理打击的效能倍增</a:t>
            </a:r>
          </a:p>
        </p:txBody>
      </p:sp>
      <p:sp>
        <p:nvSpPr>
          <p:cNvPr id="37" name="Rectangle 37"/>
          <p:cNvSpPr/>
          <p:nvPr/>
        </p:nvSpPr>
        <p:spPr>
          <a:xfrm>
            <a:off x="381000" y="4000500"/>
            <a:ext cx="11430000" cy="762000"/>
          </a:xfrm>
          <a:prstGeom prst="roundRect">
            <a:avLst>
              <a:gd name="adj" fmla="val 10000"/>
            </a:avLst>
          </a:prstGeom>
          <a:solidFill>
            <a:srgbClr val="FFF3E0"/>
          </a:solidFill>
          <a:ln w="9525">
            <a:solidFill>
              <a:srgbClr val="FFB74D"/>
            </a:solidFill>
          </a:ln>
        </p:spPr>
      </p:sp>
      <p:sp>
        <p:nvSpPr>
          <p:cNvPr id="38" name="Rectangle 38"/>
          <p:cNvSpPr/>
          <p:nvPr/>
        </p:nvSpPr>
        <p:spPr>
          <a:xfrm>
            <a:off x="381000" y="4000500"/>
            <a:ext cx="57150" cy="762000"/>
          </a:xfrm>
          <a:prstGeom prst="roundRect">
            <a:avLst>
              <a:gd name="adj" fmla="val 33333"/>
            </a:avLst>
          </a:prstGeom>
          <a:solidFill>
            <a:srgbClr val="FF6B35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604838" y="4145756"/>
            <a:ext cx="79254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E65100"/>
                </a:solidFill>
                <a:latin typeface="Segoe UI"/>
                <a:ea typeface="Microsoft YaHei"/>
                <a:cs typeface="Segoe UI"/>
              </a:rPr>
              <a:t>⚠ 核心启示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04838" y="4402931"/>
            <a:ext cx="722947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网络阻断已成为现代战争的标准起手式。</a:t>
            </a:r>
            <a:r>
              <a:rPr lang="zh-CN" sz="1125" b="1" dirty="0">
                <a:solidFill>
                  <a:srgbClr val="CC0000"/>
                </a:solidFill>
                <a:latin typeface="Segoe UI"/>
                <a:ea typeface="Microsoft YaHei"/>
                <a:cs typeface="Segoe UI"/>
              </a:rPr>
              <a:t>先拔掉数据神经，再实施物理打击，</a:t>
            </a:r>
            <a:r>
              <a:rPr lang="zh-CN" sz="112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已经成为不可逆转的作战范式。</a:t>
            </a:r>
          </a:p>
        </p:txBody>
      </p:sp>
      <p:sp>
        <p:nvSpPr>
          <p:cNvPr id="41" name="Rectangle 41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560070" y="6522720"/>
            <a:ext cx="201510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Segoe UI"/>
                <a:ea typeface="Microsoft YaHei"/>
                <a:cs typeface="Segoe UI"/>
              </a:rPr>
              <a:t>来源：NetBlocks, Cloudflare Radar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5595509" y="6522720"/>
            <a:ext cx="100098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99999"/>
                </a:solidFill>
                <a:latin typeface="Segoe UI"/>
                <a:ea typeface="Microsoft YaHei"/>
                <a:cs typeface="Segoe UI"/>
              </a:rPr>
              <a:t>第二章 · 网络阻断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1397520" y="6522720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Segoe UI"/>
                <a:ea typeface="Microsoft YaHei"/>
                <a:cs typeface="Segoe UI"/>
              </a:rPr>
              <a:t>06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3" name="Polygon 3"/>
          <p:cNvSpPr/>
          <p:nvPr/>
        </p:nvSpPr>
        <p:spPr>
          <a:xfrm>
            <a:off x="9048750" y="0"/>
            <a:ext cx="3143250" cy="3048000"/>
          </a:xfrm>
          <a:custGeom>
            <a:avLst/>
            <a:gdLst/>
            <a:ahLst/>
            <a:cxnLst/>
            <a:rect l="l" t="t" r="r" b="b"/>
            <a:pathLst>
              <a:path w="3143250" h="3048000">
                <a:moveTo>
                  <a:pt x="0" y="0"/>
                </a:moveTo>
                <a:lnTo>
                  <a:pt x="3143250" y="0"/>
                </a:lnTo>
                <a:lnTo>
                  <a:pt x="3143250" y="3048000"/>
                </a:lnTo>
                <a:close/>
              </a:path>
            </a:pathLst>
          </a:custGeom>
          <a:solidFill>
            <a:srgbClr val="004D80">
              <a:alpha val="30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8191500" y="2857500"/>
            <a:ext cx="4191000" cy="4191000"/>
          </a:xfrm>
          <a:prstGeom prst="ellipse">
            <a:avLst/>
          </a:prstGeom>
          <a:noFill/>
          <a:ln w="9525">
            <a:solidFill>
              <a:srgbClr val="FFFFFF">
                <a:alpha val="5000"/>
              </a:srgbClr>
            </a:solidFill>
          </a:ln>
        </p:spPr>
      </p:sp>
      <p:sp>
        <p:nvSpPr>
          <p:cNvPr id="5" name="Ellipse 5"/>
          <p:cNvSpPr/>
          <p:nvPr/>
        </p:nvSpPr>
        <p:spPr>
          <a:xfrm>
            <a:off x="8763000" y="3429000"/>
            <a:ext cx="3048000" cy="3048000"/>
          </a:xfrm>
          <a:prstGeom prst="ellipse">
            <a:avLst/>
          </a:prstGeom>
          <a:noFill/>
          <a:ln w="9525">
            <a:solidFill>
              <a:srgbClr val="FFFFFF">
                <a:alpha val="8000"/>
              </a:srgbClr>
            </a:solidFill>
          </a:ln>
        </p:spPr>
      </p:sp>
      <p:sp>
        <p:nvSpPr>
          <p:cNvPr id="6" name="Rectangle 6"/>
          <p:cNvSpPr/>
          <p:nvPr/>
        </p:nvSpPr>
        <p:spPr>
          <a:xfrm>
            <a:off x="571500" y="1905000"/>
            <a:ext cx="76200" cy="1143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971550" y="1400175"/>
            <a:ext cx="2422160" cy="274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0" b="1" dirty="0">
                <a:solidFill>
                  <a:srgbClr val="FFFFFF">
                    <a:alphaMod val="8000"/>
                  </a:srgbClr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08710" y="3137535"/>
            <a:ext cx="2714911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战争账单本质上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8710" y="3613785"/>
            <a:ext cx="233686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就是数据账单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27760" y="4251960"/>
            <a:ext cx="24307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B0C4DE"/>
                </a:solidFill>
                <a:latin typeface="Segoe UI"/>
                <a:ea typeface="Microsoft YaHei"/>
                <a:cs typeface="Segoe UI"/>
              </a:rPr>
              <a:t>每一枚导弹都是一台会飞的计算机</a:t>
            </a:r>
          </a:p>
        </p:txBody>
      </p:sp>
      <p:sp>
        <p:nvSpPr>
          <p:cNvPr id="11" name="Line 11"/>
          <p:cNvSpPr/>
          <p:nvPr/>
        </p:nvSpPr>
        <p:spPr>
          <a:xfrm>
            <a:off x="1143000" y="4667250"/>
            <a:ext cx="2190750" cy="9525"/>
          </a:xfrm>
          <a:custGeom>
            <a:avLst/>
            <a:gdLst/>
            <a:ahLst/>
            <a:cxnLst/>
            <a:rect l="l" t="t" r="r" b="b"/>
            <a:pathLst>
              <a:path w="2190750" h="9525">
                <a:moveTo>
                  <a:pt x="0" y="0"/>
                </a:moveTo>
                <a:lnTo>
                  <a:pt x="2190750" y="0"/>
                </a:lnTo>
              </a:path>
            </a:pathLst>
          </a:custGeom>
          <a:noFill/>
          <a:ln w="28575">
            <a:solidFill>
              <a:srgbClr val="CC0000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1129665" y="6173152"/>
            <a:ext cx="141284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FFFF">
                    <a:alphaMod val="40000"/>
                  </a:srgbClr>
                </a:solidFill>
                <a:latin typeface="Segoe UI"/>
                <a:ea typeface="Microsoft YaHei"/>
                <a:cs typeface="Segoe UI"/>
              </a:rPr>
              <a:t>内部参阅 · 2026年6月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57200" y="266700"/>
            <a:ext cx="318849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三、战争账单本质上就是数据账单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" y="666750"/>
            <a:ext cx="12134850" cy="476250"/>
          </a:xfrm>
          <a:prstGeom prst="rect">
            <a:avLst/>
          </a:prstGeom>
          <a:solidFill>
            <a:srgbClr val="F0F4F8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271462" y="831056"/>
            <a:ext cx="482917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核心观点：导弹昂贵不是因为炸药贵，而是每一枚都是一台会飞的计算机</a:t>
            </a:r>
          </a:p>
        </p:txBody>
      </p:sp>
      <p:sp>
        <p:nvSpPr>
          <p:cNvPr id="9" name="Rectangle 9"/>
          <p:cNvSpPr/>
          <p:nvPr/>
        </p:nvSpPr>
        <p:spPr>
          <a:xfrm>
            <a:off x="381000" y="1381125"/>
            <a:ext cx="3619500" cy="1047750"/>
          </a:xfrm>
          <a:prstGeom prst="roundRect">
            <a:avLst>
              <a:gd name="adj" fmla="val 7273"/>
            </a:avLst>
          </a:prstGeom>
          <a:solidFill>
            <a:srgbClr val="FCE4E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598059" y="1468755"/>
            <a:ext cx="118538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250~290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840355" y="1549718"/>
            <a:ext cx="60136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C62828"/>
                </a:solidFill>
                <a:latin typeface="Segoe UI"/>
                <a:ea typeface="Microsoft YaHei"/>
                <a:cs typeface="Segoe UI"/>
              </a:rPr>
              <a:t>亿美元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07319" y="1867852"/>
            <a:ext cx="15668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冲突前两个月美军总花费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20263" y="2141220"/>
            <a:ext cx="9409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日均约4~5亿美元</a:t>
            </a:r>
          </a:p>
        </p:txBody>
      </p:sp>
      <p:sp>
        <p:nvSpPr>
          <p:cNvPr id="14" name="Rectangle 14"/>
          <p:cNvSpPr/>
          <p:nvPr/>
        </p:nvSpPr>
        <p:spPr>
          <a:xfrm>
            <a:off x="4286250" y="1381125"/>
            <a:ext cx="3619500" cy="1047750"/>
          </a:xfrm>
          <a:prstGeom prst="roundRect">
            <a:avLst>
              <a:gd name="adj" fmla="val 7273"/>
            </a:avLst>
          </a:prstGeom>
          <a:solidFill>
            <a:srgbClr val="FFF3E0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5826750" y="1468755"/>
            <a:ext cx="53850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E65100"/>
                </a:solidFill>
                <a:latin typeface="Arial"/>
                <a:ea typeface="Microsoft YaHei"/>
                <a:cs typeface="Arial"/>
              </a:rPr>
              <a:t>113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459855" y="1549718"/>
            <a:ext cx="60136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65100"/>
                </a:solidFill>
                <a:latin typeface="Segoe UI"/>
                <a:ea typeface="Microsoft YaHei"/>
                <a:cs typeface="Segoe UI"/>
              </a:rPr>
              <a:t>亿美元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452586" y="1867852"/>
            <a:ext cx="128682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仅第一周超预算支出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544502" y="2141220"/>
            <a:ext cx="11029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前六天消耗尤为剧烈</a:t>
            </a:r>
          </a:p>
        </p:txBody>
      </p:sp>
      <p:sp>
        <p:nvSpPr>
          <p:cNvPr id="19" name="Rectangle 19"/>
          <p:cNvSpPr/>
          <p:nvPr/>
        </p:nvSpPr>
        <p:spPr>
          <a:xfrm>
            <a:off x="8191500" y="1381125"/>
            <a:ext cx="3619500" cy="1047750"/>
          </a:xfrm>
          <a:prstGeom prst="roundRect">
            <a:avLst>
              <a:gd name="adj" fmla="val 7273"/>
            </a:avLst>
          </a:prstGeom>
          <a:solidFill>
            <a:srgbClr val="E3F2FD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9575140" y="1501140"/>
            <a:ext cx="852221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~200万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650855" y="1549718"/>
            <a:ext cx="32727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565C0"/>
                </a:solidFill>
                <a:latin typeface="Segoe UI"/>
                <a:ea typeface="Microsoft YaHei"/>
                <a:cs typeface="Segoe UI"/>
              </a:rPr>
              <a:t>/枚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427845" y="1867852"/>
            <a:ext cx="11468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战斧巡航导弹单价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380744" y="2141220"/>
            <a:ext cx="124101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JASSM导弹约230万/枚</a:t>
            </a:r>
          </a:p>
        </p:txBody>
      </p:sp>
      <p:sp>
        <p:nvSpPr>
          <p:cNvPr id="24" name="Rectangle 24"/>
          <p:cNvSpPr/>
          <p:nvPr/>
        </p:nvSpPr>
        <p:spPr>
          <a:xfrm>
            <a:off x="381000" y="2667000"/>
            <a:ext cx="5524500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381000" y="2667000"/>
            <a:ext cx="5524500" cy="304800"/>
          </a:xfrm>
          <a:prstGeom prst="roundRect">
            <a:avLst>
              <a:gd name="adj" fmla="val 25000"/>
            </a:avLst>
          </a:prstGeom>
          <a:solidFill>
            <a:srgbClr val="003366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381000" y="2895600"/>
            <a:ext cx="5524500" cy="762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558165" y="2753678"/>
            <a:ext cx="226134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导弹造价：贵在"大脑"而非"身体"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58165" y="3125152"/>
            <a:ext cx="247697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• 惯性导航系统：不依赖GPS，自主定位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58165" y="3363278"/>
            <a:ext cx="21059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• 卫星接收机：实时修正飞行轨迹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58165" y="3601402"/>
            <a:ext cx="21059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• 地形匹配数据库：精确制导核心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58165" y="3839528"/>
            <a:ext cx="20849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• 末端目标识别模块：AI辅助识别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59118" y="4133374"/>
            <a:ext cx="267319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CC0000"/>
                </a:solidFill>
                <a:latin typeface="Segoe UI"/>
                <a:ea typeface="Microsoft YaHei"/>
                <a:cs typeface="Segoe UI"/>
              </a:rPr>
              <a:t>核心：弹药成本中60%以上是电子/软件成本</a:t>
            </a:r>
          </a:p>
        </p:txBody>
      </p:sp>
      <p:sp>
        <p:nvSpPr>
          <p:cNvPr id="33" name="Rectangle 33"/>
          <p:cNvSpPr/>
          <p:nvPr/>
        </p:nvSpPr>
        <p:spPr>
          <a:xfrm>
            <a:off x="6286500" y="2667000"/>
            <a:ext cx="5524500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34" name="Rectangle 34"/>
          <p:cNvSpPr/>
          <p:nvPr/>
        </p:nvSpPr>
        <p:spPr>
          <a:xfrm>
            <a:off x="6286500" y="2667000"/>
            <a:ext cx="5524500" cy="304800"/>
          </a:xfrm>
          <a:prstGeom prst="roundRect">
            <a:avLst>
              <a:gd name="adj" fmla="val 25000"/>
            </a:avLst>
          </a:prstGeom>
          <a:solidFill>
            <a:srgbClr val="CC0000"/>
          </a:solidFill>
          <a:ln>
            <a:noFill/>
          </a:ln>
        </p:spPr>
      </p:sp>
      <p:sp>
        <p:nvSpPr>
          <p:cNvPr id="35" name="Rectangle 35"/>
          <p:cNvSpPr/>
          <p:nvPr/>
        </p:nvSpPr>
        <p:spPr>
          <a:xfrm>
            <a:off x="6286500" y="2895600"/>
            <a:ext cx="5524500" cy="762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6463665" y="2753678"/>
            <a:ext cx="22319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战争经济学：数据成本的持续攀升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463665" y="3125152"/>
            <a:ext cx="239996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• 高精度武器本质是"消耗性数据平台"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463665" y="3363278"/>
            <a:ext cx="224594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• 导弹单价上升趋势与芯片制程同步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463665" y="3601402"/>
            <a:ext cx="266600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• 软件升级可提升武器效能，降低弹药消耗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463665" y="3839528"/>
            <a:ext cx="22669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• 数据链路成本 &gt; 物理杀伤载荷成本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464618" y="4133374"/>
            <a:ext cx="263224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CC0000"/>
                </a:solidFill>
                <a:latin typeface="Segoe UI"/>
                <a:ea typeface="Microsoft YaHei"/>
                <a:cs typeface="Segoe UI"/>
              </a:rPr>
              <a:t>趋势：未来战争将朝着"更贵、更智能"演进</a:t>
            </a:r>
          </a:p>
        </p:txBody>
      </p:sp>
      <p:sp>
        <p:nvSpPr>
          <p:cNvPr id="42" name="Rectangle 42"/>
          <p:cNvSpPr/>
          <p:nvPr/>
        </p:nvSpPr>
        <p:spPr>
          <a:xfrm>
            <a:off x="381000" y="4667250"/>
            <a:ext cx="11430000" cy="762000"/>
          </a:xfrm>
          <a:prstGeom prst="roundRect">
            <a:avLst>
              <a:gd name="adj" fmla="val 10000"/>
            </a:avLst>
          </a:prstGeom>
          <a:solidFill>
            <a:srgbClr val="FFF3E0"/>
          </a:solidFill>
          <a:ln w="9525">
            <a:solidFill>
              <a:srgbClr val="FFB74D"/>
            </a:solidFill>
          </a:ln>
        </p:spPr>
      </p:sp>
      <p:sp>
        <p:nvSpPr>
          <p:cNvPr id="43" name="Rectangle 43"/>
          <p:cNvSpPr/>
          <p:nvPr/>
        </p:nvSpPr>
        <p:spPr>
          <a:xfrm>
            <a:off x="381000" y="4667250"/>
            <a:ext cx="57150" cy="762000"/>
          </a:xfrm>
          <a:prstGeom prst="roundRect">
            <a:avLst>
              <a:gd name="adj" fmla="val 33333"/>
            </a:avLst>
          </a:prstGeom>
          <a:solidFill>
            <a:srgbClr val="FF6B35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604838" y="4812506"/>
            <a:ext cx="79254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E65100"/>
                </a:solidFill>
                <a:latin typeface="Segoe UI"/>
                <a:ea typeface="Microsoft YaHei"/>
                <a:cs typeface="Segoe UI"/>
              </a:rPr>
              <a:t>⚠ 核心启示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04838" y="5069681"/>
            <a:ext cx="722947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高精度武器昂贵不是因为炸药贵，而是因为</a:t>
            </a:r>
            <a:r>
              <a:rPr lang="zh-CN" sz="1125" b="1" dirty="0">
                <a:solidFill>
                  <a:srgbClr val="CC0000"/>
                </a:solidFill>
                <a:latin typeface="Segoe UI"/>
                <a:ea typeface="Microsoft YaHei"/>
                <a:cs typeface="Segoe UI"/>
              </a:rPr>
              <a:t>每一枚导弹都是一台会飞的计算机。</a:t>
            </a:r>
            <a:r>
              <a:rPr lang="zh-CN" sz="112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战争账单的实质是数据账单。</a:t>
            </a:r>
          </a:p>
        </p:txBody>
      </p:sp>
      <p:sp>
        <p:nvSpPr>
          <p:cNvPr id="46" name="Rectangle 46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560070" y="6522720"/>
            <a:ext cx="11029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Segoe UI"/>
                <a:ea typeface="Microsoft YaHei"/>
                <a:cs typeface="Segoe UI"/>
              </a:rPr>
              <a:t>来源：公开报道数据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5595509" y="6522720"/>
            <a:ext cx="100098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99999"/>
                </a:solidFill>
                <a:latin typeface="Segoe UI"/>
                <a:ea typeface="Microsoft YaHei"/>
                <a:cs typeface="Segoe UI"/>
              </a:rPr>
              <a:t>第三章 · 战争账单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1397520" y="6522720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Segoe UI"/>
                <a:ea typeface="Microsoft YaHei"/>
                <a:cs typeface="Segoe UI"/>
              </a:rPr>
              <a:t>08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 rot="-720000">
            <a:off x="8096250" y="3333750"/>
            <a:ext cx="5715000" cy="38100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 rot="-480000">
            <a:off x="7143750" y="4286250"/>
            <a:ext cx="6667500" cy="28575"/>
          </a:xfrm>
          <a:prstGeom prst="rect">
            <a:avLst/>
          </a:prstGeom>
          <a:solidFill>
            <a:srgbClr val="FFFFFF">
              <a:alpha val="7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8763000" y="2857500"/>
            <a:ext cx="3810000" cy="3810000"/>
          </a:xfrm>
          <a:prstGeom prst="ellipse">
            <a:avLst/>
          </a:prstGeom>
          <a:noFill/>
          <a:ln w="9525">
            <a:solidFill>
              <a:srgbClr val="FFFFFF">
                <a:alpha val="5000"/>
              </a:srgbClr>
            </a:solidFill>
          </a:ln>
        </p:spPr>
      </p:sp>
      <p:sp>
        <p:nvSpPr>
          <p:cNvPr id="6" name="Ellipse 6"/>
          <p:cNvSpPr/>
          <p:nvPr/>
        </p:nvSpPr>
        <p:spPr>
          <a:xfrm>
            <a:off x="9429750" y="3524250"/>
            <a:ext cx="2476500" cy="2476500"/>
          </a:xfrm>
          <a:prstGeom prst="ellipse">
            <a:avLst/>
          </a:prstGeom>
          <a:noFill/>
          <a:ln w="9525">
            <a:solidFill>
              <a:srgbClr val="FFFFFF">
                <a:alpha val="8000"/>
              </a:srgbClr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71500" y="1905000"/>
            <a:ext cx="76200" cy="1143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971550" y="1400175"/>
            <a:ext cx="2422160" cy="274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0" b="1" dirty="0">
                <a:solidFill>
                  <a:srgbClr val="FFFFFF">
                    <a:alphaMod val="8000"/>
                  </a:srgbClr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8710" y="3137535"/>
            <a:ext cx="2714911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算力节点已成为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08710" y="3613785"/>
            <a:ext cx="2714911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高价值战略目标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27760" y="4251960"/>
            <a:ext cx="27508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B0C4DE"/>
                </a:solidFill>
                <a:latin typeface="Segoe UI"/>
                <a:ea typeface="Microsoft YaHei"/>
                <a:cs typeface="Segoe UI"/>
              </a:rPr>
              <a:t>非对称反击：不打航母，专打数据中心</a:t>
            </a:r>
          </a:p>
        </p:txBody>
      </p:sp>
      <p:sp>
        <p:nvSpPr>
          <p:cNvPr id="12" name="Line 12"/>
          <p:cNvSpPr/>
          <p:nvPr/>
        </p:nvSpPr>
        <p:spPr>
          <a:xfrm>
            <a:off x="1143000" y="4667250"/>
            <a:ext cx="2190750" cy="9525"/>
          </a:xfrm>
          <a:custGeom>
            <a:avLst/>
            <a:gdLst/>
            <a:ahLst/>
            <a:cxnLst/>
            <a:rect l="l" t="t" r="r" b="b"/>
            <a:pathLst>
              <a:path w="2190750" h="9525">
                <a:moveTo>
                  <a:pt x="0" y="0"/>
                </a:moveTo>
                <a:lnTo>
                  <a:pt x="2190750" y="0"/>
                </a:lnTo>
              </a:path>
            </a:pathLst>
          </a:custGeom>
          <a:noFill/>
          <a:ln w="28575">
            <a:solidFill>
              <a:srgbClr val="CC0000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1129665" y="6173152"/>
            <a:ext cx="141284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FFFF">
                    <a:alphaMod val="40000"/>
                  </a:srgbClr>
                </a:solidFill>
                <a:latin typeface="Segoe UI"/>
                <a:ea typeface="Microsoft YaHei"/>
                <a:cs typeface="Segoe UI"/>
              </a:rPr>
              <a:t>内部参阅 · 2026年6月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57200" y="266700"/>
            <a:ext cx="339852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四、算力节点已成为高价值战略目标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" y="666750"/>
            <a:ext cx="12134850" cy="476250"/>
          </a:xfrm>
          <a:prstGeom prst="rect">
            <a:avLst/>
          </a:prstGeom>
          <a:solidFill>
            <a:srgbClr val="F0F4F8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271462" y="831056"/>
            <a:ext cx="380154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核心观点：伊朗的非对称反击 — 不打航母，专打数据中心</a:t>
            </a:r>
          </a:p>
        </p:txBody>
      </p:sp>
      <p:sp>
        <p:nvSpPr>
          <p:cNvPr id="9" name="Rectangle 9"/>
          <p:cNvSpPr/>
          <p:nvPr/>
        </p:nvSpPr>
        <p:spPr>
          <a:xfrm>
            <a:off x="381000" y="1381125"/>
            <a:ext cx="5524500" cy="2286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381000" y="1381125"/>
            <a:ext cx="5524500" cy="304800"/>
          </a:xfrm>
          <a:prstGeom prst="roundRect">
            <a:avLst>
              <a:gd name="adj" fmla="val 25000"/>
            </a:avLst>
          </a:prstGeom>
          <a:solidFill>
            <a:srgbClr val="003366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381000" y="1609725"/>
            <a:ext cx="5524500" cy="762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558165" y="1467802"/>
            <a:ext cx="17908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伊朗无人机袭击云基础设施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58165" y="1867852"/>
            <a:ext cx="199671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攻击时间：2026年3月1日—2日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58165" y="2105978"/>
            <a:ext cx="276401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目标一：AWS 阿联酋 ME-CENTRAL-1 可用区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58165" y="2344102"/>
            <a:ext cx="249797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目标二：AWS 巴林 ME-SOUTH-1 可用区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58165" y="2582228"/>
            <a:ext cx="27780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受损服务：EC2、S3、DynamoDB 等核心服务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58165" y="2820352"/>
            <a:ext cx="22669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影响范围：海湾地区云服务严重降级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59118" y="3114199"/>
            <a:ext cx="275510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CC0000"/>
                </a:solidFill>
                <a:latin typeface="Segoe UI"/>
                <a:ea typeface="Microsoft YaHei"/>
                <a:cs typeface="Segoe UI"/>
              </a:rPr>
              <a:t>关键判断：云计算节点已成为高价值军事目标</a:t>
            </a:r>
          </a:p>
        </p:txBody>
      </p:sp>
      <p:sp>
        <p:nvSpPr>
          <p:cNvPr id="19" name="Rectangle 19"/>
          <p:cNvSpPr/>
          <p:nvPr/>
        </p:nvSpPr>
        <p:spPr>
          <a:xfrm>
            <a:off x="6286500" y="1381125"/>
            <a:ext cx="5524500" cy="2286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6286500" y="1381125"/>
            <a:ext cx="5524500" cy="304800"/>
          </a:xfrm>
          <a:prstGeom prst="roundRect">
            <a:avLst>
              <a:gd name="adj" fmla="val 25000"/>
            </a:avLst>
          </a:prstGeom>
          <a:solidFill>
            <a:srgbClr val="CC0000"/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6286500" y="1609725"/>
            <a:ext cx="5524500" cy="762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63665" y="1467802"/>
            <a:ext cx="189380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MQ-9"死神"无人机战损分析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63665" y="1867852"/>
            <a:ext cx="148950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累计击落数量：≥ 11架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463665" y="2105978"/>
            <a:ext cx="21619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单机成本：约 3000万~3500万美元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463665" y="2344102"/>
            <a:ext cx="222494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总损失估算：约 3.3亿~3.85亿美元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463665" y="2582228"/>
            <a:ext cx="26870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战损原因：综合运用防空系统与电子战手段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464618" y="2876074"/>
            <a:ext cx="289162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CC0000"/>
                </a:solidFill>
                <a:latin typeface="Segoe UI"/>
                <a:ea typeface="Microsoft YaHei"/>
                <a:cs typeface="Segoe UI"/>
              </a:rPr>
              <a:t>趋势：无人机的大规模运用使得成本不对称加剧</a:t>
            </a:r>
          </a:p>
        </p:txBody>
      </p:sp>
      <p:sp>
        <p:nvSpPr>
          <p:cNvPr id="28" name="Rectangle 28"/>
          <p:cNvSpPr/>
          <p:nvPr/>
        </p:nvSpPr>
        <p:spPr>
          <a:xfrm>
            <a:off x="381000" y="4000500"/>
            <a:ext cx="2667000" cy="762000"/>
          </a:xfrm>
          <a:prstGeom prst="roundRect">
            <a:avLst>
              <a:gd name="adj" fmla="val 10000"/>
            </a:avLst>
          </a:prstGeom>
          <a:solidFill>
            <a:srgbClr val="E3F2FD"/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381000" y="4000500"/>
            <a:ext cx="57150" cy="7620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558165" y="4153852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565C0"/>
                </a:solidFill>
                <a:latin typeface="Segoe UI"/>
                <a:ea typeface="Microsoft YaHei"/>
                <a:cs typeface="Segoe UI"/>
              </a:rPr>
              <a:t>攻击策略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57212" y="4431506"/>
            <a:ext cx="176129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非对称：打击云计算中枢</a:t>
            </a:r>
          </a:p>
        </p:txBody>
      </p:sp>
      <p:sp>
        <p:nvSpPr>
          <p:cNvPr id="32" name="Rectangle 32"/>
          <p:cNvSpPr/>
          <p:nvPr/>
        </p:nvSpPr>
        <p:spPr>
          <a:xfrm>
            <a:off x="3238500" y="4000500"/>
            <a:ext cx="2667000" cy="762000"/>
          </a:xfrm>
          <a:prstGeom prst="roundRect">
            <a:avLst>
              <a:gd name="adj" fmla="val 10000"/>
            </a:avLst>
          </a:prstGeom>
          <a:solidFill>
            <a:srgbClr val="FCE4EC"/>
          </a:solidFill>
          <a:ln>
            <a:noFill/>
          </a:ln>
        </p:spPr>
      </p:sp>
      <p:sp>
        <p:nvSpPr>
          <p:cNvPr id="33" name="Rectangle 33"/>
          <p:cNvSpPr/>
          <p:nvPr/>
        </p:nvSpPr>
        <p:spPr>
          <a:xfrm>
            <a:off x="3238500" y="4000500"/>
            <a:ext cx="57150" cy="762000"/>
          </a:xfrm>
          <a:prstGeom prst="rect">
            <a:avLst/>
          </a:prstGeom>
          <a:solidFill>
            <a:srgbClr val="C62828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3415665" y="4153852"/>
            <a:ext cx="7267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C62828"/>
                </a:solidFill>
                <a:latin typeface="Segoe UI"/>
                <a:ea typeface="Microsoft YaHei"/>
                <a:cs typeface="Segoe UI"/>
              </a:rPr>
              <a:t>成本不对称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3414712" y="4431506"/>
            <a:ext cx="171403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无人机 vs 云设施成本比</a:t>
            </a:r>
          </a:p>
        </p:txBody>
      </p:sp>
      <p:sp>
        <p:nvSpPr>
          <p:cNvPr id="36" name="Rectangle 36"/>
          <p:cNvSpPr/>
          <p:nvPr/>
        </p:nvSpPr>
        <p:spPr>
          <a:xfrm>
            <a:off x="6096000" y="4000500"/>
            <a:ext cx="2667000" cy="762000"/>
          </a:xfrm>
          <a:prstGeom prst="roundRect">
            <a:avLst>
              <a:gd name="adj" fmla="val 10000"/>
            </a:avLst>
          </a:prstGeom>
          <a:solidFill>
            <a:srgbClr val="FFF3E0"/>
          </a:soli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6096000" y="4000500"/>
            <a:ext cx="57150" cy="762000"/>
          </a:xfrm>
          <a:prstGeom prst="rect">
            <a:avLst/>
          </a:prstGeom>
          <a:solidFill>
            <a:srgbClr val="E65100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6273165" y="4153852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65100"/>
                </a:solidFill>
                <a:latin typeface="Segoe UI"/>
                <a:ea typeface="Microsoft YaHei"/>
                <a:cs typeface="Segoe UI"/>
              </a:rPr>
              <a:t>战场效应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272212" y="4431506"/>
            <a:ext cx="128873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瘫痪指挥通信链路</a:t>
            </a:r>
          </a:p>
        </p:txBody>
      </p:sp>
      <p:sp>
        <p:nvSpPr>
          <p:cNvPr id="40" name="Rectangle 40"/>
          <p:cNvSpPr/>
          <p:nvPr/>
        </p:nvSpPr>
        <p:spPr>
          <a:xfrm>
            <a:off x="8953500" y="4000500"/>
            <a:ext cx="2857500" cy="76200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41" name="Rectangle 41"/>
          <p:cNvSpPr/>
          <p:nvPr/>
        </p:nvSpPr>
        <p:spPr>
          <a:xfrm>
            <a:off x="8953500" y="4000500"/>
            <a:ext cx="57150" cy="762000"/>
          </a:xfrm>
          <a:prstGeom prst="rect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9130665" y="4153852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E7D32"/>
                </a:solidFill>
                <a:latin typeface="Segoe UI"/>
                <a:ea typeface="Microsoft YaHei"/>
                <a:cs typeface="Segoe UI"/>
              </a:rPr>
              <a:t>未来启示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9129712" y="4431506"/>
            <a:ext cx="160377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算力即战力须重点防护</a:t>
            </a:r>
          </a:p>
        </p:txBody>
      </p:sp>
      <p:sp>
        <p:nvSpPr>
          <p:cNvPr id="44" name="Rectangle 44"/>
          <p:cNvSpPr/>
          <p:nvPr/>
        </p:nvSpPr>
        <p:spPr>
          <a:xfrm>
            <a:off x="381000" y="5048250"/>
            <a:ext cx="11430000" cy="666750"/>
          </a:xfrm>
          <a:prstGeom prst="roundRect">
            <a:avLst>
              <a:gd name="adj" fmla="val 11429"/>
            </a:avLst>
          </a:prstGeom>
          <a:solidFill>
            <a:srgbClr val="FFF3E0"/>
          </a:solidFill>
          <a:ln w="9525">
            <a:solidFill>
              <a:srgbClr val="FFB74D"/>
            </a:solidFill>
          </a:ln>
        </p:spPr>
      </p:sp>
      <p:sp>
        <p:nvSpPr>
          <p:cNvPr id="45" name="Rectangle 45"/>
          <p:cNvSpPr/>
          <p:nvPr/>
        </p:nvSpPr>
        <p:spPr>
          <a:xfrm>
            <a:off x="381000" y="5048250"/>
            <a:ext cx="57150" cy="666750"/>
          </a:xfrm>
          <a:prstGeom prst="roundRect">
            <a:avLst>
              <a:gd name="adj" fmla="val 33333"/>
            </a:avLst>
          </a:prstGeom>
          <a:solidFill>
            <a:srgbClr val="FF6B35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604838" y="5193506"/>
            <a:ext cx="79254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E65100"/>
                </a:solidFill>
                <a:latin typeface="Segoe UI"/>
                <a:ea typeface="Microsoft YaHei"/>
                <a:cs typeface="Segoe UI"/>
              </a:rPr>
              <a:t>⚠ 核心启示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05790" y="5411152"/>
            <a:ext cx="63274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CC0000"/>
                </a:solidFill>
                <a:latin typeface="Segoe UI"/>
                <a:ea typeface="Microsoft YaHei"/>
                <a:cs typeface="Segoe UI"/>
              </a:rPr>
              <a:t>算力节点已成为高价值战略目标。</a:t>
            </a:r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未来的冲突中，数据中心与云计算基础设施将面临直接的物理威胁。</a:t>
            </a:r>
          </a:p>
        </p:txBody>
      </p:sp>
      <p:sp>
        <p:nvSpPr>
          <p:cNvPr id="48" name="Rectangle 48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560070" y="6522720"/>
            <a:ext cx="86296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Segoe UI"/>
                <a:ea typeface="Microsoft YaHei"/>
                <a:cs typeface="Segoe UI"/>
              </a:rPr>
              <a:t>来源：公开报道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5595509" y="6522720"/>
            <a:ext cx="100098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99999"/>
                </a:solidFill>
                <a:latin typeface="Segoe UI"/>
                <a:ea typeface="Microsoft YaHei"/>
                <a:cs typeface="Segoe UI"/>
              </a:rPr>
              <a:t>第四章 · 算力节点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1397520" y="6522720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Segoe UI"/>
                <a:ea typeface="Microsoft YaHei"/>
                <a:cs typeface="Segoe UI"/>
              </a:rPr>
              <a:t>10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 rot="-600000">
            <a:off x="7620000" y="2857500"/>
            <a:ext cx="6191250" cy="38100"/>
          </a:xfrm>
          <a:prstGeom prst="rect">
            <a:avLst/>
          </a:prstGeom>
          <a:solidFill>
            <a:srgbClr val="FFFFFF">
              <a:alpha val="5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 rot="-300000">
            <a:off x="6667500" y="4000500"/>
            <a:ext cx="7143750" cy="28575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7620000" y="2190750"/>
            <a:ext cx="4762500" cy="4762500"/>
          </a:xfrm>
          <a:prstGeom prst="ellipse">
            <a:avLst/>
          </a:prstGeom>
          <a:noFill/>
          <a:ln w="9525">
            <a:solidFill>
              <a:srgbClr val="FFFFFF">
                <a:alpha val="4000"/>
              </a:srgbClr>
            </a:solidFill>
          </a:ln>
        </p:spPr>
      </p:sp>
      <p:sp>
        <p:nvSpPr>
          <p:cNvPr id="6" name="Ellipse 6"/>
          <p:cNvSpPr/>
          <p:nvPr/>
        </p:nvSpPr>
        <p:spPr>
          <a:xfrm>
            <a:off x="8286750" y="2857500"/>
            <a:ext cx="3429000" cy="3429000"/>
          </a:xfrm>
          <a:prstGeom prst="ellipse">
            <a:avLst/>
          </a:prstGeom>
          <a:noFill/>
          <a:ln w="9525">
            <a:solidFill>
              <a:srgbClr val="FFFFFF">
                <a:alpha val="7000"/>
              </a:srgbClr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71500" y="1905000"/>
            <a:ext cx="76200" cy="1143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971550" y="1400175"/>
            <a:ext cx="2422160" cy="274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0" b="1" dirty="0">
                <a:solidFill>
                  <a:srgbClr val="FFFFFF">
                    <a:alphaMod val="8000"/>
                  </a:srgbClr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8710" y="3137535"/>
            <a:ext cx="2714911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没有绝对安全的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08710" y="3613785"/>
            <a:ext cx="158076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通信手段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27760" y="4251960"/>
            <a:ext cx="244678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B0C4DE"/>
                </a:solidFill>
                <a:latin typeface="Segoe UI"/>
                <a:ea typeface="Microsoft YaHei"/>
                <a:cs typeface="Segoe UI"/>
              </a:rPr>
              <a:t>星链渗透与反制——攻防的双向演进</a:t>
            </a:r>
          </a:p>
        </p:txBody>
      </p:sp>
      <p:sp>
        <p:nvSpPr>
          <p:cNvPr id="12" name="Line 12"/>
          <p:cNvSpPr/>
          <p:nvPr/>
        </p:nvSpPr>
        <p:spPr>
          <a:xfrm>
            <a:off x="1143000" y="4667250"/>
            <a:ext cx="2190750" cy="9525"/>
          </a:xfrm>
          <a:custGeom>
            <a:avLst/>
            <a:gdLst/>
            <a:ahLst/>
            <a:cxnLst/>
            <a:rect l="l" t="t" r="r" b="b"/>
            <a:pathLst>
              <a:path w="2190750" h="9525">
                <a:moveTo>
                  <a:pt x="0" y="0"/>
                </a:moveTo>
                <a:lnTo>
                  <a:pt x="2190750" y="0"/>
                </a:lnTo>
              </a:path>
            </a:pathLst>
          </a:custGeom>
          <a:noFill/>
          <a:ln w="28575">
            <a:solidFill>
              <a:srgbClr val="CC0000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1129665" y="6173152"/>
            <a:ext cx="141284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FFFF">
                    <a:alphaMod val="40000"/>
                  </a:srgbClr>
                </a:solidFill>
                <a:latin typeface="Segoe UI"/>
                <a:ea typeface="Microsoft YaHei"/>
                <a:cs typeface="Segoe UI"/>
              </a:rPr>
              <a:t>内部参阅 · 2026年6月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57200" y="266700"/>
            <a:ext cx="276844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五、没有绝对安全的通信手段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" y="666750"/>
            <a:ext cx="12134850" cy="476250"/>
          </a:xfrm>
          <a:prstGeom prst="rect">
            <a:avLst/>
          </a:prstGeom>
          <a:solidFill>
            <a:srgbClr val="F0F4F8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271462" y="831056"/>
            <a:ext cx="404907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核心观点：星链渗透 vs 伊朗反制——一场没有终点的猫鼠游戏</a:t>
            </a:r>
          </a:p>
        </p:txBody>
      </p:sp>
      <p:sp>
        <p:nvSpPr>
          <p:cNvPr id="9" name="Rectangle 9"/>
          <p:cNvSpPr/>
          <p:nvPr/>
        </p:nvSpPr>
        <p:spPr>
          <a:xfrm>
            <a:off x="381000" y="1381125"/>
            <a:ext cx="5524500" cy="2286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381000" y="1381125"/>
            <a:ext cx="5524500" cy="304800"/>
          </a:xfrm>
          <a:prstGeom prst="roundRect">
            <a:avLst>
              <a:gd name="adj" fmla="val 25000"/>
            </a:avLst>
          </a:prstGeom>
          <a:solidFill>
            <a:srgbClr val="003366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381000" y="1609725"/>
            <a:ext cx="5524500" cy="762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558165" y="1467802"/>
            <a:ext cx="193790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美方：利用星链渗透数据节点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58165" y="1839278"/>
            <a:ext cx="7267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渗透手段：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01992" y="2066449"/>
            <a:ext cx="270310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• 2022年以来累计走私3万~5万台Starlink终端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01992" y="2275999"/>
            <a:ext cx="23455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• 利用低轨卫星网络低延迟、广覆盖特性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01992" y="2485549"/>
            <a:ext cx="221553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• 向伊朗境内渗透数据节点和通信链路</a:t>
            </a:r>
          </a:p>
        </p:txBody>
      </p:sp>
      <p:sp>
        <p:nvSpPr>
          <p:cNvPr id="17" name="Rectangle 17"/>
          <p:cNvSpPr/>
          <p:nvPr/>
        </p:nvSpPr>
        <p:spPr>
          <a:xfrm>
            <a:off x="666750" y="2809875"/>
            <a:ext cx="2381250" cy="571500"/>
          </a:xfrm>
          <a:prstGeom prst="roundRect">
            <a:avLst>
              <a:gd name="adj" fmla="val 10000"/>
            </a:avLst>
          </a:prstGeom>
          <a:solidFill>
            <a:srgbClr val="E3F2FD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334323" y="2856548"/>
            <a:ext cx="1046105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3万~5万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82302" y="3178016"/>
            <a:ext cx="155014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走私入境的Starlink终端（台）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286500" y="1381125"/>
            <a:ext cx="5524500" cy="2286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286500" y="1381125"/>
            <a:ext cx="5524500" cy="304800"/>
          </a:xfrm>
          <a:prstGeom prst="roundRect">
            <a:avLst>
              <a:gd name="adj" fmla="val 25000"/>
            </a:avLst>
          </a:prstGeom>
          <a:solidFill>
            <a:srgbClr val="CC0000"/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6286500" y="1609725"/>
            <a:ext cx="5524500" cy="762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6463665" y="1467802"/>
            <a:ext cx="193790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伊方：全国反间谍与信号压制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463665" y="1839278"/>
            <a:ext cx="7267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反制措施：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607492" y="2066449"/>
            <a:ext cx="192300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• 2026年3月起全国性反间谍行动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607492" y="2275999"/>
            <a:ext cx="207252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• 宣布没收数百台Starlink终端设备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607492" y="2485549"/>
            <a:ext cx="143544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• 部署先进射频干扰系统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607492" y="2704624"/>
            <a:ext cx="195550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• 对星链信号实施军事级干扰压制</a:t>
            </a:r>
          </a:p>
        </p:txBody>
      </p:sp>
      <p:sp>
        <p:nvSpPr>
          <p:cNvPr id="29" name="Rectangle 29"/>
          <p:cNvSpPr/>
          <p:nvPr/>
        </p:nvSpPr>
        <p:spPr>
          <a:xfrm>
            <a:off x="6572250" y="3048000"/>
            <a:ext cx="2381250" cy="381000"/>
          </a:xfrm>
          <a:prstGeom prst="roundRect">
            <a:avLst>
              <a:gd name="adj" fmla="val 15000"/>
            </a:avLst>
          </a:prstGeom>
          <a:solidFill>
            <a:srgbClr val="FCE4EC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7118509" y="3174206"/>
            <a:ext cx="128873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C62828"/>
                </a:solidFill>
                <a:latin typeface="Segoe UI"/>
                <a:ea typeface="Microsoft YaHei"/>
                <a:cs typeface="Segoe UI"/>
              </a:rPr>
              <a:t>数百台终端被没收</a:t>
            </a:r>
          </a:p>
        </p:txBody>
      </p:sp>
      <p:sp>
        <p:nvSpPr>
          <p:cNvPr id="31" name="Rectangle 31"/>
          <p:cNvSpPr/>
          <p:nvPr/>
        </p:nvSpPr>
        <p:spPr>
          <a:xfrm>
            <a:off x="381000" y="4000500"/>
            <a:ext cx="5524500" cy="857250"/>
          </a:xfrm>
          <a:prstGeom prst="roundRect">
            <a:avLst>
              <a:gd name="adj" fmla="val 8889"/>
            </a:avLst>
          </a:prstGeom>
          <a:solidFill>
            <a:srgbClr val="F0F4F8"/>
          </a:solidFill>
          <a:ln>
            <a:noFill/>
          </a:ln>
        </p:spPr>
      </p:sp>
      <p:sp>
        <p:nvSpPr>
          <p:cNvPr id="32" name="Rectangle 32"/>
          <p:cNvSpPr/>
          <p:nvPr/>
        </p:nvSpPr>
        <p:spPr>
          <a:xfrm>
            <a:off x="381000" y="4000500"/>
            <a:ext cx="57150" cy="857250"/>
          </a:xfrm>
          <a:prstGeom prst="roundRect">
            <a:avLst>
              <a:gd name="adj" fmla="val 33333"/>
            </a:avLst>
          </a:prstGeom>
          <a:solidFill>
            <a:srgbClr val="1565C0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604838" y="4145756"/>
            <a:ext cx="65865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565C0"/>
                </a:solidFill>
                <a:latin typeface="Segoe UI"/>
                <a:ea typeface="Microsoft YaHei"/>
                <a:cs typeface="Segoe UI"/>
              </a:rPr>
              <a:t>攻方优势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06742" y="4419124"/>
            <a:ext cx="353520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低轨卫星网络覆盖广、终端便携、难以全面封锁；可快速渗透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06742" y="4619149"/>
            <a:ext cx="288512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并建立通信节点，为情报回传和指挥控制提供支撑</a:t>
            </a:r>
          </a:p>
        </p:txBody>
      </p:sp>
      <p:sp>
        <p:nvSpPr>
          <p:cNvPr id="36" name="Rectangle 36"/>
          <p:cNvSpPr/>
          <p:nvPr/>
        </p:nvSpPr>
        <p:spPr>
          <a:xfrm>
            <a:off x="6286500" y="4000500"/>
            <a:ext cx="5524500" cy="857250"/>
          </a:xfrm>
          <a:prstGeom prst="roundRect">
            <a:avLst>
              <a:gd name="adj" fmla="val 8889"/>
            </a:avLst>
          </a:prstGeom>
          <a:solidFill>
            <a:srgbClr val="F0F4F8"/>
          </a:soli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6286500" y="4000500"/>
            <a:ext cx="57150" cy="857250"/>
          </a:xfrm>
          <a:prstGeom prst="roundRect">
            <a:avLst>
              <a:gd name="adj" fmla="val 33333"/>
            </a:avLst>
          </a:prstGeom>
          <a:solidFill>
            <a:srgbClr val="C62828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6510338" y="4145756"/>
            <a:ext cx="65865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C62828"/>
                </a:solidFill>
                <a:latin typeface="Segoe UI"/>
                <a:ea typeface="Microsoft YaHei"/>
                <a:cs typeface="Segoe UI"/>
              </a:rPr>
              <a:t>守方反制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512242" y="4419124"/>
            <a:ext cx="364571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通过社会面管控（没收终端）+ 技术手段（射频干扰）相结合，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512242" y="4619149"/>
            <a:ext cx="254708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形成多层防御体系，但仍无法实现100%阻断</a:t>
            </a:r>
          </a:p>
        </p:txBody>
      </p:sp>
      <p:sp>
        <p:nvSpPr>
          <p:cNvPr id="41" name="Rectangle 41"/>
          <p:cNvSpPr/>
          <p:nvPr/>
        </p:nvSpPr>
        <p:spPr>
          <a:xfrm>
            <a:off x="381000" y="5143500"/>
            <a:ext cx="11430000" cy="666750"/>
          </a:xfrm>
          <a:prstGeom prst="roundRect">
            <a:avLst>
              <a:gd name="adj" fmla="val 11429"/>
            </a:avLst>
          </a:prstGeom>
          <a:solidFill>
            <a:srgbClr val="FFF3E0"/>
          </a:solidFill>
          <a:ln w="9525">
            <a:solidFill>
              <a:srgbClr val="FFB74D"/>
            </a:solidFill>
          </a:ln>
        </p:spPr>
      </p:sp>
      <p:sp>
        <p:nvSpPr>
          <p:cNvPr id="42" name="Rectangle 42"/>
          <p:cNvSpPr/>
          <p:nvPr/>
        </p:nvSpPr>
        <p:spPr>
          <a:xfrm>
            <a:off x="381000" y="5143500"/>
            <a:ext cx="57150" cy="666750"/>
          </a:xfrm>
          <a:prstGeom prst="roundRect">
            <a:avLst>
              <a:gd name="adj" fmla="val 33333"/>
            </a:avLst>
          </a:prstGeom>
          <a:solidFill>
            <a:srgbClr val="FF6B35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604838" y="5288756"/>
            <a:ext cx="79254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E65100"/>
                </a:solidFill>
                <a:latin typeface="Segoe UI"/>
                <a:ea typeface="Microsoft YaHei"/>
                <a:cs typeface="Segoe UI"/>
              </a:rPr>
              <a:t>⚠ 核心启示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05790" y="5525452"/>
            <a:ext cx="63274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没有绝对安全的通信手段。</a:t>
            </a:r>
            <a:r>
              <a:rPr lang="zh-CN" sz="1050" b="1" dirty="0">
                <a:solidFill>
                  <a:srgbClr val="CC0000"/>
                </a:solidFill>
                <a:latin typeface="Segoe UI"/>
                <a:ea typeface="Microsoft YaHei"/>
                <a:cs typeface="Segoe UI"/>
              </a:rPr>
              <a:t>攻防双方在通信领域的较量将持续演进，</a:t>
            </a:r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单一技术手段无法确保通信安全。</a:t>
            </a:r>
          </a:p>
        </p:txBody>
      </p:sp>
      <p:sp>
        <p:nvSpPr>
          <p:cNvPr id="45" name="Rectangle 45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560070" y="6522720"/>
            <a:ext cx="86296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Segoe UI"/>
                <a:ea typeface="Microsoft YaHei"/>
                <a:cs typeface="Segoe UI"/>
              </a:rPr>
              <a:t>来源：公开报道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595509" y="6522720"/>
            <a:ext cx="100098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99999"/>
                </a:solidFill>
                <a:latin typeface="Segoe UI"/>
                <a:ea typeface="Microsoft YaHei"/>
                <a:cs typeface="Segoe UI"/>
              </a:rPr>
              <a:t>第五章 · 通信手段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1397520" y="6522720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Segoe UI"/>
                <a:ea typeface="Microsoft YaHei"/>
                <a:cs typeface="Segoe UI"/>
              </a:rPr>
              <a:t>12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10287000" y="142875"/>
            <a:ext cx="1524000" cy="381000"/>
          </a:xfrm>
          <a:prstGeom prst="roundRect">
            <a:avLst>
              <a:gd name="adj" fmla="val 10000"/>
            </a:avLst>
          </a:prstGeom>
          <a:solidFill>
            <a:srgbClr val="003366"/>
          </a:solidFill>
          <a:ln w="9525">
            <a:solidFill>
              <a:srgbClr val="FFFFFF">
                <a:alpha val="50000"/>
              </a:srgbClr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10887099" y="275749"/>
            <a:ext cx="32380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结 束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116592" y="2089785"/>
            <a:ext cx="195881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003366"/>
                </a:solidFill>
                <a:latin typeface="Segoe UI"/>
                <a:ea typeface="Microsoft YaHei"/>
                <a:cs typeface="Segoe UI"/>
              </a:rPr>
              <a:t>总结与启示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304538" y="2632710"/>
            <a:ext cx="358292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关于2026年美以对伊军事冲突中信息数据战的分析</a:t>
            </a:r>
          </a:p>
        </p:txBody>
      </p:sp>
      <p:sp>
        <p:nvSpPr>
          <p:cNvPr id="9" name="Line 9"/>
          <p:cNvSpPr/>
          <p:nvPr/>
        </p:nvSpPr>
        <p:spPr>
          <a:xfrm>
            <a:off x="5143500" y="3000375"/>
            <a:ext cx="1905000" cy="9525"/>
          </a:xfrm>
          <a:custGeom>
            <a:avLst/>
            <a:gdLst/>
            <a:ahLst/>
            <a:cxnLst/>
            <a:rect l="l" t="t" r="r" b="b"/>
            <a:pathLst>
              <a:path w="1905000" h="9525">
                <a:moveTo>
                  <a:pt x="0" y="0"/>
                </a:moveTo>
                <a:lnTo>
                  <a:pt x="1905000" y="0"/>
                </a:lnTo>
              </a:path>
            </a:pathLst>
          </a:custGeom>
          <a:noFill/>
          <a:ln w="19050">
            <a:solidFill>
              <a:srgbClr val="0066CC"/>
            </a:solidFill>
          </a:ln>
        </p:spPr>
      </p:sp>
      <p:sp>
        <p:nvSpPr>
          <p:cNvPr id="10" name="Ellipse 10"/>
          <p:cNvSpPr/>
          <p:nvPr/>
        </p:nvSpPr>
        <p:spPr>
          <a:xfrm>
            <a:off x="5162550" y="2971800"/>
            <a:ext cx="57150" cy="5715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6067425" y="2971800"/>
            <a:ext cx="57150" cy="5715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2" name="Ellipse 12"/>
          <p:cNvSpPr/>
          <p:nvPr/>
        </p:nvSpPr>
        <p:spPr>
          <a:xfrm>
            <a:off x="6972300" y="2971800"/>
            <a:ext cx="57150" cy="5715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381000" y="3286125"/>
            <a:ext cx="3619500" cy="1143000"/>
          </a:xfrm>
          <a:prstGeom prst="roundRect">
            <a:avLst>
              <a:gd name="adj" fmla="val 8333"/>
            </a:avLst>
          </a:prstGeom>
          <a:solidFill>
            <a:srgbClr val="F0F4F8"/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381000" y="3286125"/>
            <a:ext cx="76200" cy="1143000"/>
          </a:xfrm>
          <a:prstGeom prst="roundRect">
            <a:avLst>
              <a:gd name="adj" fmla="val 25000"/>
            </a:avLst>
          </a:prstGeom>
          <a:solidFill>
            <a:srgbClr val="CC0000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82663" y="3498056"/>
            <a:ext cx="81617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003366"/>
                </a:solidFill>
                <a:latin typeface="Segoe UI"/>
                <a:ea typeface="Microsoft YaHei"/>
                <a:cs typeface="Segoe UI"/>
              </a:rPr>
              <a:t>核心结论一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67301" y="3744278"/>
            <a:ext cx="184689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现代战争的核心已从火力密度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57362" y="3963352"/>
            <a:ext cx="8667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转向</a:t>
            </a:r>
            <a:r>
              <a:rPr lang="zh-CN" sz="1050" b="1" dirty="0">
                <a:solidFill>
                  <a:srgbClr val="CC0000"/>
                </a:solidFill>
                <a:latin typeface="Segoe UI"/>
                <a:ea typeface="Microsoft YaHei"/>
                <a:cs typeface="Segoe UI"/>
              </a:rPr>
              <a:t>数据定力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39215" y="4208145"/>
            <a:ext cx="170307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数据链的韧性与抗毁性决定胜负</a:t>
            </a:r>
          </a:p>
        </p:txBody>
      </p:sp>
      <p:sp>
        <p:nvSpPr>
          <p:cNvPr id="19" name="Rectangle 19"/>
          <p:cNvSpPr/>
          <p:nvPr/>
        </p:nvSpPr>
        <p:spPr>
          <a:xfrm>
            <a:off x="4286250" y="3286125"/>
            <a:ext cx="3619500" cy="1143000"/>
          </a:xfrm>
          <a:prstGeom prst="roundRect">
            <a:avLst>
              <a:gd name="adj" fmla="val 8333"/>
            </a:avLst>
          </a:prstGeom>
          <a:solidFill>
            <a:srgbClr val="F0F4F8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4286250" y="3286125"/>
            <a:ext cx="76200" cy="1143000"/>
          </a:xfrm>
          <a:prstGeom prst="roundRect">
            <a:avLst>
              <a:gd name="adj" fmla="val 25000"/>
            </a:avLst>
          </a:prstGeom>
          <a:solidFill>
            <a:srgbClr val="0066CC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5687913" y="3498056"/>
            <a:ext cx="81617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003366"/>
                </a:solidFill>
                <a:latin typeface="Segoe UI"/>
                <a:ea typeface="Microsoft YaHei"/>
                <a:cs typeface="Segoe UI"/>
              </a:rPr>
              <a:t>核心结论二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312569" y="3744278"/>
            <a:ext cx="15668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CC0000"/>
                </a:solidFill>
                <a:latin typeface="Segoe UI"/>
                <a:ea typeface="Microsoft YaHei"/>
                <a:cs typeface="Segoe UI"/>
              </a:rPr>
              <a:t>民用基础设施即战场延伸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102542" y="3963352"/>
            <a:ext cx="198691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交通监控、数据中心等民用设施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124450" y="4208145"/>
            <a:ext cx="194310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在战时均可能成为军事目标或情报源</a:t>
            </a:r>
          </a:p>
        </p:txBody>
      </p:sp>
      <p:sp>
        <p:nvSpPr>
          <p:cNvPr id="25" name="Rectangle 25"/>
          <p:cNvSpPr/>
          <p:nvPr/>
        </p:nvSpPr>
        <p:spPr>
          <a:xfrm>
            <a:off x="8191500" y="3286125"/>
            <a:ext cx="3619500" cy="1143000"/>
          </a:xfrm>
          <a:prstGeom prst="roundRect">
            <a:avLst>
              <a:gd name="adj" fmla="val 8333"/>
            </a:avLst>
          </a:prstGeom>
          <a:solidFill>
            <a:srgbClr val="F0F4F8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8191500" y="3286125"/>
            <a:ext cx="76200" cy="1143000"/>
          </a:xfrm>
          <a:prstGeom prst="roundRect">
            <a:avLst>
              <a:gd name="adj" fmla="val 25000"/>
            </a:avLst>
          </a:prstGeom>
          <a:solidFill>
            <a:srgbClr val="003366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9593163" y="3498056"/>
            <a:ext cx="81617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003366"/>
                </a:solidFill>
                <a:latin typeface="Segoe UI"/>
                <a:ea typeface="Microsoft YaHei"/>
                <a:cs typeface="Segoe UI"/>
              </a:rPr>
              <a:t>核心结论三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637871" y="3744278"/>
            <a:ext cx="7267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数据战没有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427845" y="3963352"/>
            <a:ext cx="11468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CC0000"/>
                </a:solidFill>
                <a:latin typeface="Segoe UI"/>
                <a:ea typeface="Microsoft YaHei"/>
                <a:cs typeface="Segoe UI"/>
              </a:rPr>
              <a:t>单方面的绝对优势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449752" y="4208145"/>
            <a:ext cx="11029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攻防较量将持续演进</a:t>
            </a:r>
          </a:p>
        </p:txBody>
      </p:sp>
      <p:sp>
        <p:nvSpPr>
          <p:cNvPr id="31" name="Rectangle 31"/>
          <p:cNvSpPr/>
          <p:nvPr/>
        </p:nvSpPr>
        <p:spPr>
          <a:xfrm>
            <a:off x="1905000" y="4714875"/>
            <a:ext cx="8382000" cy="666750"/>
          </a:xfrm>
          <a:prstGeom prst="roundRect">
            <a:avLst>
              <a:gd name="adj" fmla="val 11429"/>
            </a:avLst>
          </a:prstGeom>
          <a:solidFill>
            <a:srgbClr val="E8F0FE"/>
          </a:solidFill>
          <a:ln>
            <a:noFill/>
          </a:ln>
        </p:spPr>
      </p:sp>
      <p:sp>
        <p:nvSpPr>
          <p:cNvPr id="32" name="Rectangle 32"/>
          <p:cNvSpPr/>
          <p:nvPr/>
        </p:nvSpPr>
        <p:spPr>
          <a:xfrm>
            <a:off x="1905000" y="4714875"/>
            <a:ext cx="57150" cy="666750"/>
          </a:xfrm>
          <a:prstGeom prst="roundRect">
            <a:avLst>
              <a:gd name="adj" fmla="val 33333"/>
            </a:avLst>
          </a:prstGeom>
          <a:solidFill>
            <a:srgbClr val="003366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4240232" y="4879181"/>
            <a:ext cx="371153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i="1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"下一次战争的第一声警报，可能不是防空雷达的蜂鸣，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140345" y="5098256"/>
            <a:ext cx="191131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i="1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而是数据中心的断电报警。"</a:t>
            </a:r>
          </a:p>
        </p:txBody>
      </p:sp>
      <p:sp>
        <p:nvSpPr>
          <p:cNvPr id="35" name="Rectangle 35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5440037" y="6514624"/>
            <a:ext cx="131192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99999"/>
                </a:solidFill>
                <a:latin typeface="Segoe UI"/>
                <a:ea typeface="Microsoft YaHei"/>
                <a:cs typeface="Segoe UI"/>
              </a:rPr>
              <a:t>内部参阅 · 2026年6月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2026-06-20T21:30:28Z</dcterms:created>
  <dcterms:modified xsi:type="dcterms:W3CDTF">2026-06-20T21:30:28Z</dcterms:modified>
  <cp:category/>
  <cp:contentStatus/>
</cp:coreProperties>
</file>